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D8590"/>
                </a:solidFill>
                <a:latin typeface="Consolas"/>
              </a:rPr>
              <a:t>MELBOURNE PARCEL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32304"/>
            <a:ext cx="9692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14171C"/>
                </a:solidFill>
                <a:latin typeface="Calibri"/>
              </a:rPr>
              <a:t>How parcels move through the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03904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A525C"/>
                </a:solidFill>
                <a:latin typeface="Calibri"/>
              </a:rPr>
              <a:t>The routes we allow, the demand they serve, and the flow the model actually chose.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754880"/>
            <a:ext cx="1463040" cy="31750"/>
          </a:xfrm>
          <a:prstGeom prst="rect">
            <a:avLst/>
          </a:prstGeom>
          <a:solidFill>
            <a:srgbClr val="2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01091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D8590"/>
                </a:solidFill>
                <a:latin typeface="Consolas"/>
              </a:rPr>
              <a:t>Solved run  baseline_with_wc     ·     one ordinary weekday     ·     31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THE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Two flows that never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Parcels we collect in Melbourne all leave the state. Everything we deliver here arrived from interstate, or was held here overnight.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5254599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5254599" cy="38100"/>
          </a:xfrm>
          <a:prstGeom prst="rect">
            <a:avLst/>
          </a:prstGeom>
          <a:solidFill>
            <a:srgbClr val="2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3113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5FA8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194560"/>
            <a:ext cx="4340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4171C"/>
                </a:solidFill>
                <a:latin typeface="Calibri"/>
              </a:rPr>
              <a:t>Parcels we 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24912"/>
            <a:ext cx="4797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25C"/>
                </a:solidFill>
                <a:latin typeface="Calibri"/>
              </a:rPr>
              <a:t>411 collection areas  →  7 depots  →  3 hubs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4797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25C"/>
                </a:solidFill>
                <a:latin typeface="Calibri"/>
              </a:rPr>
              <a:t>→  leaves Melbourne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01568"/>
            <a:ext cx="4797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A5FA8"/>
                </a:solidFill>
                <a:latin typeface="Consolas"/>
              </a:rPr>
              <a:t>46,491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35661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D8590"/>
                </a:solidFill>
                <a:latin typeface="Calibri"/>
              </a:rPr>
              <a:t>parcels a 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965960"/>
            <a:ext cx="5254599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1965960"/>
            <a:ext cx="5254599" cy="38100"/>
          </a:xfrm>
          <a:prstGeom prst="rect">
            <a:avLst/>
          </a:prstGeom>
          <a:solidFill>
            <a:srgbClr val="C2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6471" y="223113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2571F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8807" y="2194560"/>
            <a:ext cx="4340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4171C"/>
                </a:solidFill>
                <a:latin typeface="Calibri"/>
              </a:rPr>
              <a:t>Parcels we 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471" y="2724912"/>
            <a:ext cx="4797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25C"/>
                </a:solidFill>
                <a:latin typeface="Calibri"/>
              </a:rPr>
              <a:t>interstate  →  hub  →  second hub  →  12 depots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471" y="3017520"/>
            <a:ext cx="4797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25C"/>
                </a:solidFill>
                <a:latin typeface="Calibri"/>
              </a:rPr>
              <a:t>→  1,046 delivery zones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3401568"/>
            <a:ext cx="4797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2571F"/>
                </a:solidFill>
                <a:latin typeface="Consolas"/>
              </a:rPr>
              <a:t>167,431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5271" y="35661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D8590"/>
                </a:solidFill>
                <a:latin typeface="Calibri"/>
              </a:rPr>
              <a:t>parcels a 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80560"/>
            <a:ext cx="1721053" cy="914400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626864"/>
            <a:ext cx="15381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71C"/>
                </a:solidFill>
                <a:latin typeface="Consolas"/>
              </a:rPr>
              <a:t>411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10912"/>
            <a:ext cx="15381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collection areas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70861" y="4480560"/>
            <a:ext cx="1721053" cy="914400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5453" y="4626864"/>
            <a:ext cx="15381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71C"/>
                </a:solidFill>
                <a:latin typeface="Consola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5453" y="5010912"/>
            <a:ext cx="15381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sorting hubs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3354" y="4480560"/>
            <a:ext cx="1721053" cy="914400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47946" y="4626864"/>
            <a:ext cx="15381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71C"/>
                </a:solidFill>
                <a:latin typeface="Consolas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7946" y="5010912"/>
            <a:ext cx="15381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delivery depots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5847" y="4480560"/>
            <a:ext cx="1721053" cy="914400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0439" y="4626864"/>
            <a:ext cx="15381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71C"/>
                </a:solidFill>
                <a:latin typeface="Consolas"/>
              </a:rPr>
              <a:t>1,046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0439" y="5010912"/>
            <a:ext cx="15381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delivery zones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8340" y="4480560"/>
            <a:ext cx="1721053" cy="914400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2932" y="4626864"/>
            <a:ext cx="15381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71C"/>
                </a:solidFill>
                <a:latin typeface="Consolas"/>
              </a:rPr>
              <a:t>5,342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2932" y="5010912"/>
            <a:ext cx="15381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routes we allow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20833" y="4480560"/>
            <a:ext cx="1721053" cy="914400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85425" y="4626864"/>
            <a:ext cx="15381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71C"/>
                </a:solidFill>
                <a:latin typeface="Consolas"/>
              </a:rPr>
              <a:t>213,922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85425" y="5010912"/>
            <a:ext cx="15381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parcels a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ROUTES PER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Flow 1 — parcels we collect in Melbourne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Five stages. Nothing here reaches a Melbourne address.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5168" y="1883664"/>
          <a:ext cx="10881359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206240"/>
                <a:gridCol w="1600200"/>
                <a:gridCol w="1874519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From → to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Routes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Parcels / day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1  Collect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411 collection areas → 7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822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46,491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2  Truck to hub · standard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7 depots → Melbourne Parcel, Tullamarine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37,669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2571F"/>
                          </a:solidFill>
                          <a:latin typeface="Calibri"/>
                        </a:rPr>
                        <a:t>2  Truck to hub · express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7 depots → Melbourne Gateway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4,187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3  Leaves Melbourne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3 hubs → interstate line haul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41,856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3  Kept on site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3 depots hold it overnight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4,635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912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ROUTES PER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Flow 2 — parcels we deliver in Melbourne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Seven stages. This is where almost all the volume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5168" y="1883664"/>
          <a:ext cx="10881359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206240"/>
                <a:gridCol w="1600200"/>
                <a:gridCol w="1874519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From → to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Routes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Parcels / day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4  Arrives from interstate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line haul → 3 hubs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162,796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4  Yesterday's holding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already on site at 3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4,635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5  To a second hub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hub → a different hub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162,796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5  To Dandenong (overflow)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hub → Dandenong Letter Centre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—  not used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6  Out to the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3 hubs → 12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198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162,796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6  Out from Dandenong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Dandenong → 12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99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—  not used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7  Delivery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12 depots → 1,046 zones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4,094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167,431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4,430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5157216"/>
            <a:ext cx="10874959" cy="56692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157216"/>
            <a:ext cx="38100" cy="56692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276088"/>
            <a:ext cx="105823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Dandenong Letter Centre may take up to 15% of the second sort. The model was free to use it and chose not to — the hubs were cheaper.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WHERE VOLUME ENTERS AND LEAVES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Three ways in, three ways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These are the only points where parcels appear or disappear. Everything between them is conserved — nothing is created or lost in the middle.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47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5FA8"/>
                </a:solidFill>
                <a:latin typeface="Consolas"/>
              </a:rPr>
              <a:t>IN  ·  3 SOURCES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66647" y="2139696"/>
          <a:ext cx="1005840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48463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Where they come from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Feeding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Parcels / day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Collection areas (411)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7 first-mile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46,491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Interstate arrivals (3)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3 sorting hubs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162,796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Held from yesterday (3)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3 depots, ready to deliver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4,635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>Total in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213,922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39684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571F"/>
                </a:solidFill>
                <a:latin typeface="Consolas"/>
              </a:rPr>
              <a:t>OUT  ·  3 SINKS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6647" y="4261104"/>
          <a:ext cx="1005840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48463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Where they end up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Served by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Parcels / day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Delivery zones (1,046)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12 delivery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167,431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Interstate despatch (3)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at the 3 hubs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41,856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Kept on site (3)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at 3 depots, for tomorrow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4,635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>Total out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213,922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6035040"/>
            <a:ext cx="10874959" cy="56692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6035040"/>
            <a:ext cx="38100" cy="566928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6153912"/>
            <a:ext cx="105823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Both sides come to 213,922. 'Held from yesterday' and 'kept on site' are the same parcels a day apart — kept tonight, delivered tomorrow.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DEMAND · FROM WHERE TO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Every delivery now names where the parcel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4,062 demand lines in total. Because each parcel carries its origin, we can say exactly how much of each depot's work came from each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4708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71C"/>
                </a:solidFill>
                <a:latin typeface="Consolas"/>
              </a:rPr>
              <a:t>DELIVERED IN MELBOURNE  ·  167,431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047" y="2139696"/>
          <a:ext cx="10515600" cy="2382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Came from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Reaching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Lines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Parcels / day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Melbourne Parcel — arrived here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all 12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1,046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110,462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Tullamarine — arrived here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all 12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1,044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27,615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Melbourne Gateway — arrived here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all 12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1,042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24,719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A3AA7"/>
                          </a:solidFill>
                          <a:latin typeface="Calibri"/>
                        </a:rPr>
                        <a:t>Sunshine West — its own holding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Sunshine West only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1,854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A3AA7"/>
                          </a:solidFill>
                          <a:latin typeface="Calibri"/>
                        </a:rPr>
                        <a:t>Bayswater — its own holding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Bayswater only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293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1,492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A3AA7"/>
                          </a:solidFill>
                          <a:latin typeface="Calibri"/>
                        </a:rPr>
                        <a:t>Melbourne North — its own holding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Melbourne North only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1,289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4,035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167,431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486460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71C"/>
                </a:solidFill>
                <a:latin typeface="Consolas"/>
              </a:rPr>
              <a:t>SENT INTERSTATE  ·  41,856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8047" y="5157216"/>
          <a:ext cx="10515600" cy="1229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Leaves from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Parcel type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Lines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Parcels / day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Melbourne Parcel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standard  (60%)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30,134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5FA8"/>
                          </a:solidFill>
                          <a:latin typeface="Calibri"/>
                        </a:rPr>
                        <a:t>Tullamarine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standard  (40%)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7,535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2571F"/>
                          </a:solidFill>
                          <a:latin typeface="Calibri"/>
                        </a:rPr>
                        <a:t>Melbourne Gateway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express  (100%)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4,187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PARCEL TYPES AND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Why the model holds 110 parcel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A stage is a parcel at one point in its journey, plus a label saying where it started. That label is what lets us trace it, and it is why the count is 110 rather than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327" y="1883664"/>
          <a:ext cx="1060704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55778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How it adds up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Stages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Collected in Melbourne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7 collection areas x 2 parcel types x 3 stages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   + sorted on site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3 of those areas also sort — 2 extra stages each x 2 types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   + ready to leave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7 areas x the hubs that handle that type (2 std, 1 exp)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Arrived from interstate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2 types x 2 ways the freight is presented on arrival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   + unloaded, sorted, ready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2 types x 2 stages, then 1 'ready' per hub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   + second sort and delivery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3 arrival hubs x 4 stages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Held overnight at a depot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3 depots x 2 types x 2 stages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110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5074920"/>
            <a:ext cx="10874959" cy="56692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074920"/>
            <a:ext cx="38100" cy="566928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193792"/>
            <a:ext cx="105823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Two parcel types (standard, express) x 7 collection areas x up to 7 stages each. The count grows with stages and origins, not with parcel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STAGES BY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What travels on each route, and how the route count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Every route is one origin, one destination, one parcel stage, one vehicle size. Multiply those out and you get 5,342.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0887" y="1883664"/>
          <a:ext cx="10789920" cy="3872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40233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What travels on it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How the count is built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Routes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Collect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&lt;origin&gt; pickup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411 areas x 2 types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822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To hub · standard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&lt;origin&gt; pickup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7 depots x 2 hubs x 3 truck sizes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To hub · express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&lt;origin&gt; pickup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7 depots x 1 hub x 3 truck sizes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Leaves Melbourne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&lt;origin&gt; ready-to-leave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3 hubs x 7 origins x 1 type each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Kept on site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&lt;origin&gt; sorted on site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3 depots x 2 types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Arrivals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interstate, ULD or long reach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3 hubs x 2 presentations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Overnight holding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held, ready to deliver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3 depots x 2 types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To a second hub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interstate ready-to-leave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3 hubs x 2 others x 3 truck sizes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To Dandenong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interstate ready-to-leave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3 hubs x 1 site x 3 truck sizes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Out to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interstate, tagged by arrival hub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hub-pairs x 11 depots x 3 truck sizes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198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Out from Dandenong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interstate, tagged by arrival hub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11 depots x 3 tags x 3 truck sizes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99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71C"/>
                          </a:solidFill>
                          <a:latin typeface="Calibri"/>
                        </a:rPr>
                        <a:t>Delivery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delivered, tagged by origin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25C"/>
                          </a:solidFill>
                          <a:latin typeface="Calibri"/>
                        </a:rPr>
                        <a:t>1,046 zones x 3 + 478 staged zones x 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25C"/>
                          </a:solidFill>
                          <a:latin typeface="Consolas"/>
                        </a:rPr>
                        <a:t>4,094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171C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17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17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4171C"/>
                          </a:solidFill>
                          <a:latin typeface="Consolas"/>
                        </a:rPr>
                        <a:t>5,342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MACHINES AND THE REST OF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46 machines, and what tells them what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Every site has a menu of machines. A step can only run where a machine for it exists.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47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71C"/>
                </a:solidFill>
                <a:latin typeface="Consolas"/>
              </a:rPr>
              <a:t>MACHINES  ·  46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2327" y="2139696"/>
          <a:ext cx="10607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48463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Site type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Machines each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What they are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3 sorting hubs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8 – 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3 unload, 3 load, 1 – 2 auto sorters, 1 manual sort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26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3 collecting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bag unload, large sorter, driver team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Dandenong Letter Centre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unload, small sorter, load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8 other depots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driver team only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40416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71C"/>
                </a:solidFill>
                <a:latin typeface="Consolas"/>
              </a:rPr>
              <a:t>THE REST OF THE MODEL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2327" y="4334256"/>
          <a:ext cx="10607040" cy="209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49224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Rows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unload, sort, load — each turning one stage into the next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108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Where each step may run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step x site x machine — the permission list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317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Processes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one per machine, carrying its rate and cost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Buying-in rules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which source may feed which site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834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Restocking rules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which site may be resupplied from where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129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Hard limits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the few things we force by hand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THE DEMAND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How the 4,062 demand lines are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One line per place that wants parcels, per parcel type, per origin it may be served from. Because each parcel now carries its origin, a zone needs a separate line for each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6567" y="1883664"/>
          <a:ext cx="11338560" cy="2510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206240"/>
                <a:gridCol w="1188720"/>
                <a:gridCol w="118872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Who wants it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How the count is built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Possible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Actual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Parcels / day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71C"/>
                          </a:solidFill>
                          <a:latin typeface="Calibri"/>
                        </a:rPr>
                        <a:t>Delivery zones · express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525C"/>
                          </a:solidFill>
                          <a:latin typeface="Calibri"/>
                        </a:rPr>
                        <a:t>1,046 zones x 1 origin (Melbourne Gateway)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1,046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1,467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71C"/>
                          </a:solidFill>
                          <a:latin typeface="Calibri"/>
                        </a:rPr>
                        <a:t>Delivery zones · standard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525C"/>
                          </a:solidFill>
                          <a:latin typeface="Calibri"/>
                        </a:rPr>
                        <a:t>1,046 zones x 2 origins (Melb Parcel, Tullamarine)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2,092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2,568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71C"/>
                          </a:solidFill>
                          <a:latin typeface="Calibri"/>
                        </a:rPr>
                        <a:t>   + zones with their own holding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525C"/>
                          </a:solidFill>
                          <a:latin typeface="Calibri"/>
                        </a:rPr>
                        <a:t>478 zones x 2 parcel types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956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71C"/>
                          </a:solidFill>
                          <a:latin typeface="Calibri"/>
                        </a:rPr>
                        <a:t>Delivery zones · all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525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4,094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4,035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167,431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71C"/>
                          </a:solidFill>
                          <a:latin typeface="Calibri"/>
                        </a:rPr>
                        <a:t>Interstate despatch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525C"/>
                          </a:solidFill>
                          <a:latin typeface="Calibri"/>
                        </a:rPr>
                        <a:t>3 hubs x 7 collection areas x 1 type each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41,856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71C"/>
                          </a:solidFill>
                          <a:latin typeface="Calibri"/>
                        </a:rPr>
                        <a:t>Kept on site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525C"/>
                          </a:solidFill>
                          <a:latin typeface="Calibri"/>
                        </a:rPr>
                        <a:t>3 depots x 2 parcel types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525C"/>
                          </a:solidFill>
                          <a:latin typeface="Consolas"/>
                        </a:rPr>
                        <a:t>4,635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71C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7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4171C"/>
                          </a:solidFill>
                          <a:latin typeface="Consolas"/>
                        </a:rPr>
                        <a:t>4,121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4171C"/>
                          </a:solidFill>
                          <a:latin typeface="Consolas"/>
                        </a:rPr>
                        <a:t>4,062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4171C"/>
                          </a:solidFill>
                          <a:latin typeface="Consolas"/>
                        </a:rPr>
                        <a:t>213,922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4617720"/>
            <a:ext cx="10874959" cy="56692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4617720"/>
            <a:ext cx="38100" cy="566928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736592"/>
            <a:ext cx="105823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'Possible' is every combination that has a route. 'Actual' is the lines that carry volume — 59 combinations round to zero and are dropped. The possible count matches the delivery route count exactly, because a demand line and a route are built from the same combination.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UNLOADING EQUIPMENT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Setting which equipment unloads interstate freight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Interstate freight arrives either in containers or loose on long-reach trailers, and each needs different equipment. Optilogic's design asked for a way to set that mix. It was in the model but not working.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83664"/>
            <a:ext cx="5272887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83664"/>
            <a:ext cx="5272887" cy="381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84831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3261E"/>
                </a:solidFill>
                <a:latin typeface="Consolas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59152"/>
            <a:ext cx="48705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171C"/>
                </a:solidFill>
                <a:latin typeface="Calibri"/>
              </a:rPr>
              <a:t>A rule that bound nothing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43200"/>
            <a:ext cx="4870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We set a rule saying 'keep each between 20% and 80%'. It named the parcel stage AFTER unloading — which is the same whichever machine did it — so nothing in the rule could tell the two apart. The run came out 96–100% containers.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1883664"/>
            <a:ext cx="5272887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1883664"/>
            <a:ext cx="5272887" cy="38100"/>
          </a:xfrm>
          <a:prstGeom prst="rect">
            <a:avLst/>
          </a:prstGeom>
          <a:solidFill>
            <a:srgbClr val="2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84831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5FA8"/>
                </a:solidFill>
                <a:latin typeface="Consolas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359152"/>
            <a:ext cx="48705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171C"/>
                </a:solidFill>
                <a:latin typeface="Calibri"/>
              </a:rPr>
              <a:t>The freight arrives already presented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2743200"/>
            <a:ext cx="4870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We split the arrival itself: 60% arrives in containers, 40% on long reach. Each has exactly one unloading step. The mix is then exact by construction, and the rule is deleted.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00887" y="3877056"/>
          <a:ext cx="1078992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286000"/>
                <a:gridCol w="21031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Arrives at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Parcel type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In containers (60%)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Long reach (40%)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onsolas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Melbourne Parcel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66,278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44,186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110,464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Tullamarine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16,570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11,047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27,617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71C"/>
                          </a:solidFill>
                          <a:latin typeface="Calibri"/>
                        </a:rPr>
                        <a:t>Melbourne Gateway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525C"/>
                          </a:solidFill>
                          <a:latin typeface="Calibri"/>
                        </a:rPr>
                        <a:t>express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14,831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9,888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4A525C"/>
                          </a:solidFill>
                          <a:latin typeface="Consolas"/>
                        </a:rPr>
                        <a:t>24,719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71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97,679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65,121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162,796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58368" y="5687568"/>
            <a:ext cx="10874959" cy="56692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687568"/>
            <a:ext cx="38100" cy="56692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806440"/>
            <a:ext cx="105823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3261E"/>
                </a:solidFill>
                <a:latin typeface="Calibri"/>
              </a:rPr>
              <a:t>The 60/40 is a placeholder — we invented it. It is now a single number to change rather than a rule to rewrite, and setting it to 'free' hands the choice back to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THE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How flow 1 actually 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Width is parcels per day. Blue is standard, orange is express.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ankey_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0"/>
            <a:ext cx="10874959" cy="20817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5577840"/>
            <a:ext cx="10874959" cy="56692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577840"/>
            <a:ext cx="38100" cy="566928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696712"/>
            <a:ext cx="105823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Every ribbon ends at an exit — interstate line haul, or held on site. None reach a Melbourne address.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THE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How flow 2 actually 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The same parcels, followed from the hub they landed at to the depot that delivered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ankey_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0"/>
            <a:ext cx="10874959" cy="24080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5577840"/>
            <a:ext cx="10874959" cy="56692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577840"/>
            <a:ext cx="38100" cy="566928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696712"/>
            <a:ext cx="105823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Melbourne Parcel takes 110,462 on arrival but hands most of it to Tullamarine and Melbourne Gateway for the second sort — no hub sorts the same parcel twice.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THE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Everything in equals everything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The one test the model has to pass. It does, to the parcel.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2286000"/>
            <a:ext cx="1461973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523744"/>
            <a:ext cx="14619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2A5FA8"/>
                </a:solidFill>
                <a:latin typeface="Consolas"/>
              </a:rPr>
              <a:t>46,491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999232"/>
            <a:ext cx="14619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collected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1781" y="265176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7D8590"/>
                </a:solidFill>
                <a:latin typeface="Consolas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8397" y="2286000"/>
            <a:ext cx="1461973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8397" y="2523744"/>
            <a:ext cx="14619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C2571F"/>
                </a:solidFill>
                <a:latin typeface="Consolas"/>
              </a:rPr>
              <a:t>162,796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8397" y="2999232"/>
            <a:ext cx="14619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arrived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6090" y="265176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7D8590"/>
                </a:solidFill>
                <a:latin typeface="Consolas"/>
              </a:rPr>
              <a:t>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2706" y="2286000"/>
            <a:ext cx="1461973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2706" y="2523744"/>
            <a:ext cx="14619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4A3AA7"/>
                </a:solidFill>
                <a:latin typeface="Consolas"/>
              </a:rPr>
              <a:t>4,635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2706" y="2999232"/>
            <a:ext cx="14619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held overnight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399" y="265176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7D8590"/>
                </a:solidFill>
                <a:latin typeface="Consolas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7015" y="2286000"/>
            <a:ext cx="1461973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7015" y="2523744"/>
            <a:ext cx="14619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C2571F"/>
                </a:solidFill>
                <a:latin typeface="Consolas"/>
              </a:rPr>
              <a:t>167,431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7015" y="2999232"/>
            <a:ext cx="14619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delivered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4708" y="265176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7D8590"/>
                </a:solidFill>
                <a:latin typeface="Consolas"/>
              </a:rPr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1324" y="2286000"/>
            <a:ext cx="1461973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1324" y="2523744"/>
            <a:ext cx="14619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2A5FA8"/>
                </a:solidFill>
                <a:latin typeface="Consolas"/>
              </a:rPr>
              <a:t>41,856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324" y="2999232"/>
            <a:ext cx="14619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sent interstate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9017" y="265176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7D8590"/>
                </a:solidFill>
                <a:latin typeface="Consolas"/>
              </a:rPr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5633" y="2286000"/>
            <a:ext cx="1461973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5633" y="2523744"/>
            <a:ext cx="14619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4A3AA7"/>
                </a:solidFill>
                <a:latin typeface="Consolas"/>
              </a:rPr>
              <a:t>4,635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5633" y="2999232"/>
            <a:ext cx="14619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7D8590"/>
                </a:solidFill>
                <a:latin typeface="Calibri"/>
              </a:rPr>
              <a:t>held for tomorrow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6732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4171C"/>
                </a:solidFill>
                <a:latin typeface="Calibri"/>
              </a:rPr>
              <a:t>Both sides:  213,922 parcels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480560"/>
            <a:ext cx="10874959" cy="56692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480560"/>
            <a:ext cx="38100" cy="566928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599432"/>
            <a:ext cx="105823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The overnight holding appears on both sides because it is the same parcels seen a day apart. In a steady week the two are equal, so they cancel.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12080"/>
            <a:ext cx="10874959" cy="56692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12080"/>
            <a:ext cx="38100" cy="56692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330952"/>
            <a:ext cx="105823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3261E"/>
                </a:solidFill>
                <a:latin typeface="Calibri"/>
              </a:rPr>
              <a:t>Two figures still to confirm with operations: Melbourne Parcel's dock capacity, and how much spare Tullamarine really has. Both are our estimates.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