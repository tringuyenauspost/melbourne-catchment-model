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8848F"/>
                </a:solidFill>
                <a:latin typeface="Calibri"/>
              </a:rPr>
              <a:t>MELBOURNE CATCHMENT MODEL  ·  THE OPTILOGIC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31A22"/>
                </a:solidFill>
                <a:latin typeface="Calibri"/>
              </a:rPr>
              <a:t>Four scripts: inputs, process,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5B69"/>
                </a:solidFill>
                <a:latin typeface="Calibri"/>
              </a:rPr>
              <a:t>Scan events become the measured factors; the factors become three entity folders. Run them in order, or run build_all.py.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60704"/>
            <a:ext cx="11277295" cy="13970"/>
          </a:xfrm>
          <a:prstGeom prst="rect">
            <a:avLst/>
          </a:prstGeom>
          <a:solidFill>
            <a:srgbClr val="13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8848F"/>
                </a:solidFill>
                <a:latin typeface="Calibri"/>
              </a:rPr>
              <a:t>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06040" cy="952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155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8848F"/>
                </a:solidFill>
                <a:latin typeface="Calibri"/>
              </a:rPr>
              <a:t>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280160"/>
            <a:ext cx="4937760" cy="952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115568"/>
            <a:ext cx="2816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8848F"/>
                </a:solidFill>
                <a:latin typeface="Calibri"/>
              </a:rPr>
              <a:t>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1280160"/>
            <a:ext cx="2816352" cy="952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35024"/>
            <a:ext cx="2606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408176"/>
            <a:ext cx="23682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0D6F66"/>
                </a:solidFill>
                <a:latin typeface="Calibri"/>
              </a:rPr>
              <a:t>SCAN EVENT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1572768"/>
            <a:ext cx="23682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all_scan_…_20052026.csv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1773936"/>
            <a:ext cx="2368296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2.96 M events — one row per parcel after the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75104"/>
            <a:ext cx="26060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048256"/>
            <a:ext cx="23682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5B0D"/>
                </a:solidFill>
                <a:latin typeface="Calibri"/>
              </a:rPr>
              <a:t>ASSUMED  ·  HAND-MANAGED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212848"/>
            <a:ext cx="23682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inputs/factors_assumed/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414016"/>
            <a:ext cx="2368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dials · machine_rates · site_sorters · unload_mix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operating_hours · pud_capacity · class_hub_split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79776"/>
            <a:ext cx="260604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852928"/>
            <a:ext cx="23682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0D6F66"/>
                </a:solidFill>
                <a:latin typeface="Calibri"/>
              </a:rPr>
              <a:t>MEASURED  ·  NEVER HAND-EDIT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017520"/>
            <a:ext cx="23682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inputs/factors_observed/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3218688"/>
            <a:ext cx="23682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obs_joint · obs_single_sort · obs_round2 · obs_xdock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obs_demand · obs_recv_entry · obs_delivery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the four stage matrices ARE the Sankey's four stages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12463"/>
            <a:ext cx="26060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785615"/>
            <a:ext cx="23682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78848F"/>
                </a:solidFill>
                <a:latin typeface="Calibri"/>
              </a:rPr>
              <a:t>SOURCE EXTRACTS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3950207"/>
            <a:ext cx="23682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inputs/melbourne/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151375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temp_clustered.csv — the zone table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cluster_summary.csv · all-data.xlsx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2606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553712"/>
            <a:ext cx="23682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78848F"/>
                </a:solidFill>
                <a:latin typeface="Calibri"/>
              </a:rPr>
              <a:t>SCHEMA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4718304"/>
            <a:ext cx="23682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inputs/optilogic/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4919472"/>
            <a:ext cx="236829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Anura reference — the lane table's columns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58384"/>
            <a:ext cx="26060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5431536"/>
            <a:ext cx="23682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78848F"/>
                </a:solidFill>
                <a:latin typeface="Calibri"/>
              </a:rPr>
              <a:t>A PREVIOUS 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5596128"/>
            <a:ext cx="23682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…chain2_scan_constrained/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797296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the Change 27 model — the last one in which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both chains were built together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1335024"/>
            <a:ext cx="4937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1408176"/>
            <a:ext cx="470001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0D6F66"/>
                </a:solidFill>
                <a:latin typeface="Calibri"/>
              </a:rPr>
              <a:t>STEP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9312" y="1572768"/>
            <a:ext cx="470001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export_model_factors.py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1773936"/>
            <a:ext cx="47000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reduces the scan events and applies the four FILTER DIALS once, so every chain build consumes what it got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1975104"/>
            <a:ext cx="4937760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2048256"/>
            <a:ext cx="470001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build_chain2.py   —   the delivery entity, entirely observed   (3,061 lines)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9312" y="2249424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Balance stage + interstate + Victoria same-day = D, exact, per depot x class.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The drift guard re-derives the measured factors and refuses to build if they disagree.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39312" y="2578608"/>
            <a:ext cx="4700016" cy="1389888"/>
          </a:xfrm>
          <a:prstGeom prst="rect">
            <a:avLst/>
          </a:prstGeom>
          <a:solidFill>
            <a:srgbClr val="F4F6F8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39896" y="2642616"/>
            <a:ext cx="44988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78848F"/>
                </a:solidFill>
                <a:latin typeface="Calibri"/>
              </a:rPr>
              <a:t>ITS SECTIONS, IN ORDER — EACH READS WHAT THE ONES BEFORE IT COMPUTED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9896" y="2816352"/>
            <a:ext cx="27432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0.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0b.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2.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3.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4.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4b.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5.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4216" y="2816352"/>
            <a:ext cx="1938528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the dials, from factors_assumed/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the measured factors + the drift guard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source data, and Facilities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Products — the three families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Customers, and the measured balance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OriginMix, and CustomerDemand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Suppliers and SupplierCapabilities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52744" y="2816352"/>
            <a:ext cx="27432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6.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7.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8.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9.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9c.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9b.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78848F"/>
                </a:solidFill>
                <a:latin typeface="Consolas"/>
              </a:rPr>
              <a:t>11.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7064" y="2816352"/>
            <a:ext cx="1938528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BillOfMaterials — the recipes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WorkCenters, Processes, dock sizing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ProductionPolicies — where a recipe fires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sourcing, lanes, FlowConstraints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the work-centre mix (Change 33)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verification against the measurement</a:t>
            </a:r>
          </a:p>
          <a:p>
            <a:pPr algn="l">
              <a:lnSpc>
                <a:spcPct val="126000"/>
              </a:lnSpc>
            </a:pPr>
            <a:r>
              <a:rPr sz="750" b="0">
                <a:solidFill>
                  <a:srgbClr val="4E5B69"/>
                </a:solidFill>
                <a:latin typeface="Calibri"/>
              </a:rPr>
              <a:t>the summary, and the table 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9312" y="405993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" b="0">
                <a:solidFill>
                  <a:srgbClr val="78848F"/>
                </a:solidFill>
                <a:latin typeface="Calibri"/>
              </a:rPr>
              <a:t>Retired 2026-08-15: Periods.csv (dormant since Change 13) and _ElapsedTimeReference.csv</a:t>
            </a:r>
          </a:p>
          <a:p>
            <a:pPr algn="l">
              <a:lnSpc>
                <a:spcPct val="114000"/>
              </a:lnSpc>
            </a:pPr>
            <a:r>
              <a:rPr sz="750" b="0">
                <a:solidFill>
                  <a:srgbClr val="78848F"/>
                </a:solidFill>
                <a:latin typeface="Calibri"/>
              </a:rPr>
              <a:t>(placeholder leg times for a Cosmic Frog variable nobody configured). Both are swept out</a:t>
            </a:r>
          </a:p>
          <a:p>
            <a:pPr algn="l">
              <a:lnSpc>
                <a:spcPct val="114000"/>
              </a:lnSpc>
            </a:pPr>
            <a:r>
              <a:rPr sz="750" b="0">
                <a:solidFill>
                  <a:srgbClr val="78848F"/>
                </a:solidFill>
                <a:latin typeface="Calibri"/>
              </a:rPr>
              <a:t>of an older output folder, and the periods dial now fails loudly rather than silently.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5358384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9312" y="5431536"/>
            <a:ext cx="470001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build_chain1.py   —   the collection entity   (133 lines)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39312" y="5632704"/>
            <a:ext cx="47000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row selection by product family — extraction, not re-derivation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6199632"/>
            <a:ext cx="49377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D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39312" y="6272784"/>
            <a:ext cx="470001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build_final.py   —   the combiner   (162 lines)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39312" y="6473952"/>
            <a:ext cx="47000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concat with a disjointness assert; WorkCenters is the only real merge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2834640"/>
            <a:ext cx="28163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34272" y="2907792"/>
            <a:ext cx="25786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0D6F66"/>
                </a:solidFill>
                <a:latin typeface="Calibri"/>
              </a:rPr>
              <a:t>MEASURED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34272" y="3072384"/>
            <a:ext cx="257860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…chain2_observed/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4272" y="3273552"/>
            <a:ext cx="257860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20 tables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D 167,431 = stage 37,002</a:t>
            </a:r>
          </a:p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+ interstate 52,490 + VIC 77,939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15400" y="5358384"/>
            <a:ext cx="28163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34272" y="5431536"/>
            <a:ext cx="25786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F5B0D"/>
                </a:solidFill>
                <a:latin typeface="Calibri"/>
              </a:rPr>
              <a:t>ASSUMED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34272" y="5596128"/>
            <a:ext cx="257860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…chain1/  ·  17 tables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34272" y="5797296"/>
            <a:ext cx="2578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P 46,199 = OUT 41,857 + L 4,342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15400" y="6199632"/>
            <a:ext cx="28163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D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34272" y="6272784"/>
            <a:ext cx="25786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D4477"/>
                </a:solidFill>
                <a:latin typeface="Calibri"/>
              </a:rPr>
              <a:t>UPLOAD THIS FOLDER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4272" y="6437376"/>
            <a:ext cx="257860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1A22"/>
                </a:solidFill>
                <a:latin typeface="Consolas"/>
              </a:rPr>
              <a:t>…final/  ·  20 tables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34272" y="6638544"/>
            <a:ext cx="25786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>
                <a:solidFill>
                  <a:srgbClr val="4E5B69"/>
                </a:solidFill>
                <a:latin typeface="Calibri"/>
              </a:rPr>
              <a:t>both entities, one Anura model</a:t>
            </a:r>
          </a:p>
        </p:txBody>
      </p:sp>
      <p:cxnSp>
        <p:nvCxnSpPr>
          <p:cNvPr id="68" name="Connector 67"/>
          <p:cNvCxnSpPr>
            <a:stCxn id="12" idx="3"/>
            <a:endCxn id="36" idx="1"/>
          </p:cNvCxnSpPr>
          <p:nvPr/>
        </p:nvCxnSpPr>
        <p:spPr>
          <a:xfrm flipV="1">
            <a:off x="3063240" y="1609344"/>
            <a:ext cx="457200" cy="9144"/>
          </a:xfrm>
          <a:prstGeom prst="line">
            <a:avLst/>
          </a:prstGeom>
          <a:ln w="12700">
            <a:solidFill>
              <a:srgbClr val="0D6F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36" idx="1"/>
            <a:endCxn id="20" idx="3"/>
          </p:cNvCxnSpPr>
          <p:nvPr/>
        </p:nvCxnSpPr>
        <p:spPr>
          <a:xfrm flipH="1">
            <a:off x="3063240" y="1609344"/>
            <a:ext cx="457200" cy="1600200"/>
          </a:xfrm>
          <a:prstGeom prst="line">
            <a:avLst/>
          </a:prstGeom>
          <a:ln w="15240">
            <a:solidFill>
              <a:srgbClr val="0D6F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108960" y="1847088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D6F66"/>
                </a:solidFill>
                <a:latin typeface="Calibri"/>
              </a:rPr>
              <a:t>writes</a:t>
            </a:r>
          </a:p>
        </p:txBody>
      </p:sp>
      <p:cxnSp>
        <p:nvCxnSpPr>
          <p:cNvPr id="71" name="Connector 70"/>
          <p:cNvCxnSpPr>
            <a:stCxn id="16" idx="3"/>
            <a:endCxn id="40" idx="1"/>
          </p:cNvCxnSpPr>
          <p:nvPr/>
        </p:nvCxnSpPr>
        <p:spPr>
          <a:xfrm>
            <a:off x="3063240" y="2340864"/>
            <a:ext cx="457200" cy="978408"/>
          </a:xfrm>
          <a:prstGeom prst="line">
            <a:avLst/>
          </a:prstGeom>
          <a:ln w="12700">
            <a:solidFill>
              <a:srgbClr val="7884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20" idx="3"/>
            <a:endCxn id="40" idx="1"/>
          </p:cNvCxnSpPr>
          <p:nvPr/>
        </p:nvCxnSpPr>
        <p:spPr>
          <a:xfrm>
            <a:off x="3063240" y="3209544"/>
            <a:ext cx="457200" cy="109728"/>
          </a:xfrm>
          <a:prstGeom prst="line">
            <a:avLst/>
          </a:prstGeom>
          <a:ln w="12700">
            <a:solidFill>
              <a:srgbClr val="7884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24" idx="3"/>
            <a:endCxn id="40" idx="1"/>
          </p:cNvCxnSpPr>
          <p:nvPr/>
        </p:nvCxnSpPr>
        <p:spPr>
          <a:xfrm flipV="1">
            <a:off x="3063240" y="3319272"/>
            <a:ext cx="457200" cy="740663"/>
          </a:xfrm>
          <a:prstGeom prst="line">
            <a:avLst/>
          </a:prstGeom>
          <a:ln w="12700">
            <a:solidFill>
              <a:srgbClr val="7884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28" idx="3"/>
            <a:endCxn id="40" idx="1"/>
          </p:cNvCxnSpPr>
          <p:nvPr/>
        </p:nvCxnSpPr>
        <p:spPr>
          <a:xfrm flipV="1">
            <a:off x="3063240" y="3319272"/>
            <a:ext cx="457200" cy="1435608"/>
          </a:xfrm>
          <a:prstGeom prst="line">
            <a:avLst/>
          </a:prstGeom>
          <a:ln w="12700">
            <a:solidFill>
              <a:srgbClr val="7884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40" idx="3"/>
            <a:endCxn id="56" idx="1"/>
          </p:cNvCxnSpPr>
          <p:nvPr/>
        </p:nvCxnSpPr>
        <p:spPr>
          <a:xfrm flipV="1">
            <a:off x="8458200" y="3291840"/>
            <a:ext cx="457200" cy="27432"/>
          </a:xfrm>
          <a:prstGeom prst="line">
            <a:avLst/>
          </a:prstGeom>
          <a:ln w="12700">
            <a:solidFill>
              <a:srgbClr val="7884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32" idx="3"/>
            <a:endCxn id="50" idx="1"/>
          </p:cNvCxnSpPr>
          <p:nvPr/>
        </p:nvCxnSpPr>
        <p:spPr>
          <a:xfrm flipV="1">
            <a:off x="3063240" y="5641848"/>
            <a:ext cx="457200" cy="64008"/>
          </a:xfrm>
          <a:prstGeom prst="line">
            <a:avLst/>
          </a:prstGeom>
          <a:ln w="12700">
            <a:solidFill>
              <a:srgbClr val="7884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50" idx="3"/>
            <a:endCxn id="60" idx="1"/>
          </p:cNvCxnSpPr>
          <p:nvPr/>
        </p:nvCxnSpPr>
        <p:spPr>
          <a:xfrm>
            <a:off x="8458200" y="5641848"/>
            <a:ext cx="457200" cy="45720"/>
          </a:xfrm>
          <a:prstGeom prst="line">
            <a:avLst/>
          </a:prstGeom>
          <a:ln w="12700">
            <a:solidFill>
              <a:srgbClr val="7884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53" idx="3"/>
            <a:endCxn id="64" idx="1"/>
          </p:cNvCxnSpPr>
          <p:nvPr/>
        </p:nvCxnSpPr>
        <p:spPr>
          <a:xfrm>
            <a:off x="8458200" y="6483096"/>
            <a:ext cx="457200" cy="27432"/>
          </a:xfrm>
          <a:prstGeom prst="line">
            <a:avLst/>
          </a:prstGeom>
          <a:ln w="17780">
            <a:solidFill>
              <a:srgbClr val="1D44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8595360" y="3291840"/>
            <a:ext cx="320040" cy="0"/>
          </a:xfrm>
          <a:prstGeom prst="line">
            <a:avLst/>
          </a:prstGeom>
          <a:ln w="12700">
            <a:solidFill>
              <a:srgbClr val="7884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595360" y="3291840"/>
            <a:ext cx="0" cy="2761488"/>
          </a:xfrm>
          <a:prstGeom prst="line">
            <a:avLst/>
          </a:prstGeom>
          <a:ln w="12700">
            <a:solidFill>
              <a:srgbClr val="7884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8046720" y="6053328"/>
            <a:ext cx="548640" cy="0"/>
          </a:xfrm>
          <a:prstGeom prst="line">
            <a:avLst/>
          </a:prstGeom>
          <a:ln w="12700">
            <a:solidFill>
              <a:srgbClr val="7884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046720" y="6053328"/>
            <a:ext cx="0" cy="146304"/>
          </a:xfrm>
          <a:prstGeom prst="line">
            <a:avLst/>
          </a:prstGeom>
          <a:ln w="12700">
            <a:solidFill>
              <a:srgbClr val="7884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8732520" y="5687568"/>
            <a:ext cx="182880" cy="0"/>
          </a:xfrm>
          <a:prstGeom prst="line">
            <a:avLst/>
          </a:prstGeom>
          <a:ln w="12700">
            <a:solidFill>
              <a:srgbClr val="7884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732520" y="5687568"/>
            <a:ext cx="0" cy="457200"/>
          </a:xfrm>
          <a:prstGeom prst="line">
            <a:avLst/>
          </a:prstGeom>
          <a:ln w="12700">
            <a:solidFill>
              <a:srgbClr val="7884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7589520" y="6144768"/>
            <a:ext cx="1143000" cy="0"/>
          </a:xfrm>
          <a:prstGeom prst="line">
            <a:avLst/>
          </a:prstGeom>
          <a:ln w="12700">
            <a:solidFill>
              <a:srgbClr val="7884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589520" y="6144768"/>
            <a:ext cx="0" cy="54864"/>
          </a:xfrm>
          <a:prstGeom prst="line">
            <a:avLst/>
          </a:prstGeom>
          <a:ln w="12700">
            <a:solidFill>
              <a:srgbClr val="7884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657600" y="6035040"/>
            <a:ext cx="3566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848F"/>
                </a:solidFill>
                <a:latin typeface="Calibri"/>
              </a:rPr>
              <a:t>dashed — build_final.py reads both entity folders back off disk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8848F"/>
                </a:solidFill>
                <a:latin typeface="Calibri"/>
              </a:rPr>
              <a:t>THE OPTILOGIC PIPELINE  ·  RUN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31A22"/>
                </a:solidFill>
                <a:latin typeface="Calibri"/>
              </a:rPr>
              <a:t>Each step reads what the one before it wrote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5B69"/>
                </a:solidFill>
                <a:latin typeface="Calibri"/>
              </a:rPr>
              <a:t>uv run python build_all.py   runs the four in order. Each is also runnable on its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60704"/>
            <a:ext cx="11277295" cy="13970"/>
          </a:xfrm>
          <a:prstGeom prst="rect">
            <a:avLst/>
          </a:prstGeom>
          <a:solidFill>
            <a:srgbClr val="13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7295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38100" cy="841248"/>
          </a:xfrm>
          <a:prstGeom prst="rect">
            <a:avLst/>
          </a:prstGeom>
          <a:solidFill>
            <a:srgbClr val="0D6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8848F"/>
                </a:solidFill>
                <a:latin typeface="Consolas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41732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1A22"/>
                </a:solidFill>
                <a:latin typeface="Consolas"/>
              </a:rPr>
              <a:t>export_model_factors.py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70078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Scan event data -&gt; inputs/factors_observed/. Only after a re-extract, or after moving a filter dial. Everything downstream is asserted against it: build_chain2.py re-derives these factors from the scan cache and refuses to build if they disagree.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67712"/>
            <a:ext cx="11277295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67712"/>
            <a:ext cx="38100" cy="841248"/>
          </a:xfrm>
          <a:prstGeom prst="rect">
            <a:avLst/>
          </a:prstGeom>
          <a:solidFill>
            <a:srgbClr val="0D6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14016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8848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38658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1A22"/>
                </a:solidFill>
                <a:latin typeface="Consolas"/>
              </a:rPr>
              <a:t>build_chain2.py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67004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The delivery entity, entirely from the measured factors. 20 tables, ~4 seconds. Balance stage + interstate + Victoria same-day = D, exact, per depot x 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36976"/>
            <a:ext cx="11277295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36976"/>
            <a:ext cx="38100" cy="841248"/>
          </a:xfrm>
          <a:prstGeom prst="rect">
            <a:avLst/>
          </a:prstGeom>
          <a:solidFill>
            <a:srgbClr val="8F5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8848F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35584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1A22"/>
                </a:solidFill>
                <a:latin typeface="Consolas"/>
              </a:rPr>
              <a:t>build_chain1.py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639312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The collection entity, extracted by product family from the Change 27 build. 17 tables. Independent of step 2, but it must exist before step 4.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11277295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38100" cy="841248"/>
          </a:xfrm>
          <a:prstGeom prst="rect">
            <a:avLst/>
          </a:prstGeom>
          <a:solidFill>
            <a:srgbClr val="1D4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5254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8848F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32511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1A22"/>
                </a:solidFill>
                <a:latin typeface="Consolas"/>
              </a:rPr>
              <a:t>build_final.py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60857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Reads both entity folders back off disk and merges them into the upload folder. 20 tables — this is what goes to Optilogic.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58384"/>
            <a:ext cx="1127729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58384"/>
            <a:ext cx="38100" cy="731520"/>
          </a:xfrm>
          <a:prstGeom prst="rect">
            <a:avLst/>
          </a:prstGeom>
          <a:solidFill>
            <a:srgbClr val="8F5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68112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F5B0D"/>
                </a:solidFill>
                <a:latin typeface="Calibri"/>
              </a:rPr>
              <a:t>WHERE THE SCANS DO NOT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87568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uv run python build_all.py --skip-export   — a DataStar workspace has no raw extract, so step 0 cannot run there and the drift guard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skips itself. The committed inputs/factors_observed/ IS the measurement; re-run step 0 where the scans are and carry the folder across.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17920"/>
            <a:ext cx="11277295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6217920"/>
            <a:ext cx="38100" cy="512064"/>
          </a:xfrm>
          <a:prstGeom prst="rect">
            <a:avLst/>
          </a:prstGeom>
          <a:solidFill>
            <a:srgbClr val="0D6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309360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D6F66"/>
                </a:solidFill>
                <a:latin typeface="Calibri"/>
              </a:rPr>
              <a:t>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6309360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The three scripts were generated from the notebooks and produce byte-identical output — all 57 tables, diffed against a snapshot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taken before the switch. Nothing about the model changed; only how it is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8848F"/>
                </a:solidFill>
                <a:latin typeface="Calibri"/>
              </a:rPr>
              <a:t>THE OPTILOGIC PIPELINE  ·  THE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31A22"/>
                </a:solidFill>
                <a:latin typeface="Calibri"/>
              </a:rPr>
              <a:t>What lives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E5B69"/>
                </a:solidFill>
                <a:latin typeface="Calibri"/>
              </a:rPr>
              <a:t>Four scripts at the repo root, two input folders with two different owners, three output folders.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60704"/>
            <a:ext cx="11277295" cy="13970"/>
          </a:xfrm>
          <a:prstGeom prst="rect">
            <a:avLst/>
          </a:prstGeom>
          <a:solidFill>
            <a:srgbClr val="13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98448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754880"/>
                <a:gridCol w="3502152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8848F"/>
                          </a:solidFill>
                          <a:latin typeface="Calibri"/>
                        </a:rPr>
                        <a:t>FILE OR FOLDER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8848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8848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export_model_factors.py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the scan reduction and the four filter dials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writes inputs/factors_observed/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build_chain2.py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the delivery entity, 3,061 lines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writes outputs/…chain2_observed/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build_chain1.py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the collection entity, 133 lines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writes outputs/…chain1/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build_final.py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the combiner, 162 lines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writes outputs/…final/ — upload this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build_all.py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runs the four in dependency order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--skip-export for DataStar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inputs/factors_assumed/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hand-managed — EDIT THESE to steer the model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32 dials + 8 factor tables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inputs/factors_observed/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derived — NEVER hand-edit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re-run step 0 instead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inputs/melbourne/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the zone table, centroids, building coordinates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source extracts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31A22"/>
                          </a:solidFill>
                          <a:latin typeface="Consolas"/>
                        </a:rPr>
                        <a:t>inputs/optilogic/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the Anura reference export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E5B69"/>
                          </a:solidFill>
                          <a:latin typeface="Calibri"/>
                        </a:rPr>
                        <a:t>column schemas only — cannot be regenerated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94960"/>
            <a:ext cx="11247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8848F"/>
                </a:solidFill>
                <a:latin typeface="Calibri"/>
              </a:rPr>
              <a:t>MOVING TO DATASTAR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14416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Each script takes its model root from its own file location, so it runs from any working directory; MELBOURNE_MODEL_ROOT overrides that.</a:t>
            </a: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geopandas is imported lazily and only to count catchments in one log line, so the build runs without it.</a:t>
            </a: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Step 0 and the drift guard both need the raw scan extract, which is not there — use --skip-export, and carry inputs/factors_observed/ across.</a:t>
            </a: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4E5B69"/>
                </a:solidFill>
                <a:latin typeface="Calibri"/>
              </a:rPr>
              <a:t>What to upload: the four scripts, inputs/factors_assumed/, inputs/factors_observed/, inputs/melbourne/ and inputs/optilogic/.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