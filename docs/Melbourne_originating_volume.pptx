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of peak day</c:v>
                </c:pt>
              </c:strCache>
            </c:strRef>
          </c:tx>
          <c:spPr>
            <a:solidFill>
              <a:srgbClr val="008C7A"/>
            </a:solidFill>
          </c:spPr>
          <c:dPt>
            <c:idx val="0"/>
            <c:spPr>
              <a:solidFill>
                <a:srgbClr val="C0561B"/>
              </a:solidFill>
            </c:spPr>
          </c:dPt>
          <c:dPt>
            <c:idx val="1"/>
            <c:spPr>
              <a:solidFill>
                <a:srgbClr val="C0561B"/>
              </a:solidFill>
            </c:spPr>
          </c:dPt>
          <c:dPt>
            <c:idx val="2"/>
            <c:spPr>
              <a:solidFill>
                <a:srgbClr val="008C7A"/>
              </a:solidFill>
            </c:spPr>
          </c:dPt>
          <c:dPt>
            <c:idx val="3"/>
            <c:spPr>
              <a:solidFill>
                <a:srgbClr val="008C7A"/>
              </a:solidFill>
            </c:spPr>
          </c:dPt>
          <c:dPt>
            <c:idx val="4"/>
            <c:spPr>
              <a:solidFill>
                <a:srgbClr val="008C7A"/>
              </a:solidFill>
            </c:spPr>
          </c:dPt>
          <c:dPt>
            <c:idx val="5"/>
            <c:spPr>
              <a:solidFill>
                <a:srgbClr val="008C7A"/>
              </a:solidFill>
            </c:spPr>
          </c:dPt>
          <c:dPt>
            <c:idx val="6"/>
            <c:spPr>
              <a:solidFill>
                <a:srgbClr val="008C7A"/>
              </a:solidFill>
            </c:spPr>
          </c:dPt>
          <c:cat>
            <c:strRef>
              <c:f>Sheet1!$A$2:$A$8</c:f>
              <c:strCache>
                <c:ptCount val="7"/>
                <c:pt idx="0">
                  <c:v>Dandenong South</c:v>
                </c:pt>
                <c:pt idx="1">
                  <c:v>Oakleigh South</c:v>
                </c:pt>
                <c:pt idx="2">
                  <c:v>Melbourne PF</c:v>
                </c:pt>
                <c:pt idx="3">
                  <c:v>Melbourne North</c:v>
                </c:pt>
                <c:pt idx="4">
                  <c:v>Bayswater</c:v>
                </c:pt>
                <c:pt idx="5">
                  <c:v>Sunshine West</c:v>
                </c:pt>
                <c:pt idx="6">
                  <c:v>Dandenong LC</c:v>
                </c:pt>
              </c:strCache>
            </c:strRef>
          </c:cat>
          <c:val>
            <c:numRef>
              <c:f>Sheet1!$B$2:$B$8</c:f>
              <c:numCache>
                <c:formatCode>General</c:formatCode>
                <c:ptCount val="7"/>
                <c:pt idx="0">
                  <c:v>27.4</c:v>
                </c:pt>
                <c:pt idx="1">
                  <c:v>37.3</c:v>
                </c:pt>
                <c:pt idx="2">
                  <c:v>44.3</c:v>
                </c:pt>
                <c:pt idx="3">
                  <c:v>71.3</c:v>
                </c:pt>
                <c:pt idx="4">
                  <c:v>80.7</c:v>
                </c:pt>
                <c:pt idx="5">
                  <c:v>81.3</c:v>
                </c:pt>
                <c:pt idx="6">
                  <c:v>94.0</c:v>
                </c:pt>
              </c:numCache>
            </c:numRef>
          </c:val>
        </c:ser>
        <c:dLbls>
          <c:numFmt formatCode="0&quot;%&quot;" sourceLinked="0"/>
          <c:txPr>
            <a:bodyPr/>
            <a:lstStyle/>
            <a:p>
              <a:pPr>
                <a:defRPr sz="1200" b="1">
                  <a:solidFill>
                    <a:srgbClr val="151C1B"/>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txPr>
          <a:bodyPr/>
          <a:lstStyle/>
          <a:p>
            <a:pPr>
              <a:defRPr sz="1250">
                <a:solidFill>
                  <a:srgbClr val="151C1B"/>
                </a:solidFill>
                <a:latin typeface="Calibri"/>
              </a:defRPr>
            </a:pPr>
          </a:p>
        </c:txPr>
        <c:crossAx val="-2113994440"/>
        <c:crosses val="autoZero"/>
        <c:auto val="1"/>
        <c:lblAlgn val="ctr"/>
        <c:lblOffset val="100"/>
        <c:noMultiLvlLbl val="0"/>
      </c:catAx>
      <c:valAx>
        <c:axId val="-2113994440"/>
        <c:scaling>
          <c:max val="100.0"/>
          <c:min val="0.0"/>
        </c:scaling>
        <c:delete val="0"/>
        <c:axPos val="b"/>
        <c:majorGridlines>
          <c:spPr>
            <a:ln>
              <a:solidFill>
                <a:srgbClr val="D5DAD7"/>
              </a:solidFill>
            </a:ln>
          </c:spPr>
        </c:majorGridlines>
        <c:majorTickMark val="out"/>
        <c:minorTickMark val="none"/>
        <c:tickLblPos val="nextTo"/>
        <c:txPr>
          <a:bodyPr/>
          <a:lstStyle/>
          <a:p>
            <a:pPr>
              <a:defRPr sz="1100">
                <a:solidFill>
                  <a:srgbClr val="6B7573"/>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274320"/>
          </a:xfrm>
          <a:prstGeom prst="rect">
            <a:avLst/>
          </a:prstGeom>
          <a:noFill/>
        </p:spPr>
        <p:txBody>
          <a:bodyPr wrap="square" lIns="0" rIns="0" tIns="0" bIns="0">
            <a:spAutoFit/>
          </a:bodyPr>
          <a:lstStyle/>
          <a:p>
            <a:pPr algn="l">
              <a:lnSpc>
                <a:spcPct val="125000"/>
              </a:lnSpc>
              <a:spcAft>
                <a:spcPts val="600"/>
              </a:spcAft>
            </a:pPr>
            <a:r>
              <a:rPr sz="1200" b="1">
                <a:solidFill>
                  <a:srgbClr val="008C7A"/>
                </a:solidFill>
                <a:latin typeface="Calibri"/>
              </a:rPr>
              <a:t>MELBOURNE CATCHMENT MODEL  ·  SCAN ANALYSIS  ·  8 SEPTEMBER 2026</a:t>
            </a:r>
          </a:p>
        </p:txBody>
      </p:sp>
      <p:sp>
        <p:nvSpPr>
          <p:cNvPr id="4" name="TextBox 3"/>
          <p:cNvSpPr txBox="1"/>
          <p:nvPr/>
        </p:nvSpPr>
        <p:spPr>
          <a:xfrm>
            <a:off x="822960" y="1828800"/>
            <a:ext cx="10515600" cy="1097280"/>
          </a:xfrm>
          <a:prstGeom prst="rect">
            <a:avLst/>
          </a:prstGeom>
          <a:noFill/>
        </p:spPr>
        <p:txBody>
          <a:bodyPr wrap="square" lIns="0" rIns="0" tIns="0" bIns="0">
            <a:spAutoFit/>
          </a:bodyPr>
          <a:lstStyle/>
          <a:p>
            <a:pPr algn="l">
              <a:lnSpc>
                <a:spcPct val="100000"/>
              </a:lnSpc>
              <a:spcAft>
                <a:spcPts val="600"/>
              </a:spcAft>
            </a:pPr>
            <a:r>
              <a:rPr sz="4800" b="1">
                <a:solidFill>
                  <a:srgbClr val="151C1B"/>
                </a:solidFill>
                <a:latin typeface="Calibri"/>
              </a:rPr>
              <a:t>Where our parcels actually start</a:t>
            </a:r>
          </a:p>
        </p:txBody>
      </p:sp>
      <p:sp>
        <p:nvSpPr>
          <p:cNvPr id="5" name="TextBox 4"/>
          <p:cNvSpPr txBox="1"/>
          <p:nvPr/>
        </p:nvSpPr>
        <p:spPr>
          <a:xfrm>
            <a:off x="822960" y="3017520"/>
            <a:ext cx="8778240" cy="1280160"/>
          </a:xfrm>
          <a:prstGeom prst="rect">
            <a:avLst/>
          </a:prstGeom>
          <a:noFill/>
        </p:spPr>
        <p:txBody>
          <a:bodyPr wrap="square" lIns="0" rIns="0" tIns="0" bIns="0">
            <a:spAutoFit/>
          </a:bodyPr>
          <a:lstStyle/>
          <a:p>
            <a:pPr algn="l">
              <a:lnSpc>
                <a:spcPct val="135000"/>
              </a:lnSpc>
              <a:spcAft>
                <a:spcPts val="600"/>
              </a:spcAft>
            </a:pPr>
            <a:r>
              <a:rPr sz="1600" b="0">
                <a:solidFill>
                  <a:srgbClr val="3C4644"/>
                </a:solidFill>
                <a:latin typeface="Calibri"/>
              </a:rPr>
              <a:t>We rebuilt the measure of how much volume each site collects, using the raw parcel scans. Two depots — Oakleigh South and Dandenong South — halved once we stopped counting freight that arrived to be delivered. Both still sit well below their peak-day benchmark.</a:t>
            </a:r>
          </a:p>
        </p:txBody>
      </p:sp>
      <p:sp>
        <p:nvSpPr>
          <p:cNvPr id="6" name="Rectangle 5"/>
          <p:cNvSpPr/>
          <p:nvPr/>
        </p:nvSpPr>
        <p:spPr>
          <a:xfrm>
            <a:off x="822960" y="4572000"/>
            <a:ext cx="2514600" cy="105156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4736592"/>
            <a:ext cx="2194560" cy="228600"/>
          </a:xfrm>
          <a:prstGeom prst="rect">
            <a:avLst/>
          </a:prstGeom>
          <a:noFill/>
        </p:spPr>
        <p:txBody>
          <a:bodyPr wrap="square" lIns="0" rIns="0" tIns="0" bIns="0">
            <a:spAutoFit/>
          </a:bodyPr>
          <a:lstStyle/>
          <a:p>
            <a:pPr algn="l">
              <a:lnSpc>
                <a:spcPct val="125000"/>
              </a:lnSpc>
              <a:spcAft>
                <a:spcPts val="200"/>
              </a:spcAft>
            </a:pPr>
            <a:r>
              <a:rPr sz="1000" b="1">
                <a:solidFill>
                  <a:srgbClr val="6B7573"/>
                </a:solidFill>
                <a:latin typeface="Calibri"/>
              </a:rPr>
              <a:t>DAY MEASURED</a:t>
            </a:r>
          </a:p>
        </p:txBody>
      </p:sp>
      <p:sp>
        <p:nvSpPr>
          <p:cNvPr id="8" name="TextBox 7"/>
          <p:cNvSpPr txBox="1"/>
          <p:nvPr/>
        </p:nvSpPr>
        <p:spPr>
          <a:xfrm>
            <a:off x="1024128" y="4983480"/>
            <a:ext cx="2194560" cy="320040"/>
          </a:xfrm>
          <a:prstGeom prst="rect">
            <a:avLst/>
          </a:prstGeom>
          <a:noFill/>
        </p:spPr>
        <p:txBody>
          <a:bodyPr wrap="square" lIns="0" rIns="0" tIns="0" bIns="0">
            <a:spAutoFit/>
          </a:bodyPr>
          <a:lstStyle/>
          <a:p>
            <a:pPr algn="l">
              <a:lnSpc>
                <a:spcPct val="125000"/>
              </a:lnSpc>
              <a:spcAft>
                <a:spcPts val="100"/>
              </a:spcAft>
            </a:pPr>
            <a:r>
              <a:rPr sz="1900" b="1">
                <a:solidFill>
                  <a:srgbClr val="151C1B"/>
                </a:solidFill>
                <a:latin typeface="Calibri"/>
              </a:rPr>
              <a:t>11 May 2026</a:t>
            </a:r>
          </a:p>
        </p:txBody>
      </p:sp>
      <p:sp>
        <p:nvSpPr>
          <p:cNvPr id="9" name="TextBox 8"/>
          <p:cNvSpPr txBox="1"/>
          <p:nvPr/>
        </p:nvSpPr>
        <p:spPr>
          <a:xfrm>
            <a:off x="1024128" y="5285232"/>
            <a:ext cx="2194560" cy="228600"/>
          </a:xfrm>
          <a:prstGeom prst="rect">
            <a:avLst/>
          </a:prstGeom>
          <a:noFill/>
        </p:spPr>
        <p:txBody>
          <a:bodyPr wrap="square" lIns="0" rIns="0" tIns="0" bIns="0">
            <a:spAutoFit/>
          </a:bodyPr>
          <a:lstStyle/>
          <a:p>
            <a:pPr algn="l">
              <a:lnSpc>
                <a:spcPct val="125000"/>
              </a:lnSpc>
              <a:spcAft>
                <a:spcPts val="600"/>
              </a:spcAft>
            </a:pPr>
            <a:r>
              <a:rPr sz="1100" b="0">
                <a:solidFill>
                  <a:srgbClr val="6B7573"/>
                </a:solidFill>
                <a:latin typeface="Calibri"/>
              </a:rPr>
              <a:t>an ordinary Monday</a:t>
            </a:r>
          </a:p>
        </p:txBody>
      </p:sp>
      <p:sp>
        <p:nvSpPr>
          <p:cNvPr id="10" name="Rectangle 9"/>
          <p:cNvSpPr/>
          <p:nvPr/>
        </p:nvSpPr>
        <p:spPr>
          <a:xfrm>
            <a:off x="3520440" y="4572000"/>
            <a:ext cx="2514600" cy="105156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21608" y="4736592"/>
            <a:ext cx="2194560" cy="228600"/>
          </a:xfrm>
          <a:prstGeom prst="rect">
            <a:avLst/>
          </a:prstGeom>
          <a:noFill/>
        </p:spPr>
        <p:txBody>
          <a:bodyPr wrap="square" lIns="0" rIns="0" tIns="0" bIns="0">
            <a:spAutoFit/>
          </a:bodyPr>
          <a:lstStyle/>
          <a:p>
            <a:pPr algn="l">
              <a:lnSpc>
                <a:spcPct val="125000"/>
              </a:lnSpc>
              <a:spcAft>
                <a:spcPts val="200"/>
              </a:spcAft>
            </a:pPr>
            <a:r>
              <a:rPr sz="1000" b="1">
                <a:solidFill>
                  <a:srgbClr val="6B7573"/>
                </a:solidFill>
                <a:latin typeface="Calibri"/>
              </a:rPr>
              <a:t>PARCELS FOLLOWED FOR</a:t>
            </a:r>
          </a:p>
        </p:txBody>
      </p:sp>
      <p:sp>
        <p:nvSpPr>
          <p:cNvPr id="12" name="TextBox 11"/>
          <p:cNvSpPr txBox="1"/>
          <p:nvPr/>
        </p:nvSpPr>
        <p:spPr>
          <a:xfrm>
            <a:off x="3721608" y="4983480"/>
            <a:ext cx="2194560" cy="320040"/>
          </a:xfrm>
          <a:prstGeom prst="rect">
            <a:avLst/>
          </a:prstGeom>
          <a:noFill/>
        </p:spPr>
        <p:txBody>
          <a:bodyPr wrap="square" lIns="0" rIns="0" tIns="0" bIns="0">
            <a:spAutoFit/>
          </a:bodyPr>
          <a:lstStyle/>
          <a:p>
            <a:pPr algn="l">
              <a:lnSpc>
                <a:spcPct val="125000"/>
              </a:lnSpc>
              <a:spcAft>
                <a:spcPts val="100"/>
              </a:spcAft>
            </a:pPr>
            <a:r>
              <a:rPr sz="1900" b="1">
                <a:solidFill>
                  <a:srgbClr val="151C1B"/>
                </a:solidFill>
                <a:latin typeface="Calibri"/>
              </a:rPr>
              <a:t>10 days</a:t>
            </a:r>
          </a:p>
        </p:txBody>
      </p:sp>
      <p:sp>
        <p:nvSpPr>
          <p:cNvPr id="13" name="TextBox 12"/>
          <p:cNvSpPr txBox="1"/>
          <p:nvPr/>
        </p:nvSpPr>
        <p:spPr>
          <a:xfrm>
            <a:off x="3721608" y="5285232"/>
            <a:ext cx="2194560" cy="228600"/>
          </a:xfrm>
          <a:prstGeom prst="rect">
            <a:avLst/>
          </a:prstGeom>
          <a:noFill/>
        </p:spPr>
        <p:txBody>
          <a:bodyPr wrap="square" lIns="0" rIns="0" tIns="0" bIns="0">
            <a:spAutoFit/>
          </a:bodyPr>
          <a:lstStyle/>
          <a:p>
            <a:pPr algn="l">
              <a:lnSpc>
                <a:spcPct val="125000"/>
              </a:lnSpc>
              <a:spcAft>
                <a:spcPts val="600"/>
              </a:spcAft>
            </a:pPr>
            <a:r>
              <a:rPr sz="1100" b="0">
                <a:solidFill>
                  <a:srgbClr val="6B7573"/>
                </a:solidFill>
                <a:latin typeface="Calibri"/>
              </a:rPr>
              <a:t>every scan, nationwide</a:t>
            </a:r>
          </a:p>
        </p:txBody>
      </p:sp>
      <p:sp>
        <p:nvSpPr>
          <p:cNvPr id="14" name="Rectangle 13"/>
          <p:cNvSpPr/>
          <p:nvPr/>
        </p:nvSpPr>
        <p:spPr>
          <a:xfrm>
            <a:off x="6217920" y="4572000"/>
            <a:ext cx="2514600" cy="105156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4736592"/>
            <a:ext cx="2194560" cy="228600"/>
          </a:xfrm>
          <a:prstGeom prst="rect">
            <a:avLst/>
          </a:prstGeom>
          <a:noFill/>
        </p:spPr>
        <p:txBody>
          <a:bodyPr wrap="square" lIns="0" rIns="0" tIns="0" bIns="0">
            <a:spAutoFit/>
          </a:bodyPr>
          <a:lstStyle/>
          <a:p>
            <a:pPr algn="l">
              <a:lnSpc>
                <a:spcPct val="125000"/>
              </a:lnSpc>
              <a:spcAft>
                <a:spcPts val="200"/>
              </a:spcAft>
            </a:pPr>
            <a:r>
              <a:rPr sz="1000" b="1">
                <a:solidFill>
                  <a:srgbClr val="6B7573"/>
                </a:solidFill>
                <a:latin typeface="Calibri"/>
              </a:rPr>
              <a:t>SITES MEASURED</a:t>
            </a:r>
          </a:p>
        </p:txBody>
      </p:sp>
      <p:sp>
        <p:nvSpPr>
          <p:cNvPr id="16" name="TextBox 15"/>
          <p:cNvSpPr txBox="1"/>
          <p:nvPr/>
        </p:nvSpPr>
        <p:spPr>
          <a:xfrm>
            <a:off x="6419088" y="4983480"/>
            <a:ext cx="2194560" cy="320040"/>
          </a:xfrm>
          <a:prstGeom prst="rect">
            <a:avLst/>
          </a:prstGeom>
          <a:noFill/>
        </p:spPr>
        <p:txBody>
          <a:bodyPr wrap="square" lIns="0" rIns="0" tIns="0" bIns="0">
            <a:spAutoFit/>
          </a:bodyPr>
          <a:lstStyle/>
          <a:p>
            <a:pPr algn="l">
              <a:lnSpc>
                <a:spcPct val="125000"/>
              </a:lnSpc>
              <a:spcAft>
                <a:spcPts val="100"/>
              </a:spcAft>
            </a:pPr>
            <a:r>
              <a:rPr sz="1900" b="1">
                <a:solidFill>
                  <a:srgbClr val="151C1B"/>
                </a:solidFill>
                <a:latin typeface="Calibri"/>
              </a:rPr>
              <a:t>7</a:t>
            </a:r>
          </a:p>
        </p:txBody>
      </p:sp>
      <p:sp>
        <p:nvSpPr>
          <p:cNvPr id="17" name="TextBox 16"/>
          <p:cNvSpPr txBox="1"/>
          <p:nvPr/>
        </p:nvSpPr>
        <p:spPr>
          <a:xfrm>
            <a:off x="6419088" y="5285232"/>
            <a:ext cx="2194560" cy="228600"/>
          </a:xfrm>
          <a:prstGeom prst="rect">
            <a:avLst/>
          </a:prstGeom>
          <a:noFill/>
        </p:spPr>
        <p:txBody>
          <a:bodyPr wrap="square" lIns="0" rIns="0" tIns="0" bIns="0">
            <a:spAutoFit/>
          </a:bodyPr>
          <a:lstStyle/>
          <a:p>
            <a:pPr algn="l">
              <a:lnSpc>
                <a:spcPct val="125000"/>
              </a:lnSpc>
              <a:spcAft>
                <a:spcPts val="600"/>
              </a:spcAft>
            </a:pPr>
            <a:r>
              <a:rPr sz="1100" b="0">
                <a:solidFill>
                  <a:srgbClr val="6B7573"/>
                </a:solidFill>
                <a:latin typeface="Calibri"/>
              </a:rPr>
              <a:t>5 van depots, 2 hubs</a:t>
            </a:r>
          </a:p>
        </p:txBody>
      </p:sp>
      <p:sp>
        <p:nvSpPr>
          <p:cNvPr id="18" name="Rectangle 17"/>
          <p:cNvSpPr/>
          <p:nvPr/>
        </p:nvSpPr>
        <p:spPr>
          <a:xfrm>
            <a:off x="8915400" y="4572000"/>
            <a:ext cx="2514600" cy="105156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16568" y="4736592"/>
            <a:ext cx="2194560" cy="228600"/>
          </a:xfrm>
          <a:prstGeom prst="rect">
            <a:avLst/>
          </a:prstGeom>
          <a:noFill/>
        </p:spPr>
        <p:txBody>
          <a:bodyPr wrap="square" lIns="0" rIns="0" tIns="0" bIns="0">
            <a:spAutoFit/>
          </a:bodyPr>
          <a:lstStyle/>
          <a:p>
            <a:pPr algn="l">
              <a:lnSpc>
                <a:spcPct val="125000"/>
              </a:lnSpc>
              <a:spcAft>
                <a:spcPts val="200"/>
              </a:spcAft>
            </a:pPr>
            <a:r>
              <a:rPr sz="1000" b="1">
                <a:solidFill>
                  <a:srgbClr val="6B7573"/>
                </a:solidFill>
                <a:latin typeface="Calibri"/>
              </a:rPr>
              <a:t>VOLUME COLLECTED</a:t>
            </a:r>
          </a:p>
        </p:txBody>
      </p:sp>
      <p:sp>
        <p:nvSpPr>
          <p:cNvPr id="20" name="TextBox 19"/>
          <p:cNvSpPr txBox="1"/>
          <p:nvPr/>
        </p:nvSpPr>
        <p:spPr>
          <a:xfrm>
            <a:off x="9116568" y="4983480"/>
            <a:ext cx="2194560" cy="320040"/>
          </a:xfrm>
          <a:prstGeom prst="rect">
            <a:avLst/>
          </a:prstGeom>
          <a:noFill/>
        </p:spPr>
        <p:txBody>
          <a:bodyPr wrap="square" lIns="0" rIns="0" tIns="0" bIns="0">
            <a:spAutoFit/>
          </a:bodyPr>
          <a:lstStyle/>
          <a:p>
            <a:pPr algn="l">
              <a:lnSpc>
                <a:spcPct val="125000"/>
              </a:lnSpc>
              <a:spcAft>
                <a:spcPts val="100"/>
              </a:spcAft>
            </a:pPr>
            <a:r>
              <a:rPr sz="1900" b="1">
                <a:solidFill>
                  <a:srgbClr val="151C1B"/>
                </a:solidFill>
                <a:latin typeface="Calibri"/>
              </a:rPr>
              <a:t>349,663</a:t>
            </a:r>
          </a:p>
        </p:txBody>
      </p:sp>
      <p:sp>
        <p:nvSpPr>
          <p:cNvPr id="21" name="TextBox 20"/>
          <p:cNvSpPr txBox="1"/>
          <p:nvPr/>
        </p:nvSpPr>
        <p:spPr>
          <a:xfrm>
            <a:off x="9116568" y="5285232"/>
            <a:ext cx="2194560" cy="228600"/>
          </a:xfrm>
          <a:prstGeom prst="rect">
            <a:avLst/>
          </a:prstGeom>
          <a:noFill/>
        </p:spPr>
        <p:txBody>
          <a:bodyPr wrap="square" lIns="0" rIns="0" tIns="0" bIns="0">
            <a:spAutoFit/>
          </a:bodyPr>
          <a:lstStyle/>
          <a:p>
            <a:pPr algn="l">
              <a:lnSpc>
                <a:spcPct val="125000"/>
              </a:lnSpc>
              <a:spcAft>
                <a:spcPts val="600"/>
              </a:spcAft>
            </a:pPr>
            <a:r>
              <a:rPr sz="1100" b="0">
                <a:solidFill>
                  <a:srgbClr val="6B7573"/>
                </a:solidFill>
                <a:latin typeface="Calibri"/>
              </a:rPr>
              <a:t>articles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1 — WHAT WE DID</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How the number is built</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058400" cy="457200"/>
          </a:xfrm>
          <a:prstGeom prst="rect">
            <a:avLst/>
          </a:prstGeom>
          <a:noFill/>
        </p:spPr>
        <p:txBody>
          <a:bodyPr wrap="square" lIns="0" rIns="0" tIns="0" bIns="0">
            <a:spAutoFit/>
          </a:bodyPr>
          <a:lstStyle/>
          <a:p>
            <a:pPr algn="l">
              <a:lnSpc>
                <a:spcPct val="125000"/>
              </a:lnSpc>
              <a:spcAft>
                <a:spcPts val="600"/>
              </a:spcAft>
            </a:pPr>
            <a:r>
              <a:rPr sz="1450" b="0">
                <a:solidFill>
                  <a:srgbClr val="3C4644"/>
                </a:solidFill>
                <a:latin typeface="Calibri"/>
              </a:rPr>
              <a:t>This measure asks the opposite of everything else in the model. The rest tracks freight arriving in Melbourne to be delivered. This tracks freight that starts here — what our sites collect and put into the network.</a:t>
            </a:r>
          </a:p>
        </p:txBody>
      </p:sp>
      <p:sp>
        <p:nvSpPr>
          <p:cNvPr id="6" name="TextBox 5"/>
          <p:cNvSpPr txBox="1"/>
          <p:nvPr/>
        </p:nvSpPr>
        <p:spPr>
          <a:xfrm>
            <a:off x="640080" y="2258568"/>
            <a:ext cx="365760" cy="274320"/>
          </a:xfrm>
          <a:prstGeom prst="rect">
            <a:avLst/>
          </a:prstGeom>
          <a:noFill/>
        </p:spPr>
        <p:txBody>
          <a:bodyPr wrap="square" lIns="0" rIns="0" tIns="0" bIns="0">
            <a:spAutoFit/>
          </a:bodyPr>
          <a:lstStyle/>
          <a:p>
            <a:pPr algn="l">
              <a:lnSpc>
                <a:spcPct val="125000"/>
              </a:lnSpc>
              <a:spcAft>
                <a:spcPts val="600"/>
              </a:spcAft>
            </a:pPr>
            <a:r>
              <a:rPr sz="1400" b="1">
                <a:solidFill>
                  <a:srgbClr val="008C7A"/>
                </a:solidFill>
                <a:latin typeface="Calibri"/>
              </a:rPr>
              <a:t>1</a:t>
            </a:r>
          </a:p>
        </p:txBody>
      </p:sp>
      <p:sp>
        <p:nvSpPr>
          <p:cNvPr id="7" name="TextBox 6"/>
          <p:cNvSpPr txBox="1"/>
          <p:nvPr/>
        </p:nvSpPr>
        <p:spPr>
          <a:xfrm>
            <a:off x="1051560" y="2240280"/>
            <a:ext cx="10241280" cy="274320"/>
          </a:xfrm>
          <a:prstGeom prst="rect">
            <a:avLst/>
          </a:prstGeom>
          <a:noFill/>
        </p:spPr>
        <p:txBody>
          <a:bodyPr wrap="square" lIns="0" rIns="0" tIns="0" bIns="0">
            <a:spAutoFit/>
          </a:bodyPr>
          <a:lstStyle/>
          <a:p>
            <a:pPr algn="l">
              <a:lnSpc>
                <a:spcPct val="125000"/>
              </a:lnSpc>
              <a:spcAft>
                <a:spcPts val="200"/>
              </a:spcAft>
            </a:pPr>
            <a:r>
              <a:rPr sz="1500" b="1">
                <a:solidFill>
                  <a:srgbClr val="151C1B"/>
                </a:solidFill>
                <a:latin typeface="Calibri"/>
              </a:rPr>
              <a:t>Pick the parcels</a:t>
            </a:r>
          </a:p>
        </p:txBody>
      </p:sp>
      <p:sp>
        <p:nvSpPr>
          <p:cNvPr id="8" name="TextBox 7"/>
          <p:cNvSpPr txBox="1"/>
          <p:nvPr/>
        </p:nvSpPr>
        <p:spPr>
          <a:xfrm>
            <a:off x="1051560" y="2514600"/>
            <a:ext cx="9966960" cy="457200"/>
          </a:xfrm>
          <a:prstGeom prst="rect">
            <a:avLst/>
          </a:prstGeom>
          <a:noFill/>
        </p:spPr>
        <p:txBody>
          <a:bodyPr wrap="square" lIns="0" rIns="0" tIns="0" bIns="0">
            <a:spAutoFit/>
          </a:bodyPr>
          <a:lstStyle/>
          <a:p>
            <a:pPr algn="l">
              <a:lnSpc>
                <a:spcPct val="125000"/>
              </a:lnSpc>
              <a:spcAft>
                <a:spcPts val="600"/>
              </a:spcAft>
            </a:pPr>
            <a:r>
              <a:rPr sz="1350" b="0">
                <a:solidFill>
                  <a:srgbClr val="3C4644"/>
                </a:solidFill>
                <a:latin typeface="Calibri"/>
              </a:rPr>
              <a:t>Take one day — 11 May 2026 — and find every consignment scanned at the depot we are measuring. One extract per site, seven in total.</a:t>
            </a:r>
          </a:p>
        </p:txBody>
      </p:sp>
      <p:sp>
        <p:nvSpPr>
          <p:cNvPr id="9" name="TextBox 8"/>
          <p:cNvSpPr txBox="1"/>
          <p:nvPr/>
        </p:nvSpPr>
        <p:spPr>
          <a:xfrm>
            <a:off x="640080" y="3099816"/>
            <a:ext cx="365760" cy="274320"/>
          </a:xfrm>
          <a:prstGeom prst="rect">
            <a:avLst/>
          </a:prstGeom>
          <a:noFill/>
        </p:spPr>
        <p:txBody>
          <a:bodyPr wrap="square" lIns="0" rIns="0" tIns="0" bIns="0">
            <a:spAutoFit/>
          </a:bodyPr>
          <a:lstStyle/>
          <a:p>
            <a:pPr algn="l">
              <a:lnSpc>
                <a:spcPct val="125000"/>
              </a:lnSpc>
              <a:spcAft>
                <a:spcPts val="600"/>
              </a:spcAft>
            </a:pPr>
            <a:r>
              <a:rPr sz="1400" b="1">
                <a:solidFill>
                  <a:srgbClr val="008C7A"/>
                </a:solidFill>
                <a:latin typeface="Calibri"/>
              </a:rPr>
              <a:t>2</a:t>
            </a:r>
          </a:p>
        </p:txBody>
      </p:sp>
      <p:sp>
        <p:nvSpPr>
          <p:cNvPr id="10" name="TextBox 9"/>
          <p:cNvSpPr txBox="1"/>
          <p:nvPr/>
        </p:nvSpPr>
        <p:spPr>
          <a:xfrm>
            <a:off x="1051560" y="3081528"/>
            <a:ext cx="10241280" cy="274320"/>
          </a:xfrm>
          <a:prstGeom prst="rect">
            <a:avLst/>
          </a:prstGeom>
          <a:noFill/>
        </p:spPr>
        <p:txBody>
          <a:bodyPr wrap="square" lIns="0" rIns="0" tIns="0" bIns="0">
            <a:spAutoFit/>
          </a:bodyPr>
          <a:lstStyle/>
          <a:p>
            <a:pPr algn="l">
              <a:lnSpc>
                <a:spcPct val="125000"/>
              </a:lnSpc>
              <a:spcAft>
                <a:spcPts val="200"/>
              </a:spcAft>
            </a:pPr>
            <a:r>
              <a:rPr sz="1500" b="1">
                <a:solidFill>
                  <a:srgbClr val="151C1B"/>
                </a:solidFill>
                <a:latin typeface="Calibri"/>
              </a:rPr>
              <a:t>Follow each one to the door</a:t>
            </a:r>
          </a:p>
        </p:txBody>
      </p:sp>
      <p:sp>
        <p:nvSpPr>
          <p:cNvPr id="11" name="TextBox 10"/>
          <p:cNvSpPr txBox="1"/>
          <p:nvPr/>
        </p:nvSpPr>
        <p:spPr>
          <a:xfrm>
            <a:off x="1051560" y="3355848"/>
            <a:ext cx="9966960" cy="457200"/>
          </a:xfrm>
          <a:prstGeom prst="rect">
            <a:avLst/>
          </a:prstGeom>
          <a:noFill/>
        </p:spPr>
        <p:txBody>
          <a:bodyPr wrap="square" lIns="0" rIns="0" tIns="0" bIns="0">
            <a:spAutoFit/>
          </a:bodyPr>
          <a:lstStyle/>
          <a:p>
            <a:pPr algn="l">
              <a:lnSpc>
                <a:spcPct val="125000"/>
              </a:lnSpc>
              <a:spcAft>
                <a:spcPts val="600"/>
              </a:spcAft>
            </a:pPr>
            <a:r>
              <a:rPr sz="1350" b="0">
                <a:solidFill>
                  <a:srgbClr val="3C4644"/>
                </a:solidFill>
                <a:latin typeface="Calibri"/>
              </a:rPr>
              <a:t>Pull every scan those parcels collect over the next 10 days, anywhere in the country: lodged, accepted, unloaded, sorted, loaded, departed, delivered.</a:t>
            </a:r>
          </a:p>
        </p:txBody>
      </p:sp>
      <p:sp>
        <p:nvSpPr>
          <p:cNvPr id="12" name="TextBox 11"/>
          <p:cNvSpPr txBox="1"/>
          <p:nvPr/>
        </p:nvSpPr>
        <p:spPr>
          <a:xfrm>
            <a:off x="640080" y="3941064"/>
            <a:ext cx="365760" cy="274320"/>
          </a:xfrm>
          <a:prstGeom prst="rect">
            <a:avLst/>
          </a:prstGeom>
          <a:noFill/>
        </p:spPr>
        <p:txBody>
          <a:bodyPr wrap="square" lIns="0" rIns="0" tIns="0" bIns="0">
            <a:spAutoFit/>
          </a:bodyPr>
          <a:lstStyle/>
          <a:p>
            <a:pPr algn="l">
              <a:lnSpc>
                <a:spcPct val="125000"/>
              </a:lnSpc>
              <a:spcAft>
                <a:spcPts val="600"/>
              </a:spcAft>
            </a:pPr>
            <a:r>
              <a:rPr sz="1400" b="1">
                <a:solidFill>
                  <a:srgbClr val="008C7A"/>
                </a:solidFill>
                <a:latin typeface="Calibri"/>
              </a:rPr>
              <a:t>3</a:t>
            </a:r>
          </a:p>
        </p:txBody>
      </p:sp>
      <p:sp>
        <p:nvSpPr>
          <p:cNvPr id="13" name="TextBox 12"/>
          <p:cNvSpPr txBox="1"/>
          <p:nvPr/>
        </p:nvSpPr>
        <p:spPr>
          <a:xfrm>
            <a:off x="1051560" y="3922776"/>
            <a:ext cx="10241280" cy="274320"/>
          </a:xfrm>
          <a:prstGeom prst="rect">
            <a:avLst/>
          </a:prstGeom>
          <a:noFill/>
        </p:spPr>
        <p:txBody>
          <a:bodyPr wrap="square" lIns="0" rIns="0" tIns="0" bIns="0">
            <a:spAutoFit/>
          </a:bodyPr>
          <a:lstStyle/>
          <a:p>
            <a:pPr algn="l">
              <a:lnSpc>
                <a:spcPct val="125000"/>
              </a:lnSpc>
              <a:spcAft>
                <a:spcPts val="200"/>
              </a:spcAft>
            </a:pPr>
            <a:r>
              <a:rPr sz="1500" b="1">
                <a:solidFill>
                  <a:srgbClr val="151C1B"/>
                </a:solidFill>
                <a:latin typeface="Calibri"/>
              </a:rPr>
              <a:t>Add names and locations</a:t>
            </a:r>
          </a:p>
        </p:txBody>
      </p:sp>
      <p:sp>
        <p:nvSpPr>
          <p:cNvPr id="14" name="TextBox 13"/>
          <p:cNvSpPr txBox="1"/>
          <p:nvPr/>
        </p:nvSpPr>
        <p:spPr>
          <a:xfrm>
            <a:off x="1051560" y="4197096"/>
            <a:ext cx="9966960" cy="457200"/>
          </a:xfrm>
          <a:prstGeom prst="rect">
            <a:avLst/>
          </a:prstGeom>
          <a:noFill/>
        </p:spPr>
        <p:txBody>
          <a:bodyPr wrap="square" lIns="0" rIns="0" tIns="0" bIns="0">
            <a:spAutoFit/>
          </a:bodyPr>
          <a:lstStyle/>
          <a:p>
            <a:pPr algn="l">
              <a:lnSpc>
                <a:spcPct val="125000"/>
              </a:lnSpc>
              <a:spcAft>
                <a:spcPts val="600"/>
              </a:spcAft>
            </a:pPr>
            <a:r>
              <a:rPr sz="1350" b="0">
                <a:solidFill>
                  <a:srgbClr val="3C4644"/>
                </a:solidFill>
                <a:latin typeface="Calibri"/>
              </a:rPr>
              <a:t>Turn facility codes into building names and map points, and match delivery addresses to the address database.</a:t>
            </a:r>
          </a:p>
        </p:txBody>
      </p:sp>
      <p:sp>
        <p:nvSpPr>
          <p:cNvPr id="15" name="TextBox 14"/>
          <p:cNvSpPr txBox="1"/>
          <p:nvPr/>
        </p:nvSpPr>
        <p:spPr>
          <a:xfrm>
            <a:off x="640080" y="4782312"/>
            <a:ext cx="365760" cy="274320"/>
          </a:xfrm>
          <a:prstGeom prst="rect">
            <a:avLst/>
          </a:prstGeom>
          <a:noFill/>
        </p:spPr>
        <p:txBody>
          <a:bodyPr wrap="square" lIns="0" rIns="0" tIns="0" bIns="0">
            <a:spAutoFit/>
          </a:bodyPr>
          <a:lstStyle/>
          <a:p>
            <a:pPr algn="l">
              <a:lnSpc>
                <a:spcPct val="125000"/>
              </a:lnSpc>
              <a:spcAft>
                <a:spcPts val="600"/>
              </a:spcAft>
            </a:pPr>
            <a:r>
              <a:rPr sz="1400" b="1">
                <a:solidFill>
                  <a:srgbClr val="008C7A"/>
                </a:solidFill>
                <a:latin typeface="Calibri"/>
              </a:rPr>
              <a:t>4</a:t>
            </a:r>
          </a:p>
        </p:txBody>
      </p:sp>
      <p:sp>
        <p:nvSpPr>
          <p:cNvPr id="16" name="TextBox 15"/>
          <p:cNvSpPr txBox="1"/>
          <p:nvPr/>
        </p:nvSpPr>
        <p:spPr>
          <a:xfrm>
            <a:off x="1051560" y="4764024"/>
            <a:ext cx="10241280" cy="274320"/>
          </a:xfrm>
          <a:prstGeom prst="rect">
            <a:avLst/>
          </a:prstGeom>
          <a:noFill/>
        </p:spPr>
        <p:txBody>
          <a:bodyPr wrap="square" lIns="0" rIns="0" tIns="0" bIns="0">
            <a:spAutoFit/>
          </a:bodyPr>
          <a:lstStyle/>
          <a:p>
            <a:pPr algn="l">
              <a:lnSpc>
                <a:spcPct val="125000"/>
              </a:lnSpc>
              <a:spcAft>
                <a:spcPts val="200"/>
              </a:spcAft>
            </a:pPr>
            <a:r>
              <a:rPr sz="1500" b="1">
                <a:solidFill>
                  <a:srgbClr val="151C1B"/>
                </a:solidFill>
                <a:latin typeface="Calibri"/>
              </a:rPr>
              <a:t>Add the outcome</a:t>
            </a:r>
          </a:p>
        </p:txBody>
      </p:sp>
      <p:sp>
        <p:nvSpPr>
          <p:cNvPr id="17" name="TextBox 16"/>
          <p:cNvSpPr txBox="1"/>
          <p:nvPr/>
        </p:nvSpPr>
        <p:spPr>
          <a:xfrm>
            <a:off x="1051560" y="5038344"/>
            <a:ext cx="9966960" cy="457200"/>
          </a:xfrm>
          <a:prstGeom prst="rect">
            <a:avLst/>
          </a:prstGeom>
          <a:noFill/>
        </p:spPr>
        <p:txBody>
          <a:bodyPr wrap="square" lIns="0" rIns="0" tIns="0" bIns="0">
            <a:spAutoFit/>
          </a:bodyPr>
          <a:lstStyle/>
          <a:p>
            <a:pPr algn="l">
              <a:lnSpc>
                <a:spcPct val="125000"/>
              </a:lnSpc>
              <a:spcAft>
                <a:spcPts val="600"/>
              </a:spcAft>
            </a:pPr>
            <a:r>
              <a:rPr sz="1350" b="0">
                <a:solidFill>
                  <a:srgbClr val="3C4644"/>
                </a:solidFill>
                <a:latin typeface="Calibri"/>
              </a:rPr>
              <a:t>Attach each parcel's delivery date, delivery address, the site that delivered it, and its product. The result is one line per scan, in time order.</a:t>
            </a:r>
          </a:p>
        </p:txBody>
      </p:sp>
      <p:sp>
        <p:nvSpPr>
          <p:cNvPr id="18" name="Rectangle 17"/>
          <p:cNvSpPr/>
          <p:nvPr/>
        </p:nvSpPr>
        <p:spPr>
          <a:xfrm>
            <a:off x="640080" y="5715000"/>
            <a:ext cx="41148" cy="777240"/>
          </a:xfrm>
          <a:prstGeom prst="rect">
            <a:avLst/>
          </a:prstGeom>
          <a:solidFill>
            <a:srgbClr val="C056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760720"/>
            <a:ext cx="10332720" cy="685800"/>
          </a:xfrm>
          <a:prstGeom prst="rect">
            <a:avLst/>
          </a:prstGeom>
          <a:noFill/>
        </p:spPr>
        <p:txBody>
          <a:bodyPr wrap="square" lIns="0" rIns="0" tIns="0" bIns="0">
            <a:spAutoFit/>
          </a:bodyPr>
          <a:lstStyle/>
          <a:p>
            <a:pPr algn="l">
              <a:lnSpc>
                <a:spcPct val="125000"/>
              </a:lnSpc>
              <a:spcAft>
                <a:spcPts val="400"/>
              </a:spcAft>
            </a:pPr>
            <a:r>
              <a:rPr sz="1050" b="1">
                <a:solidFill>
                  <a:srgbClr val="C0561B"/>
                </a:solidFill>
                <a:latin typeface="Calibri"/>
              </a:rPr>
              <a:t>ONE CATCH WORTH KNOWING</a:t>
            </a:r>
          </a:p>
          <a:p>
            <a:pPr algn="l">
              <a:lnSpc>
                <a:spcPct val="125000"/>
              </a:lnSpc>
              <a:spcAft>
                <a:spcPts val="600"/>
              </a:spcAft>
            </a:pPr>
            <a:r>
              <a:rPr sz="1300" b="0">
                <a:solidFill>
                  <a:srgbClr val="3C4644"/>
                </a:solidFill>
                <a:latin typeface="Calibri"/>
              </a:rPr>
              <a:t>The field in the data called “lodge facility” is </a:t>
            </a:r>
            <a:r>
              <a:rPr sz="1300" b="1">
                <a:solidFill>
                  <a:srgbClr val="3C4644"/>
                </a:solidFill>
                <a:latin typeface="Calibri"/>
              </a:rPr>
              <a:t>not</a:t>
            </a:r>
            <a:r>
              <a:rPr sz="1300" b="0">
                <a:solidFill>
                  <a:srgbClr val="3C4644"/>
                </a:solidFill>
                <a:latin typeface="Calibri"/>
              </a:rPr>
              <a:t> a lodgement — it is only “the first scan we saw at that site”. Just under 6 in 10 of those are a real lodge scan. Everything on the next slide follows from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2 — THE RULE</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How we decide a parcel started here</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058400" cy="457200"/>
          </a:xfrm>
          <a:prstGeom prst="rect">
            <a:avLst/>
          </a:prstGeom>
          <a:noFill/>
        </p:spPr>
        <p:txBody>
          <a:bodyPr wrap="square" lIns="0" rIns="0" tIns="0" bIns="0">
            <a:spAutoFit/>
          </a:bodyPr>
          <a:lstStyle/>
          <a:p>
            <a:pPr algn="l">
              <a:lnSpc>
                <a:spcPct val="125000"/>
              </a:lnSpc>
              <a:spcAft>
                <a:spcPts val="600"/>
              </a:spcAft>
            </a:pPr>
            <a:r>
              <a:rPr sz="1450" b="0">
                <a:solidFill>
                  <a:srgbClr val="3C4644"/>
                </a:solidFill>
                <a:latin typeface="Calibri"/>
              </a:rPr>
              <a:t>A parcel counts as collected at a site if its first scan of the day happened in one of that site's own buildings, and it is Parcel Post or Express Post.</a:t>
            </a:r>
          </a:p>
        </p:txBody>
      </p:sp>
      <p:sp>
        <p:nvSpPr>
          <p:cNvPr id="6" name="Rectangle 5"/>
          <p:cNvSpPr/>
          <p:nvPr/>
        </p:nvSpPr>
        <p:spPr>
          <a:xfrm>
            <a:off x="640080" y="2414016"/>
            <a:ext cx="91440" cy="9144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31720"/>
            <a:ext cx="10332720" cy="256032"/>
          </a:xfrm>
          <a:prstGeom prst="rect">
            <a:avLst/>
          </a:prstGeom>
          <a:noFill/>
        </p:spPr>
        <p:txBody>
          <a:bodyPr wrap="square" lIns="0" rIns="0" tIns="0" bIns="0">
            <a:spAutoFit/>
          </a:bodyPr>
          <a:lstStyle/>
          <a:p>
            <a:pPr algn="l">
              <a:lnSpc>
                <a:spcPct val="125000"/>
              </a:lnSpc>
              <a:spcAft>
                <a:spcPts val="200"/>
              </a:spcAft>
            </a:pPr>
            <a:r>
              <a:rPr sz="1450" b="1">
                <a:solidFill>
                  <a:srgbClr val="151C1B"/>
                </a:solidFill>
                <a:latin typeface="Calibri"/>
              </a:rPr>
              <a:t>Two things can prove a collection.</a:t>
            </a:r>
          </a:p>
        </p:txBody>
      </p:sp>
      <p:sp>
        <p:nvSpPr>
          <p:cNvPr id="8" name="TextBox 7"/>
          <p:cNvSpPr txBox="1"/>
          <p:nvPr/>
        </p:nvSpPr>
        <p:spPr>
          <a:xfrm>
            <a:off x="914400" y="2587752"/>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A lodge scan — the driver scanned it at pickup, or a customer lodged it at the counter. Or a sorter scan — the parcel went through our sorting machine without a pickup scan. The second only works at sites that have a sorting machine, which matters a lot later.</a:t>
            </a:r>
          </a:p>
        </p:txBody>
      </p:sp>
      <p:sp>
        <p:nvSpPr>
          <p:cNvPr id="9" name="Rectangle 8"/>
          <p:cNvSpPr/>
          <p:nvPr/>
        </p:nvSpPr>
        <p:spPr>
          <a:xfrm>
            <a:off x="640080" y="3218688"/>
            <a:ext cx="91440" cy="9144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36392"/>
            <a:ext cx="10332720" cy="256032"/>
          </a:xfrm>
          <a:prstGeom prst="rect">
            <a:avLst/>
          </a:prstGeom>
          <a:noFill/>
        </p:spPr>
        <p:txBody>
          <a:bodyPr wrap="square" lIns="0" rIns="0" tIns="0" bIns="0">
            <a:spAutoFit/>
          </a:bodyPr>
          <a:lstStyle/>
          <a:p>
            <a:pPr algn="l">
              <a:lnSpc>
                <a:spcPct val="125000"/>
              </a:lnSpc>
              <a:spcAft>
                <a:spcPts val="200"/>
              </a:spcAft>
            </a:pPr>
            <a:r>
              <a:rPr sz="1450" b="1">
                <a:solidFill>
                  <a:srgbClr val="151C1B"/>
                </a:solidFill>
                <a:latin typeface="Calibri"/>
              </a:rPr>
              <a:t>Filter 1 — we removed arrivals.</a:t>
            </a:r>
          </a:p>
        </p:txBody>
      </p:sp>
      <p:sp>
        <p:nvSpPr>
          <p:cNvPr id="11" name="TextBox 10"/>
          <p:cNvSpPr txBox="1"/>
          <p:nvPr/>
        </p:nvSpPr>
        <p:spPr>
          <a:xfrm>
            <a:off x="914400" y="3392424"/>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If the first scan says delivered, accepted, unloaded or unpacked, the parcel came in — it did not start here. This removes about 17% overall, nearly all of it at Oakleigh South and Dandenong South. Without it, parcels were counted as collected because the one thing that happened at the site was being delivered by it.</a:t>
            </a:r>
          </a:p>
        </p:txBody>
      </p:sp>
      <p:sp>
        <p:nvSpPr>
          <p:cNvPr id="12" name="Rectangle 11"/>
          <p:cNvSpPr/>
          <p:nvPr/>
        </p:nvSpPr>
        <p:spPr>
          <a:xfrm>
            <a:off x="640080" y="4023360"/>
            <a:ext cx="91440" cy="9144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41064"/>
            <a:ext cx="10332720" cy="256032"/>
          </a:xfrm>
          <a:prstGeom prst="rect">
            <a:avLst/>
          </a:prstGeom>
          <a:noFill/>
        </p:spPr>
        <p:txBody>
          <a:bodyPr wrap="square" lIns="0" rIns="0" tIns="0" bIns="0">
            <a:spAutoFit/>
          </a:bodyPr>
          <a:lstStyle/>
          <a:p>
            <a:pPr algn="l">
              <a:lnSpc>
                <a:spcPct val="125000"/>
              </a:lnSpc>
              <a:spcAft>
                <a:spcPts val="200"/>
              </a:spcAft>
            </a:pPr>
            <a:r>
              <a:rPr sz="1450" b="1">
                <a:solidFill>
                  <a:srgbClr val="151C1B"/>
                </a:solidFill>
                <a:latin typeface="Calibri"/>
              </a:rPr>
              <a:t>Filter 2 — we removed the overnight linehaul.</a:t>
            </a:r>
          </a:p>
        </p:txBody>
      </p:sp>
      <p:sp>
        <p:nvSpPr>
          <p:cNvPr id="14" name="TextBox 13"/>
          <p:cNvSpPr txBox="1"/>
          <p:nvPr/>
        </p:nvSpPr>
        <p:spPr>
          <a:xfrm>
            <a:off x="914400" y="4197096"/>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If the first scan is a sorter scan between midnight and 8am and the parcel is then delivered by that same site, it arrived overnight and never went anywhere. About 1.5%.</a:t>
            </a:r>
          </a:p>
        </p:txBody>
      </p:sp>
      <p:sp>
        <p:nvSpPr>
          <p:cNvPr id="15" name="Rectangle 14"/>
          <p:cNvSpPr/>
          <p:nvPr/>
        </p:nvSpPr>
        <p:spPr>
          <a:xfrm>
            <a:off x="640080" y="4828032"/>
            <a:ext cx="91440" cy="9144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745736"/>
            <a:ext cx="10332720" cy="256032"/>
          </a:xfrm>
          <a:prstGeom prst="rect">
            <a:avLst/>
          </a:prstGeom>
          <a:noFill/>
        </p:spPr>
        <p:txBody>
          <a:bodyPr wrap="square" lIns="0" rIns="0" tIns="0" bIns="0">
            <a:spAutoFit/>
          </a:bodyPr>
          <a:lstStyle/>
          <a:p>
            <a:pPr algn="l">
              <a:lnSpc>
                <a:spcPct val="125000"/>
              </a:lnSpc>
              <a:spcAft>
                <a:spcPts val="200"/>
              </a:spcAft>
            </a:pPr>
            <a:r>
              <a:rPr sz="1450" b="1">
                <a:solidFill>
                  <a:srgbClr val="151C1B"/>
                </a:solidFill>
                <a:latin typeface="Calibri"/>
              </a:rPr>
              <a:t>Filter 2 has to test both things.</a:t>
            </a:r>
          </a:p>
        </p:txBody>
      </p:sp>
      <p:sp>
        <p:nvSpPr>
          <p:cNvPr id="17" name="TextBox 16"/>
          <p:cNvSpPr txBox="1"/>
          <p:nvPr/>
        </p:nvSpPr>
        <p:spPr>
          <a:xfrm>
            <a:off x="914400" y="5001768"/>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37,836 parcels are sorted overnight, but 32,575 of them then head out to Melbourne, Tullamarine or Sydney. Those are real collections with a missing pickup scan. Going on the clock alone would have deleted half of Bayswater.</a:t>
            </a:r>
          </a:p>
        </p:txBody>
      </p:sp>
      <p:sp>
        <p:nvSpPr>
          <p:cNvPr id="18" name="Rectangle 17"/>
          <p:cNvSpPr/>
          <p:nvPr/>
        </p:nvSpPr>
        <p:spPr>
          <a:xfrm>
            <a:off x="640080" y="5632704"/>
            <a:ext cx="91440" cy="91440"/>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550408"/>
            <a:ext cx="10332720" cy="256032"/>
          </a:xfrm>
          <a:prstGeom prst="rect">
            <a:avLst/>
          </a:prstGeom>
          <a:noFill/>
        </p:spPr>
        <p:txBody>
          <a:bodyPr wrap="square" lIns="0" rIns="0" tIns="0" bIns="0">
            <a:spAutoFit/>
          </a:bodyPr>
          <a:lstStyle/>
          <a:p>
            <a:pPr algn="l">
              <a:lnSpc>
                <a:spcPct val="125000"/>
              </a:lnSpc>
              <a:spcAft>
                <a:spcPts val="200"/>
              </a:spcAft>
            </a:pPr>
            <a:r>
              <a:rPr sz="1450" b="1">
                <a:solidFill>
                  <a:srgbClr val="151C1B"/>
                </a:solidFill>
                <a:latin typeface="Calibri"/>
              </a:rPr>
              <a:t>Nothing is counted twice.</a:t>
            </a:r>
          </a:p>
        </p:txBody>
      </p:sp>
      <p:sp>
        <p:nvSpPr>
          <p:cNvPr id="20" name="TextBox 19"/>
          <p:cNvSpPr txBox="1"/>
          <p:nvPr/>
        </p:nvSpPr>
        <p:spPr>
          <a:xfrm>
            <a:off x="914400" y="5806440"/>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Each parcel belongs to exactly one site, so a parcel appearing in two extracts is only counted once.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3 — THE NUMBERS</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What each site collects</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058400" cy="457200"/>
          </a:xfrm>
          <a:prstGeom prst="rect">
            <a:avLst/>
          </a:prstGeom>
          <a:noFill/>
        </p:spPr>
        <p:txBody>
          <a:bodyPr wrap="square" lIns="0" rIns="0" tIns="0" bIns="0">
            <a:spAutoFit/>
          </a:bodyPr>
          <a:lstStyle/>
          <a:p>
            <a:pPr algn="l">
              <a:lnSpc>
                <a:spcPct val="125000"/>
              </a:lnSpc>
              <a:spcAft>
                <a:spcPts val="600"/>
              </a:spcAft>
            </a:pPr>
            <a:r>
              <a:rPr sz="1450" b="0">
                <a:solidFill>
                  <a:srgbClr val="3C4644"/>
                </a:solidFill>
                <a:latin typeface="Calibri"/>
              </a:rPr>
              <a:t>“Before” is the original count. “After” is what survives the two filters, and is what we now use.</a:t>
            </a:r>
          </a:p>
        </p:txBody>
      </p:sp>
      <p:graphicFrame>
        <p:nvGraphicFramePr>
          <p:cNvPr id="6" name="Table 5"/>
          <p:cNvGraphicFramePr>
            <a:graphicFrameLocks noGrp="1"/>
          </p:cNvGraphicFramePr>
          <p:nvPr/>
        </p:nvGraphicFramePr>
        <p:xfrm>
          <a:off x="640080" y="2286000"/>
          <a:ext cx="10881358" cy="2834640"/>
        </p:xfrm>
        <a:graphic>
          <a:graphicData uri="http://schemas.openxmlformats.org/drawingml/2006/table">
            <a:tbl>
              <a:tblPr>
                <a:tableStyleId>{5C22544A-7EE6-4342-B048-85BDC9FD1C3A}</a:tableStyleId>
              </a:tblPr>
              <a:tblGrid>
                <a:gridCol w="3022600"/>
                <a:gridCol w="1612053"/>
                <a:gridCol w="1612053"/>
                <a:gridCol w="1309793"/>
                <a:gridCol w="1914313"/>
                <a:gridCol w="1410546"/>
              </a:tblGrid>
              <a:tr h="347472">
                <a:tc>
                  <a:txBody>
                    <a:bodyPr wrap="square"/>
                    <a:lstStyle/>
                    <a:p>
                      <a:pPr algn="l"/>
                      <a:r>
                        <a:rPr sz="1150" b="1">
                          <a:solidFill>
                            <a:srgbClr val="FFFFFF"/>
                          </a:solidFill>
                          <a:latin typeface="Calibri"/>
                        </a:rPr>
                        <a:t>Site</a:t>
                      </a:r>
                    </a:p>
                  </a:txBody>
                  <a:tcPr marL="100584" marR="100584" marT="36576" marB="36576" anchor="ctr">
                    <a:solidFill>
                      <a:srgbClr val="151C1B"/>
                    </a:solidFill>
                  </a:tcPr>
                </a:tc>
                <a:tc>
                  <a:txBody>
                    <a:bodyPr wrap="square"/>
                    <a:lstStyle/>
                    <a:p>
                      <a:pPr algn="r"/>
                      <a:r>
                        <a:rPr sz="1150" b="1">
                          <a:solidFill>
                            <a:srgbClr val="FFFFFF"/>
                          </a:solidFill>
                          <a:latin typeface="Calibri"/>
                        </a:rPr>
                        <a:t>Before</a:t>
                      </a:r>
                    </a:p>
                  </a:txBody>
                  <a:tcPr marL="100584" marR="100584" marT="36576" marB="36576" anchor="ctr">
                    <a:solidFill>
                      <a:srgbClr val="151C1B"/>
                    </a:solidFill>
                  </a:tcPr>
                </a:tc>
                <a:tc>
                  <a:txBody>
                    <a:bodyPr wrap="square"/>
                    <a:lstStyle/>
                    <a:p>
                      <a:pPr algn="r"/>
                      <a:r>
                        <a:rPr sz="1150" b="1">
                          <a:solidFill>
                            <a:srgbClr val="FFFFFF"/>
                          </a:solidFill>
                          <a:latin typeface="Calibri"/>
                        </a:rPr>
                        <a:t>After</a:t>
                      </a:r>
                    </a:p>
                  </a:txBody>
                  <a:tcPr marL="100584" marR="100584" marT="36576" marB="36576" anchor="ctr">
                    <a:solidFill>
                      <a:srgbClr val="151C1B"/>
                    </a:solidFill>
                  </a:tcPr>
                </a:tc>
                <a:tc>
                  <a:txBody>
                    <a:bodyPr wrap="square"/>
                    <a:lstStyle/>
                    <a:p>
                      <a:pPr algn="r"/>
                      <a:r>
                        <a:rPr sz="1150" b="1">
                          <a:solidFill>
                            <a:srgbClr val="FFFFFF"/>
                          </a:solidFill>
                          <a:latin typeface="Calibri"/>
                        </a:rPr>
                        <a:t>Change</a:t>
                      </a:r>
                    </a:p>
                  </a:txBody>
                  <a:tcPr marL="100584" marR="100584" marT="36576" marB="36576" anchor="ctr">
                    <a:solidFill>
                      <a:srgbClr val="151C1B"/>
                    </a:solidFill>
                  </a:tcPr>
                </a:tc>
                <a:tc>
                  <a:txBody>
                    <a:bodyPr wrap="square"/>
                    <a:lstStyle/>
                    <a:p>
                      <a:pPr algn="r"/>
                      <a:r>
                        <a:rPr sz="1150" b="1">
                          <a:solidFill>
                            <a:srgbClr val="FFFFFF"/>
                          </a:solidFill>
                          <a:latin typeface="Calibri"/>
                        </a:rPr>
                        <a:t>Peak day 2025</a:t>
                      </a:r>
                    </a:p>
                  </a:txBody>
                  <a:tcPr marL="100584" marR="100584" marT="36576" marB="36576" anchor="ctr">
                    <a:solidFill>
                      <a:srgbClr val="151C1B"/>
                    </a:solidFill>
                  </a:tcPr>
                </a:tc>
                <a:tc>
                  <a:txBody>
                    <a:bodyPr wrap="square"/>
                    <a:lstStyle/>
                    <a:p>
                      <a:pPr algn="r"/>
                      <a:r>
                        <a:rPr sz="1150" b="1">
                          <a:solidFill>
                            <a:srgbClr val="FFFFFF"/>
                          </a:solidFill>
                          <a:latin typeface="Calibri"/>
                        </a:rPr>
                        <a:t>% of peak</a:t>
                      </a:r>
                    </a:p>
                  </a:txBody>
                  <a:tcPr marL="100584" marR="100584" marT="36576" marB="36576" anchor="ctr">
                    <a:solidFill>
                      <a:srgbClr val="151C1B"/>
                    </a:solidFill>
                  </a:tcPr>
                </a:tc>
              </a:tr>
              <a:tr h="310896">
                <a:tc>
                  <a:txBody>
                    <a:bodyPr wrap="square"/>
                    <a:lstStyle/>
                    <a:p>
                      <a:pPr algn="l"/>
                      <a:r>
                        <a:rPr sz="1300" b="0">
                          <a:solidFill>
                            <a:srgbClr val="151C1B"/>
                          </a:solidFill>
                          <a:latin typeface="Calibri"/>
                        </a:rPr>
                        <a:t>Sunshine West</a:t>
                      </a:r>
                    </a:p>
                  </a:txBody>
                  <a:tcPr marL="100584" marR="100584" marT="36576" marB="36576" anchor="ctr">
                    <a:solidFill>
                      <a:srgbClr val="FFFFFF"/>
                    </a:solidFill>
                  </a:tcPr>
                </a:tc>
                <a:tc>
                  <a:txBody>
                    <a:bodyPr wrap="square"/>
                    <a:lstStyle/>
                    <a:p>
                      <a:pPr algn="r"/>
                      <a:r>
                        <a:rPr sz="1300" b="0">
                          <a:solidFill>
                            <a:srgbClr val="151C1B"/>
                          </a:solidFill>
                          <a:latin typeface="Calibri"/>
                        </a:rPr>
                        <a:t>80,310</a:t>
                      </a:r>
                    </a:p>
                  </a:txBody>
                  <a:tcPr marL="100584" marR="100584" marT="36576" marB="36576" anchor="ctr">
                    <a:solidFill>
                      <a:srgbClr val="FFFFFF"/>
                    </a:solidFill>
                  </a:tcPr>
                </a:tc>
                <a:tc>
                  <a:txBody>
                    <a:bodyPr wrap="square"/>
                    <a:lstStyle/>
                    <a:p>
                      <a:pPr algn="r"/>
                      <a:r>
                        <a:rPr sz="1300" b="0">
                          <a:solidFill>
                            <a:srgbClr val="151C1B"/>
                          </a:solidFill>
                          <a:latin typeface="Calibri"/>
                        </a:rPr>
                        <a:t>78,762</a:t>
                      </a:r>
                    </a:p>
                  </a:txBody>
                  <a:tcPr marL="100584" marR="100584" marT="36576" marB="36576" anchor="ctr">
                    <a:solidFill>
                      <a:srgbClr val="FFFFFF"/>
                    </a:solidFill>
                  </a:tcPr>
                </a:tc>
                <a:tc>
                  <a:txBody>
                    <a:bodyPr wrap="square"/>
                    <a:lstStyle/>
                    <a:p>
                      <a:pPr algn="r"/>
                      <a:r>
                        <a:rPr sz="1300" b="0">
                          <a:solidFill>
                            <a:srgbClr val="151C1B"/>
                          </a:solidFill>
                          <a:latin typeface="Calibri"/>
                        </a:rPr>
                        <a:t>−2%</a:t>
                      </a:r>
                    </a:p>
                  </a:txBody>
                  <a:tcPr marL="100584" marR="100584" marT="36576" marB="36576" anchor="ctr">
                    <a:solidFill>
                      <a:srgbClr val="FFFFFF"/>
                    </a:solidFill>
                  </a:tcPr>
                </a:tc>
                <a:tc>
                  <a:txBody>
                    <a:bodyPr wrap="square"/>
                    <a:lstStyle/>
                    <a:p>
                      <a:pPr algn="r"/>
                      <a:r>
                        <a:rPr sz="1300" b="0">
                          <a:solidFill>
                            <a:srgbClr val="151C1B"/>
                          </a:solidFill>
                          <a:latin typeface="Calibri"/>
                        </a:rPr>
                        <a:t>96,849</a:t>
                      </a:r>
                    </a:p>
                  </a:txBody>
                  <a:tcPr marL="100584" marR="100584" marT="36576" marB="36576" anchor="ctr">
                    <a:solidFill>
                      <a:srgbClr val="FFFFFF"/>
                    </a:solidFill>
                  </a:tcPr>
                </a:tc>
                <a:tc>
                  <a:txBody>
                    <a:bodyPr wrap="square"/>
                    <a:lstStyle/>
                    <a:p>
                      <a:pPr algn="r"/>
                      <a:r>
                        <a:rPr sz="1300" b="0">
                          <a:solidFill>
                            <a:srgbClr val="151C1B"/>
                          </a:solidFill>
                          <a:latin typeface="Calibri"/>
                        </a:rPr>
                        <a:t>81%</a:t>
                      </a:r>
                    </a:p>
                  </a:txBody>
                  <a:tcPr marL="100584" marR="100584" marT="36576" marB="36576" anchor="ctr">
                    <a:solidFill>
                      <a:srgbClr val="FFFFFF"/>
                    </a:solidFill>
                  </a:tcPr>
                </a:tc>
              </a:tr>
              <a:tr h="310896">
                <a:tc>
                  <a:txBody>
                    <a:bodyPr wrap="square"/>
                    <a:lstStyle/>
                    <a:p>
                      <a:pPr algn="l"/>
                      <a:r>
                        <a:rPr sz="1300" b="0">
                          <a:solidFill>
                            <a:srgbClr val="151C1B"/>
                          </a:solidFill>
                          <a:latin typeface="Calibri"/>
                        </a:rPr>
                        <a:t>Melbourne North</a:t>
                      </a:r>
                    </a:p>
                  </a:txBody>
                  <a:tcPr marL="100584" marR="100584" marT="36576" marB="36576" anchor="ctr">
                    <a:solidFill>
                      <a:srgbClr val="FFFFFF"/>
                    </a:solidFill>
                  </a:tcPr>
                </a:tc>
                <a:tc>
                  <a:txBody>
                    <a:bodyPr wrap="square"/>
                    <a:lstStyle/>
                    <a:p>
                      <a:pPr algn="r"/>
                      <a:r>
                        <a:rPr sz="1300" b="0">
                          <a:solidFill>
                            <a:srgbClr val="151C1B"/>
                          </a:solidFill>
                          <a:latin typeface="Calibri"/>
                        </a:rPr>
                        <a:t>32,309</a:t>
                      </a:r>
                    </a:p>
                  </a:txBody>
                  <a:tcPr marL="100584" marR="100584" marT="36576" marB="36576" anchor="ctr">
                    <a:solidFill>
                      <a:srgbClr val="FFFFFF"/>
                    </a:solidFill>
                  </a:tcPr>
                </a:tc>
                <a:tc>
                  <a:txBody>
                    <a:bodyPr wrap="square"/>
                    <a:lstStyle/>
                    <a:p>
                      <a:pPr algn="r"/>
                      <a:r>
                        <a:rPr sz="1300" b="0">
                          <a:solidFill>
                            <a:srgbClr val="151C1B"/>
                          </a:solidFill>
                          <a:latin typeface="Calibri"/>
                        </a:rPr>
                        <a:t>31,008</a:t>
                      </a:r>
                    </a:p>
                  </a:txBody>
                  <a:tcPr marL="100584" marR="100584" marT="36576" marB="36576" anchor="ctr">
                    <a:solidFill>
                      <a:srgbClr val="FFFFFF"/>
                    </a:solidFill>
                  </a:tcPr>
                </a:tc>
                <a:tc>
                  <a:txBody>
                    <a:bodyPr wrap="square"/>
                    <a:lstStyle/>
                    <a:p>
                      <a:pPr algn="r"/>
                      <a:r>
                        <a:rPr sz="1300" b="0">
                          <a:solidFill>
                            <a:srgbClr val="151C1B"/>
                          </a:solidFill>
                          <a:latin typeface="Calibri"/>
                        </a:rPr>
                        <a:t>−4%</a:t>
                      </a:r>
                    </a:p>
                  </a:txBody>
                  <a:tcPr marL="100584" marR="100584" marT="36576" marB="36576" anchor="ctr">
                    <a:solidFill>
                      <a:srgbClr val="FFFFFF"/>
                    </a:solidFill>
                  </a:tcPr>
                </a:tc>
                <a:tc>
                  <a:txBody>
                    <a:bodyPr wrap="square"/>
                    <a:lstStyle/>
                    <a:p>
                      <a:pPr algn="r"/>
                      <a:r>
                        <a:rPr sz="1300" b="0">
                          <a:solidFill>
                            <a:srgbClr val="151C1B"/>
                          </a:solidFill>
                          <a:latin typeface="Calibri"/>
                        </a:rPr>
                        <a:t>43,515</a:t>
                      </a:r>
                    </a:p>
                  </a:txBody>
                  <a:tcPr marL="100584" marR="100584" marT="36576" marB="36576" anchor="ctr">
                    <a:solidFill>
                      <a:srgbClr val="FFFFFF"/>
                    </a:solidFill>
                  </a:tcPr>
                </a:tc>
                <a:tc>
                  <a:txBody>
                    <a:bodyPr wrap="square"/>
                    <a:lstStyle/>
                    <a:p>
                      <a:pPr algn="r"/>
                      <a:r>
                        <a:rPr sz="1300" b="0">
                          <a:solidFill>
                            <a:srgbClr val="151C1B"/>
                          </a:solidFill>
                          <a:latin typeface="Calibri"/>
                        </a:rPr>
                        <a:t>71%</a:t>
                      </a:r>
                    </a:p>
                  </a:txBody>
                  <a:tcPr marL="100584" marR="100584" marT="36576" marB="36576" anchor="ctr">
                    <a:solidFill>
                      <a:srgbClr val="FFFFFF"/>
                    </a:solidFill>
                  </a:tcPr>
                </a:tc>
              </a:tr>
              <a:tr h="310896">
                <a:tc>
                  <a:txBody>
                    <a:bodyPr wrap="square"/>
                    <a:lstStyle/>
                    <a:p>
                      <a:pPr algn="l"/>
                      <a:r>
                        <a:rPr sz="1300" b="0">
                          <a:solidFill>
                            <a:srgbClr val="151C1B"/>
                          </a:solidFill>
                          <a:latin typeface="Calibri"/>
                        </a:rPr>
                        <a:t>Bayswater</a:t>
                      </a:r>
                    </a:p>
                  </a:txBody>
                  <a:tcPr marL="100584" marR="100584" marT="36576" marB="36576" anchor="ctr">
                    <a:solidFill>
                      <a:srgbClr val="FFFFFF"/>
                    </a:solidFill>
                  </a:tcPr>
                </a:tc>
                <a:tc>
                  <a:txBody>
                    <a:bodyPr wrap="square"/>
                    <a:lstStyle/>
                    <a:p>
                      <a:pPr algn="r"/>
                      <a:r>
                        <a:rPr sz="1300" b="0">
                          <a:solidFill>
                            <a:srgbClr val="151C1B"/>
                          </a:solidFill>
                          <a:latin typeface="Calibri"/>
                        </a:rPr>
                        <a:t>32,986</a:t>
                      </a:r>
                    </a:p>
                  </a:txBody>
                  <a:tcPr marL="100584" marR="100584" marT="36576" marB="36576" anchor="ctr">
                    <a:solidFill>
                      <a:srgbClr val="FFFFFF"/>
                    </a:solidFill>
                  </a:tcPr>
                </a:tc>
                <a:tc>
                  <a:txBody>
                    <a:bodyPr wrap="square"/>
                    <a:lstStyle/>
                    <a:p>
                      <a:pPr algn="r"/>
                      <a:r>
                        <a:rPr sz="1300" b="0">
                          <a:solidFill>
                            <a:srgbClr val="151C1B"/>
                          </a:solidFill>
                          <a:latin typeface="Calibri"/>
                        </a:rPr>
                        <a:t>30,444</a:t>
                      </a:r>
                    </a:p>
                  </a:txBody>
                  <a:tcPr marL="100584" marR="100584" marT="36576" marB="36576" anchor="ctr">
                    <a:solidFill>
                      <a:srgbClr val="FFFFFF"/>
                    </a:solidFill>
                  </a:tcPr>
                </a:tc>
                <a:tc>
                  <a:txBody>
                    <a:bodyPr wrap="square"/>
                    <a:lstStyle/>
                    <a:p>
                      <a:pPr algn="r"/>
                      <a:r>
                        <a:rPr sz="1300" b="0">
                          <a:solidFill>
                            <a:srgbClr val="151C1B"/>
                          </a:solidFill>
                          <a:latin typeface="Calibri"/>
                        </a:rPr>
                        <a:t>−8%</a:t>
                      </a:r>
                    </a:p>
                  </a:txBody>
                  <a:tcPr marL="100584" marR="100584" marT="36576" marB="36576" anchor="ctr">
                    <a:solidFill>
                      <a:srgbClr val="FFFFFF"/>
                    </a:solidFill>
                  </a:tcPr>
                </a:tc>
                <a:tc>
                  <a:txBody>
                    <a:bodyPr wrap="square"/>
                    <a:lstStyle/>
                    <a:p>
                      <a:pPr algn="r"/>
                      <a:r>
                        <a:rPr sz="1300" b="0">
                          <a:solidFill>
                            <a:srgbClr val="151C1B"/>
                          </a:solidFill>
                          <a:latin typeface="Calibri"/>
                        </a:rPr>
                        <a:t>37,721</a:t>
                      </a:r>
                    </a:p>
                  </a:txBody>
                  <a:tcPr marL="100584" marR="100584" marT="36576" marB="36576" anchor="ctr">
                    <a:solidFill>
                      <a:srgbClr val="FFFFFF"/>
                    </a:solidFill>
                  </a:tcPr>
                </a:tc>
                <a:tc>
                  <a:txBody>
                    <a:bodyPr wrap="square"/>
                    <a:lstStyle/>
                    <a:p>
                      <a:pPr algn="r"/>
                      <a:r>
                        <a:rPr sz="1300" b="0">
                          <a:solidFill>
                            <a:srgbClr val="151C1B"/>
                          </a:solidFill>
                          <a:latin typeface="Calibri"/>
                        </a:rPr>
                        <a:t>81%</a:t>
                      </a:r>
                    </a:p>
                  </a:txBody>
                  <a:tcPr marL="100584" marR="100584" marT="36576" marB="36576" anchor="ctr">
                    <a:solidFill>
                      <a:srgbClr val="FFFFFF"/>
                    </a:solidFill>
                  </a:tcPr>
                </a:tc>
              </a:tr>
              <a:tr h="310896">
                <a:tc>
                  <a:txBody>
                    <a:bodyPr wrap="square"/>
                    <a:lstStyle/>
                    <a:p>
                      <a:pPr algn="l"/>
                      <a:r>
                        <a:rPr sz="1300" b="1">
                          <a:solidFill>
                            <a:srgbClr val="151C1B"/>
                          </a:solidFill>
                          <a:latin typeface="Calibri"/>
                        </a:rPr>
                        <a:t>Oakleigh South</a:t>
                      </a:r>
                    </a:p>
                  </a:txBody>
                  <a:tcPr marL="100584" marR="100584" marT="36576" marB="36576" anchor="ctr">
                    <a:solidFill>
                      <a:srgbClr val="F6E6DB"/>
                    </a:solidFill>
                  </a:tcPr>
                </a:tc>
                <a:tc>
                  <a:txBody>
                    <a:bodyPr wrap="square"/>
                    <a:lstStyle/>
                    <a:p>
                      <a:pPr algn="r"/>
                      <a:r>
                        <a:rPr sz="1300" b="0">
                          <a:solidFill>
                            <a:srgbClr val="C0561B"/>
                          </a:solidFill>
                          <a:latin typeface="Calibri"/>
                        </a:rPr>
                        <a:t>38,856</a:t>
                      </a:r>
                    </a:p>
                  </a:txBody>
                  <a:tcPr marL="100584" marR="100584" marT="36576" marB="36576" anchor="ctr">
                    <a:solidFill>
                      <a:srgbClr val="F6E6DB"/>
                    </a:solidFill>
                  </a:tcPr>
                </a:tc>
                <a:tc>
                  <a:txBody>
                    <a:bodyPr wrap="square"/>
                    <a:lstStyle/>
                    <a:p>
                      <a:pPr algn="r"/>
                      <a:r>
                        <a:rPr sz="1300" b="0">
                          <a:solidFill>
                            <a:srgbClr val="C0561B"/>
                          </a:solidFill>
                          <a:latin typeface="Calibri"/>
                        </a:rPr>
                        <a:t>21,468</a:t>
                      </a:r>
                    </a:p>
                  </a:txBody>
                  <a:tcPr marL="100584" marR="100584" marT="36576" marB="36576" anchor="ctr">
                    <a:solidFill>
                      <a:srgbClr val="F6E6DB"/>
                    </a:solidFill>
                  </a:tcPr>
                </a:tc>
                <a:tc>
                  <a:txBody>
                    <a:bodyPr wrap="square"/>
                    <a:lstStyle/>
                    <a:p>
                      <a:pPr algn="r"/>
                      <a:r>
                        <a:rPr sz="1300" b="0">
                          <a:solidFill>
                            <a:srgbClr val="C0561B"/>
                          </a:solidFill>
                          <a:latin typeface="Calibri"/>
                        </a:rPr>
                        <a:t>−45%</a:t>
                      </a:r>
                    </a:p>
                  </a:txBody>
                  <a:tcPr marL="100584" marR="100584" marT="36576" marB="36576" anchor="ctr">
                    <a:solidFill>
                      <a:srgbClr val="F6E6DB"/>
                    </a:solidFill>
                  </a:tcPr>
                </a:tc>
                <a:tc>
                  <a:txBody>
                    <a:bodyPr wrap="square"/>
                    <a:lstStyle/>
                    <a:p>
                      <a:pPr algn="r"/>
                      <a:r>
                        <a:rPr sz="1300" b="0">
                          <a:solidFill>
                            <a:srgbClr val="C0561B"/>
                          </a:solidFill>
                          <a:latin typeface="Calibri"/>
                        </a:rPr>
                        <a:t>57,493</a:t>
                      </a:r>
                    </a:p>
                  </a:txBody>
                  <a:tcPr marL="100584" marR="100584" marT="36576" marB="36576" anchor="ctr">
                    <a:solidFill>
                      <a:srgbClr val="F6E6DB"/>
                    </a:solidFill>
                  </a:tcPr>
                </a:tc>
                <a:tc>
                  <a:txBody>
                    <a:bodyPr wrap="square"/>
                    <a:lstStyle/>
                    <a:p>
                      <a:pPr algn="r"/>
                      <a:r>
                        <a:rPr sz="1300" b="0">
                          <a:solidFill>
                            <a:srgbClr val="C0561B"/>
                          </a:solidFill>
                          <a:latin typeface="Calibri"/>
                        </a:rPr>
                        <a:t>37%</a:t>
                      </a:r>
                    </a:p>
                  </a:txBody>
                  <a:tcPr marL="100584" marR="100584" marT="36576" marB="36576" anchor="ctr">
                    <a:solidFill>
                      <a:srgbClr val="F6E6DB"/>
                    </a:solidFill>
                  </a:tcPr>
                </a:tc>
              </a:tr>
              <a:tr h="310896">
                <a:tc>
                  <a:txBody>
                    <a:bodyPr wrap="square"/>
                    <a:lstStyle/>
                    <a:p>
                      <a:pPr algn="l"/>
                      <a:r>
                        <a:rPr sz="1300" b="1">
                          <a:solidFill>
                            <a:srgbClr val="151C1B"/>
                          </a:solidFill>
                          <a:latin typeface="Calibri"/>
                        </a:rPr>
                        <a:t>Dandenong South</a:t>
                      </a:r>
                    </a:p>
                  </a:txBody>
                  <a:tcPr marL="100584" marR="100584" marT="36576" marB="36576" anchor="ctr">
                    <a:solidFill>
                      <a:srgbClr val="F6E6DB"/>
                    </a:solidFill>
                  </a:tcPr>
                </a:tc>
                <a:tc>
                  <a:txBody>
                    <a:bodyPr wrap="square"/>
                    <a:lstStyle/>
                    <a:p>
                      <a:pPr algn="r"/>
                      <a:r>
                        <a:rPr sz="1300" b="0">
                          <a:solidFill>
                            <a:srgbClr val="C0561B"/>
                          </a:solidFill>
                          <a:latin typeface="Calibri"/>
                        </a:rPr>
                        <a:t>20,186</a:t>
                      </a:r>
                    </a:p>
                  </a:txBody>
                  <a:tcPr marL="100584" marR="100584" marT="36576" marB="36576" anchor="ctr">
                    <a:solidFill>
                      <a:srgbClr val="F6E6DB"/>
                    </a:solidFill>
                  </a:tcPr>
                </a:tc>
                <a:tc>
                  <a:txBody>
                    <a:bodyPr wrap="square"/>
                    <a:lstStyle/>
                    <a:p>
                      <a:pPr algn="r"/>
                      <a:r>
                        <a:rPr sz="1300" b="0">
                          <a:solidFill>
                            <a:srgbClr val="C0561B"/>
                          </a:solidFill>
                          <a:latin typeface="Calibri"/>
                        </a:rPr>
                        <a:t>9,703</a:t>
                      </a:r>
                    </a:p>
                  </a:txBody>
                  <a:tcPr marL="100584" marR="100584" marT="36576" marB="36576" anchor="ctr">
                    <a:solidFill>
                      <a:srgbClr val="F6E6DB"/>
                    </a:solidFill>
                  </a:tcPr>
                </a:tc>
                <a:tc>
                  <a:txBody>
                    <a:bodyPr wrap="square"/>
                    <a:lstStyle/>
                    <a:p>
                      <a:pPr algn="r"/>
                      <a:r>
                        <a:rPr sz="1300" b="0">
                          <a:solidFill>
                            <a:srgbClr val="C0561B"/>
                          </a:solidFill>
                          <a:latin typeface="Calibri"/>
                        </a:rPr>
                        <a:t>−52%</a:t>
                      </a:r>
                    </a:p>
                  </a:txBody>
                  <a:tcPr marL="100584" marR="100584" marT="36576" marB="36576" anchor="ctr">
                    <a:solidFill>
                      <a:srgbClr val="F6E6DB"/>
                    </a:solidFill>
                  </a:tcPr>
                </a:tc>
                <a:tc>
                  <a:txBody>
                    <a:bodyPr wrap="square"/>
                    <a:lstStyle/>
                    <a:p>
                      <a:pPr algn="r"/>
                      <a:r>
                        <a:rPr sz="1300" b="0">
                          <a:solidFill>
                            <a:srgbClr val="C0561B"/>
                          </a:solidFill>
                          <a:latin typeface="Calibri"/>
                        </a:rPr>
                        <a:t>35,427</a:t>
                      </a:r>
                    </a:p>
                  </a:txBody>
                  <a:tcPr marL="100584" marR="100584" marT="36576" marB="36576" anchor="ctr">
                    <a:solidFill>
                      <a:srgbClr val="F6E6DB"/>
                    </a:solidFill>
                  </a:tcPr>
                </a:tc>
                <a:tc>
                  <a:txBody>
                    <a:bodyPr wrap="square"/>
                    <a:lstStyle/>
                    <a:p>
                      <a:pPr algn="r"/>
                      <a:r>
                        <a:rPr sz="1300" b="0">
                          <a:solidFill>
                            <a:srgbClr val="C0561B"/>
                          </a:solidFill>
                          <a:latin typeface="Calibri"/>
                        </a:rPr>
                        <a:t>27%</a:t>
                      </a:r>
                    </a:p>
                  </a:txBody>
                  <a:tcPr marL="100584" marR="100584" marT="36576" marB="36576" anchor="ctr">
                    <a:solidFill>
                      <a:srgbClr val="F6E6DB"/>
                    </a:solidFill>
                  </a:tcPr>
                </a:tc>
              </a:tr>
              <a:tr h="310896">
                <a:tc>
                  <a:txBody>
                    <a:bodyPr wrap="square"/>
                    <a:lstStyle/>
                    <a:p>
                      <a:pPr algn="l"/>
                      <a:r>
                        <a:rPr sz="1300" b="0">
                          <a:solidFill>
                            <a:srgbClr val="151C1B"/>
                          </a:solidFill>
                          <a:latin typeface="Calibri"/>
                        </a:rPr>
                        <a:t>Melbourne PF (hub)</a:t>
                      </a:r>
                    </a:p>
                  </a:txBody>
                  <a:tcPr marL="100584" marR="100584" marT="36576" marB="36576" anchor="ctr">
                    <a:solidFill>
                      <a:srgbClr val="FFFFFF"/>
                    </a:solidFill>
                  </a:tcPr>
                </a:tc>
                <a:tc>
                  <a:txBody>
                    <a:bodyPr wrap="square"/>
                    <a:lstStyle/>
                    <a:p>
                      <a:pPr algn="r"/>
                      <a:r>
                        <a:rPr sz="1300" b="0">
                          <a:solidFill>
                            <a:srgbClr val="151C1B"/>
                          </a:solidFill>
                          <a:latin typeface="Calibri"/>
                        </a:rPr>
                        <a:t>—</a:t>
                      </a:r>
                    </a:p>
                  </a:txBody>
                  <a:tcPr marL="100584" marR="100584" marT="36576" marB="36576" anchor="ctr">
                    <a:solidFill>
                      <a:srgbClr val="FFFFFF"/>
                    </a:solidFill>
                  </a:tcPr>
                </a:tc>
                <a:tc>
                  <a:txBody>
                    <a:bodyPr wrap="square"/>
                    <a:lstStyle/>
                    <a:p>
                      <a:pPr algn="r"/>
                      <a:r>
                        <a:rPr sz="1300" b="0">
                          <a:solidFill>
                            <a:srgbClr val="151C1B"/>
                          </a:solidFill>
                          <a:latin typeface="Calibri"/>
                        </a:rPr>
                        <a:t>155,634</a:t>
                      </a:r>
                    </a:p>
                  </a:txBody>
                  <a:tcPr marL="100584" marR="100584" marT="36576" marB="36576" anchor="ctr">
                    <a:solidFill>
                      <a:srgbClr val="FFFFFF"/>
                    </a:solidFill>
                  </a:tcPr>
                </a:tc>
                <a:tc>
                  <a:txBody>
                    <a:bodyPr wrap="square"/>
                    <a:lstStyle/>
                    <a:p>
                      <a:pPr algn="r"/>
                      <a:r>
                        <a:rPr sz="1300" b="0">
                          <a:solidFill>
                            <a:srgbClr val="151C1B"/>
                          </a:solidFill>
                          <a:latin typeface="Calibri"/>
                        </a:rPr>
                        <a:t>—</a:t>
                      </a:r>
                    </a:p>
                  </a:txBody>
                  <a:tcPr marL="100584" marR="100584" marT="36576" marB="36576" anchor="ctr">
                    <a:solidFill>
                      <a:srgbClr val="FFFFFF"/>
                    </a:solidFill>
                  </a:tcPr>
                </a:tc>
                <a:tc>
                  <a:txBody>
                    <a:bodyPr wrap="square"/>
                    <a:lstStyle/>
                    <a:p>
                      <a:pPr algn="r"/>
                      <a:r>
                        <a:rPr sz="1300" b="0">
                          <a:solidFill>
                            <a:srgbClr val="151C1B"/>
                          </a:solidFill>
                          <a:latin typeface="Calibri"/>
                        </a:rPr>
                        <a:t>351,535</a:t>
                      </a:r>
                    </a:p>
                  </a:txBody>
                  <a:tcPr marL="100584" marR="100584" marT="36576" marB="36576" anchor="ctr">
                    <a:solidFill>
                      <a:srgbClr val="FFFFFF"/>
                    </a:solidFill>
                  </a:tcPr>
                </a:tc>
                <a:tc>
                  <a:txBody>
                    <a:bodyPr wrap="square"/>
                    <a:lstStyle/>
                    <a:p>
                      <a:pPr algn="r"/>
                      <a:r>
                        <a:rPr sz="1300" b="0">
                          <a:solidFill>
                            <a:srgbClr val="151C1B"/>
                          </a:solidFill>
                          <a:latin typeface="Calibri"/>
                        </a:rPr>
                        <a:t>44%</a:t>
                      </a:r>
                    </a:p>
                  </a:txBody>
                  <a:tcPr marL="100584" marR="100584" marT="36576" marB="36576" anchor="ctr">
                    <a:solidFill>
                      <a:srgbClr val="FFFFFF"/>
                    </a:solidFill>
                  </a:tcPr>
                </a:tc>
              </a:tr>
              <a:tr h="310896">
                <a:tc>
                  <a:txBody>
                    <a:bodyPr wrap="square"/>
                    <a:lstStyle/>
                    <a:p>
                      <a:pPr algn="l"/>
                      <a:r>
                        <a:rPr sz="1300" b="0">
                          <a:solidFill>
                            <a:srgbClr val="151C1B"/>
                          </a:solidFill>
                          <a:latin typeface="Calibri"/>
                        </a:rPr>
                        <a:t>Dandenong LC (hub)</a:t>
                      </a:r>
                    </a:p>
                  </a:txBody>
                  <a:tcPr marL="100584" marR="100584" marT="36576" marB="36576" anchor="ctr">
                    <a:solidFill>
                      <a:srgbClr val="FFFFFF"/>
                    </a:solidFill>
                  </a:tcPr>
                </a:tc>
                <a:tc>
                  <a:txBody>
                    <a:bodyPr wrap="square"/>
                    <a:lstStyle/>
                    <a:p>
                      <a:pPr algn="r"/>
                      <a:r>
                        <a:rPr sz="1300" b="0">
                          <a:solidFill>
                            <a:srgbClr val="151C1B"/>
                          </a:solidFill>
                          <a:latin typeface="Calibri"/>
                        </a:rPr>
                        <a:t>—</a:t>
                      </a:r>
                    </a:p>
                  </a:txBody>
                  <a:tcPr marL="100584" marR="100584" marT="36576" marB="36576" anchor="ctr">
                    <a:solidFill>
                      <a:srgbClr val="FFFFFF"/>
                    </a:solidFill>
                  </a:tcPr>
                </a:tc>
                <a:tc>
                  <a:txBody>
                    <a:bodyPr wrap="square"/>
                    <a:lstStyle/>
                    <a:p>
                      <a:pPr algn="r"/>
                      <a:r>
                        <a:rPr sz="1300" b="0">
                          <a:solidFill>
                            <a:srgbClr val="151C1B"/>
                          </a:solidFill>
                          <a:latin typeface="Calibri"/>
                        </a:rPr>
                        <a:t>22,644</a:t>
                      </a:r>
                    </a:p>
                  </a:txBody>
                  <a:tcPr marL="100584" marR="100584" marT="36576" marB="36576" anchor="ctr">
                    <a:solidFill>
                      <a:srgbClr val="FFFFFF"/>
                    </a:solidFill>
                  </a:tcPr>
                </a:tc>
                <a:tc>
                  <a:txBody>
                    <a:bodyPr wrap="square"/>
                    <a:lstStyle/>
                    <a:p>
                      <a:pPr algn="r"/>
                      <a:r>
                        <a:rPr sz="1300" b="0">
                          <a:solidFill>
                            <a:srgbClr val="151C1B"/>
                          </a:solidFill>
                          <a:latin typeface="Calibri"/>
                        </a:rPr>
                        <a:t>—</a:t>
                      </a:r>
                    </a:p>
                  </a:txBody>
                  <a:tcPr marL="100584" marR="100584" marT="36576" marB="36576" anchor="ctr">
                    <a:solidFill>
                      <a:srgbClr val="FFFFFF"/>
                    </a:solidFill>
                  </a:tcPr>
                </a:tc>
                <a:tc>
                  <a:txBody>
                    <a:bodyPr wrap="square"/>
                    <a:lstStyle/>
                    <a:p>
                      <a:pPr algn="r"/>
                      <a:r>
                        <a:rPr sz="1300" b="0">
                          <a:solidFill>
                            <a:srgbClr val="151C1B"/>
                          </a:solidFill>
                          <a:latin typeface="Calibri"/>
                        </a:rPr>
                        <a:t>24,081</a:t>
                      </a:r>
                    </a:p>
                  </a:txBody>
                  <a:tcPr marL="100584" marR="100584" marT="36576" marB="36576" anchor="ctr">
                    <a:solidFill>
                      <a:srgbClr val="FFFFFF"/>
                    </a:solidFill>
                  </a:tcPr>
                </a:tc>
                <a:tc>
                  <a:txBody>
                    <a:bodyPr wrap="square"/>
                    <a:lstStyle/>
                    <a:p>
                      <a:pPr algn="r"/>
                      <a:r>
                        <a:rPr sz="1300" b="0">
                          <a:solidFill>
                            <a:srgbClr val="151C1B"/>
                          </a:solidFill>
                          <a:latin typeface="Calibri"/>
                        </a:rPr>
                        <a:t>94%</a:t>
                      </a:r>
                    </a:p>
                  </a:txBody>
                  <a:tcPr marL="100584" marR="100584" marT="36576" marB="36576" anchor="ctr">
                    <a:solidFill>
                      <a:srgbClr val="FFFFFF"/>
                    </a:solidFill>
                  </a:tcPr>
                </a:tc>
              </a:tr>
              <a:tr h="310896">
                <a:tc>
                  <a:txBody>
                    <a:bodyPr wrap="square"/>
                    <a:lstStyle/>
                    <a:p>
                      <a:pPr algn="l"/>
                      <a:r>
                        <a:rPr sz="1300" b="1">
                          <a:solidFill>
                            <a:srgbClr val="151C1B"/>
                          </a:solidFill>
                          <a:latin typeface="Calibri"/>
                        </a:rPr>
                        <a:t>Total</a:t>
                      </a:r>
                    </a:p>
                  </a:txBody>
                  <a:tcPr marL="100584" marR="100584" marT="36576" marB="36576" anchor="ctr">
                    <a:solidFill>
                      <a:srgbClr val="F4F5F4"/>
                    </a:solidFill>
                  </a:tcPr>
                </a:tc>
                <a:tc>
                  <a:txBody>
                    <a:bodyPr wrap="square"/>
                    <a:lstStyle/>
                    <a:p>
                      <a:pPr algn="r"/>
                      <a:r>
                        <a:rPr sz="1300" b="1">
                          <a:solidFill>
                            <a:srgbClr val="151C1B"/>
                          </a:solidFill>
                          <a:latin typeface="Calibri"/>
                        </a:rPr>
                        <a:t>—</a:t>
                      </a:r>
                    </a:p>
                  </a:txBody>
                  <a:tcPr marL="100584" marR="100584" marT="36576" marB="36576" anchor="ctr">
                    <a:solidFill>
                      <a:srgbClr val="F4F5F4"/>
                    </a:solidFill>
                  </a:tcPr>
                </a:tc>
                <a:tc>
                  <a:txBody>
                    <a:bodyPr wrap="square"/>
                    <a:lstStyle/>
                    <a:p>
                      <a:pPr algn="r"/>
                      <a:r>
                        <a:rPr sz="1300" b="1">
                          <a:solidFill>
                            <a:srgbClr val="151C1B"/>
                          </a:solidFill>
                          <a:latin typeface="Calibri"/>
                        </a:rPr>
                        <a:t>349,663</a:t>
                      </a:r>
                    </a:p>
                  </a:txBody>
                  <a:tcPr marL="100584" marR="100584" marT="36576" marB="36576" anchor="ctr">
                    <a:solidFill>
                      <a:srgbClr val="F4F5F4"/>
                    </a:solidFill>
                  </a:tcPr>
                </a:tc>
                <a:tc>
                  <a:txBody>
                    <a:bodyPr wrap="square"/>
                    <a:lstStyle/>
                    <a:p>
                      <a:pPr algn="r"/>
                      <a:r>
                        <a:rPr sz="1300" b="1">
                          <a:solidFill>
                            <a:srgbClr val="151C1B"/>
                          </a:solidFill>
                          <a:latin typeface="Calibri"/>
                        </a:rPr>
                        <a:t>—</a:t>
                      </a:r>
                    </a:p>
                  </a:txBody>
                  <a:tcPr marL="100584" marR="100584" marT="36576" marB="36576" anchor="ctr">
                    <a:solidFill>
                      <a:srgbClr val="F4F5F4"/>
                    </a:solidFill>
                  </a:tcPr>
                </a:tc>
                <a:tc>
                  <a:txBody>
                    <a:bodyPr wrap="square"/>
                    <a:lstStyle/>
                    <a:p>
                      <a:pPr algn="r"/>
                      <a:r>
                        <a:rPr sz="1300" b="1">
                          <a:solidFill>
                            <a:srgbClr val="151C1B"/>
                          </a:solidFill>
                          <a:latin typeface="Calibri"/>
                        </a:rPr>
                        <a:t>646,621</a:t>
                      </a:r>
                    </a:p>
                  </a:txBody>
                  <a:tcPr marL="100584" marR="100584" marT="36576" marB="36576" anchor="ctr">
                    <a:solidFill>
                      <a:srgbClr val="F4F5F4"/>
                    </a:solidFill>
                  </a:tcPr>
                </a:tc>
                <a:tc>
                  <a:txBody>
                    <a:bodyPr wrap="square"/>
                    <a:lstStyle/>
                    <a:p>
                      <a:pPr algn="r"/>
                      <a:r>
                        <a:rPr sz="1300" b="1">
                          <a:solidFill>
                            <a:srgbClr val="151C1B"/>
                          </a:solidFill>
                          <a:latin typeface="Calibri"/>
                        </a:rPr>
                        <a:t>54%</a:t>
                      </a:r>
                    </a:p>
                  </a:txBody>
                  <a:tcPr marL="100584" marR="100584" marT="36576" marB="36576" anchor="ctr">
                    <a:solidFill>
                      <a:srgbClr val="F4F5F4"/>
                    </a:solidFill>
                  </a:tcPr>
                </a:tc>
              </a:tr>
            </a:tbl>
          </a:graphicData>
        </a:graphic>
      </p:graphicFrame>
      <p:sp>
        <p:nvSpPr>
          <p:cNvPr id="7" name="TextBox 6"/>
          <p:cNvSpPr txBox="1"/>
          <p:nvPr/>
        </p:nvSpPr>
        <p:spPr>
          <a:xfrm>
            <a:off x="640080" y="5806440"/>
            <a:ext cx="10881360" cy="640080"/>
          </a:xfrm>
          <a:prstGeom prst="rect">
            <a:avLst/>
          </a:prstGeom>
          <a:noFill/>
        </p:spPr>
        <p:txBody>
          <a:bodyPr wrap="square" lIns="0" rIns="0" tIns="0" bIns="0">
            <a:spAutoFit/>
          </a:bodyPr>
          <a:lstStyle/>
          <a:p>
            <a:pPr algn="l">
              <a:lnSpc>
                <a:spcPct val="125000"/>
              </a:lnSpc>
              <a:spcAft>
                <a:spcPts val="600"/>
              </a:spcAft>
            </a:pPr>
            <a:r>
              <a:rPr sz="1250" b="0">
                <a:solidFill>
                  <a:srgbClr val="3C4644"/>
                </a:solidFill>
                <a:latin typeface="Calibri"/>
              </a:rPr>
              <a:t>Articles collected on 11 May 2026, Parcel Post and Express Post.  </a:t>
            </a:r>
            <a:r>
              <a:rPr sz="1250" b="1">
                <a:solidFill>
                  <a:srgbClr val="3C4644"/>
                </a:solidFill>
                <a:latin typeface="Calibri"/>
              </a:rPr>
              <a:t>Peak day 2025 is a peak benchmark and this is a normal Monday, so every site reads low. The signal is that Oakleigh South and Dandenong South sit at about half the rate of every comparable depot on the same basis.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3 — THE NUMBERS</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Measured against the 2025 peak day</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058400" cy="457200"/>
          </a:xfrm>
          <a:prstGeom prst="rect">
            <a:avLst/>
          </a:prstGeom>
          <a:noFill/>
        </p:spPr>
        <p:txBody>
          <a:bodyPr wrap="square" lIns="0" rIns="0" tIns="0" bIns="0">
            <a:spAutoFit/>
          </a:bodyPr>
          <a:lstStyle/>
          <a:p>
            <a:pPr algn="l">
              <a:lnSpc>
                <a:spcPct val="125000"/>
              </a:lnSpc>
              <a:spcAft>
                <a:spcPts val="600"/>
              </a:spcAft>
            </a:pPr>
            <a:r>
              <a:rPr sz="1450" b="0">
                <a:solidFill>
                  <a:srgbClr val="3C4644"/>
                </a:solidFill>
                <a:latin typeface="Calibri"/>
              </a:rPr>
              <a:t>Five sites land between 71% and 94%. Two do not.</a:t>
            </a:r>
          </a:p>
        </p:txBody>
      </p:sp>
      <p:graphicFrame>
        <p:nvGraphicFramePr>
          <p:cNvPr id="6" name="Chart 5"/>
          <p:cNvGraphicFramePr>
            <a:graphicFrameLocks noGrp="1"/>
          </p:cNvGraphicFramePr>
          <p:nvPr/>
        </p:nvGraphicFramePr>
        <p:xfrm>
          <a:off x="640080" y="2148840"/>
          <a:ext cx="10881360" cy="41148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4 — THE CORRECTION</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Why those two depots halved</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058400" cy="457200"/>
          </a:xfrm>
          <a:prstGeom prst="rect">
            <a:avLst/>
          </a:prstGeom>
          <a:noFill/>
        </p:spPr>
        <p:txBody>
          <a:bodyPr wrap="square" lIns="0" rIns="0" tIns="0" bIns="0">
            <a:spAutoFit/>
          </a:bodyPr>
          <a:lstStyle/>
          <a:p>
            <a:pPr algn="l">
              <a:lnSpc>
                <a:spcPct val="125000"/>
              </a:lnSpc>
              <a:spcAft>
                <a:spcPts val="600"/>
              </a:spcAft>
            </a:pPr>
            <a:r>
              <a:rPr sz="1450" b="0">
                <a:solidFill>
                  <a:srgbClr val="3C4644"/>
                </a:solidFill>
                <a:latin typeface="Calibri"/>
              </a:rPr>
              <a:t>Both lost about half their number when we removed arrivals. This is what was sitting in the old figure.</a:t>
            </a:r>
          </a:p>
        </p:txBody>
      </p:sp>
      <p:graphicFrame>
        <p:nvGraphicFramePr>
          <p:cNvPr id="6" name="Table 5"/>
          <p:cNvGraphicFramePr>
            <a:graphicFrameLocks noGrp="1"/>
          </p:cNvGraphicFramePr>
          <p:nvPr/>
        </p:nvGraphicFramePr>
        <p:xfrm>
          <a:off x="640080" y="2286000"/>
          <a:ext cx="10881358" cy="2651760"/>
        </p:xfrm>
        <a:graphic>
          <a:graphicData uri="http://schemas.openxmlformats.org/drawingml/2006/table">
            <a:tbl>
              <a:tblPr>
                <a:tableStyleId>{5C22544A-7EE6-4342-B048-85BDC9FD1C3A}</a:tableStyleId>
              </a:tblPr>
              <a:tblGrid>
                <a:gridCol w="4722099"/>
                <a:gridCol w="2258395"/>
                <a:gridCol w="2258395"/>
                <a:gridCol w="1642469"/>
              </a:tblGrid>
              <a:tr h="347472">
                <a:tc>
                  <a:txBody>
                    <a:bodyPr wrap="square"/>
                    <a:lstStyle/>
                    <a:p>
                      <a:pPr algn="l"/>
                      <a:r>
                        <a:rPr sz="1150" b="1">
                          <a:solidFill>
                            <a:srgbClr val="FFFFFF"/>
                          </a:solidFill>
                          <a:latin typeface="Calibri"/>
                        </a:rPr>
                        <a:t>The first scan of the day was…</a:t>
                      </a:r>
                    </a:p>
                  </a:txBody>
                  <a:tcPr marL="100584" marR="100584" marT="36576" marB="36576" anchor="ctr">
                    <a:solidFill>
                      <a:srgbClr val="151C1B"/>
                    </a:solidFill>
                  </a:tcPr>
                </a:tc>
                <a:tc>
                  <a:txBody>
                    <a:bodyPr wrap="square"/>
                    <a:lstStyle/>
                    <a:p>
                      <a:pPr algn="r"/>
                      <a:r>
                        <a:rPr sz="1150" b="1">
                          <a:solidFill>
                            <a:srgbClr val="FFFFFF"/>
                          </a:solidFill>
                          <a:latin typeface="Calibri"/>
                        </a:rPr>
                        <a:t>Oakleigh South</a:t>
                      </a:r>
                    </a:p>
                  </a:txBody>
                  <a:tcPr marL="100584" marR="100584" marT="36576" marB="36576" anchor="ctr">
                    <a:solidFill>
                      <a:srgbClr val="151C1B"/>
                    </a:solidFill>
                  </a:tcPr>
                </a:tc>
                <a:tc>
                  <a:txBody>
                    <a:bodyPr wrap="square"/>
                    <a:lstStyle/>
                    <a:p>
                      <a:pPr algn="r"/>
                      <a:r>
                        <a:rPr sz="1150" b="1">
                          <a:solidFill>
                            <a:srgbClr val="FFFFFF"/>
                          </a:solidFill>
                          <a:latin typeface="Calibri"/>
                        </a:rPr>
                        <a:t>Dandenong South</a:t>
                      </a:r>
                    </a:p>
                  </a:txBody>
                  <a:tcPr marL="100584" marR="100584" marT="36576" marB="36576" anchor="ctr">
                    <a:solidFill>
                      <a:srgbClr val="151C1B"/>
                    </a:solidFill>
                  </a:tcPr>
                </a:tc>
                <a:tc>
                  <a:txBody>
                    <a:bodyPr wrap="square"/>
                    <a:lstStyle/>
                    <a:p>
                      <a:pPr algn="r"/>
                      <a:r>
                        <a:rPr sz="1150" b="1">
                          <a:solidFill>
                            <a:srgbClr val="FFFFFF"/>
                          </a:solidFill>
                          <a:latin typeface="Calibri"/>
                        </a:rPr>
                        <a:t>Counted?</a:t>
                      </a:r>
                    </a:p>
                  </a:txBody>
                  <a:tcPr marL="100584" marR="100584" marT="36576" marB="36576" anchor="ctr">
                    <a:solidFill>
                      <a:srgbClr val="151C1B"/>
                    </a:solidFill>
                  </a:tcPr>
                </a:tc>
              </a:tr>
              <a:tr h="329184">
                <a:tc>
                  <a:txBody>
                    <a:bodyPr wrap="square"/>
                    <a:lstStyle/>
                    <a:p>
                      <a:pPr algn="l"/>
                      <a:r>
                        <a:rPr sz="1300" b="0">
                          <a:solidFill>
                            <a:srgbClr val="151C1B"/>
                          </a:solidFill>
                          <a:latin typeface="Calibri"/>
                        </a:rPr>
                        <a:t>Lodge — driver or counter collection</a:t>
                      </a:r>
                    </a:p>
                  </a:txBody>
                  <a:tcPr marL="100584" marR="100584" marT="36576" marB="36576" anchor="ctr">
                    <a:solidFill>
                      <a:srgbClr val="FFFFFF"/>
                    </a:solidFill>
                  </a:tcPr>
                </a:tc>
                <a:tc>
                  <a:txBody>
                    <a:bodyPr wrap="square"/>
                    <a:lstStyle/>
                    <a:p>
                      <a:pPr algn="r"/>
                      <a:r>
                        <a:rPr sz="1300" b="0">
                          <a:solidFill>
                            <a:srgbClr val="151C1B"/>
                          </a:solidFill>
                          <a:latin typeface="Calibri"/>
                        </a:rPr>
                        <a:t>20,878</a:t>
                      </a:r>
                    </a:p>
                  </a:txBody>
                  <a:tcPr marL="100584" marR="100584" marT="36576" marB="36576" anchor="ctr">
                    <a:solidFill>
                      <a:srgbClr val="FFFFFF"/>
                    </a:solidFill>
                  </a:tcPr>
                </a:tc>
                <a:tc>
                  <a:txBody>
                    <a:bodyPr wrap="square"/>
                    <a:lstStyle/>
                    <a:p>
                      <a:pPr algn="r"/>
                      <a:r>
                        <a:rPr sz="1300" b="0">
                          <a:solidFill>
                            <a:srgbClr val="151C1B"/>
                          </a:solidFill>
                          <a:latin typeface="Calibri"/>
                        </a:rPr>
                        <a:t>9,315</a:t>
                      </a:r>
                    </a:p>
                  </a:txBody>
                  <a:tcPr marL="100584" marR="100584" marT="36576" marB="36576" anchor="ctr">
                    <a:solidFill>
                      <a:srgbClr val="FFFFFF"/>
                    </a:solidFill>
                  </a:tcPr>
                </a:tc>
                <a:tc>
                  <a:txBody>
                    <a:bodyPr wrap="square"/>
                    <a:lstStyle/>
                    <a:p>
                      <a:pPr algn="r"/>
                      <a:r>
                        <a:rPr sz="1300" b="0">
                          <a:solidFill>
                            <a:srgbClr val="151C1B"/>
                          </a:solidFill>
                          <a:latin typeface="Calibri"/>
                        </a:rPr>
                        <a:t>Kept</a:t>
                      </a:r>
                    </a:p>
                  </a:txBody>
                  <a:tcPr marL="100584" marR="100584" marT="36576" marB="36576" anchor="ctr">
                    <a:solidFill>
                      <a:srgbClr val="FFFFFF"/>
                    </a:solidFill>
                  </a:tcPr>
                </a:tc>
              </a:tr>
              <a:tr h="329184">
                <a:tc>
                  <a:txBody>
                    <a:bodyPr wrap="square"/>
                    <a:lstStyle/>
                    <a:p>
                      <a:pPr algn="l"/>
                      <a:r>
                        <a:rPr sz="1300" b="0">
                          <a:solidFill>
                            <a:srgbClr val="151C1B"/>
                          </a:solidFill>
                          <a:latin typeface="Calibri"/>
                        </a:rPr>
                        <a:t>Loaded or transferred out</a:t>
                      </a:r>
                    </a:p>
                  </a:txBody>
                  <a:tcPr marL="100584" marR="100584" marT="36576" marB="36576" anchor="ctr">
                    <a:solidFill>
                      <a:srgbClr val="FFFFFF"/>
                    </a:solidFill>
                  </a:tcPr>
                </a:tc>
                <a:tc>
                  <a:txBody>
                    <a:bodyPr wrap="square"/>
                    <a:lstStyle/>
                    <a:p>
                      <a:pPr algn="r"/>
                      <a:r>
                        <a:rPr sz="1300" b="0">
                          <a:solidFill>
                            <a:srgbClr val="151C1B"/>
                          </a:solidFill>
                          <a:latin typeface="Calibri"/>
                        </a:rPr>
                        <a:t>590</a:t>
                      </a:r>
                    </a:p>
                  </a:txBody>
                  <a:tcPr marL="100584" marR="100584" marT="36576" marB="36576" anchor="ctr">
                    <a:solidFill>
                      <a:srgbClr val="FFFFFF"/>
                    </a:solidFill>
                  </a:tcPr>
                </a:tc>
                <a:tc>
                  <a:txBody>
                    <a:bodyPr wrap="square"/>
                    <a:lstStyle/>
                    <a:p>
                      <a:pPr algn="r"/>
                      <a:r>
                        <a:rPr sz="1300" b="0">
                          <a:solidFill>
                            <a:srgbClr val="151C1B"/>
                          </a:solidFill>
                          <a:latin typeface="Calibri"/>
                        </a:rPr>
                        <a:t>388</a:t>
                      </a:r>
                    </a:p>
                  </a:txBody>
                  <a:tcPr marL="100584" marR="100584" marT="36576" marB="36576" anchor="ctr">
                    <a:solidFill>
                      <a:srgbClr val="FFFFFF"/>
                    </a:solidFill>
                  </a:tcPr>
                </a:tc>
                <a:tc>
                  <a:txBody>
                    <a:bodyPr wrap="square"/>
                    <a:lstStyle/>
                    <a:p>
                      <a:pPr algn="r"/>
                      <a:r>
                        <a:rPr sz="1300" b="0">
                          <a:solidFill>
                            <a:srgbClr val="151C1B"/>
                          </a:solidFill>
                          <a:latin typeface="Calibri"/>
                        </a:rPr>
                        <a:t>Kept</a:t>
                      </a:r>
                    </a:p>
                  </a:txBody>
                  <a:tcPr marL="100584" marR="100584" marT="36576" marB="36576" anchor="ctr">
                    <a:solidFill>
                      <a:srgbClr val="FFFFFF"/>
                    </a:solidFill>
                  </a:tcPr>
                </a:tc>
              </a:tr>
              <a:tr h="329184">
                <a:tc>
                  <a:txBody>
                    <a:bodyPr wrap="square"/>
                    <a:lstStyle/>
                    <a:p>
                      <a:pPr algn="l"/>
                      <a:r>
                        <a:rPr sz="1300" b="1">
                          <a:solidFill>
                            <a:srgbClr val="151C1B"/>
                          </a:solidFill>
                          <a:latin typeface="Calibri"/>
                        </a:rPr>
                        <a:t>Unpacked from a container</a:t>
                      </a:r>
                    </a:p>
                  </a:txBody>
                  <a:tcPr marL="100584" marR="100584" marT="36576" marB="36576" anchor="ctr">
                    <a:solidFill>
                      <a:srgbClr val="F6E6DB"/>
                    </a:solidFill>
                  </a:tcPr>
                </a:tc>
                <a:tc>
                  <a:txBody>
                    <a:bodyPr wrap="square"/>
                    <a:lstStyle/>
                    <a:p>
                      <a:pPr algn="r"/>
                      <a:r>
                        <a:rPr sz="1300" b="0">
                          <a:solidFill>
                            <a:srgbClr val="C0561B"/>
                          </a:solidFill>
                          <a:latin typeface="Calibri"/>
                        </a:rPr>
                        <a:t>14,638</a:t>
                      </a:r>
                    </a:p>
                  </a:txBody>
                  <a:tcPr marL="100584" marR="100584" marT="36576" marB="36576" anchor="ctr">
                    <a:solidFill>
                      <a:srgbClr val="F6E6DB"/>
                    </a:solidFill>
                  </a:tcPr>
                </a:tc>
                <a:tc>
                  <a:txBody>
                    <a:bodyPr wrap="square"/>
                    <a:lstStyle/>
                    <a:p>
                      <a:pPr algn="r"/>
                      <a:r>
                        <a:rPr sz="1300" b="0">
                          <a:solidFill>
                            <a:srgbClr val="C0561B"/>
                          </a:solidFill>
                          <a:latin typeface="Calibri"/>
                        </a:rPr>
                        <a:t>2,041</a:t>
                      </a:r>
                    </a:p>
                  </a:txBody>
                  <a:tcPr marL="100584" marR="100584" marT="36576" marB="36576" anchor="ctr">
                    <a:solidFill>
                      <a:srgbClr val="F6E6DB"/>
                    </a:solidFill>
                  </a:tcPr>
                </a:tc>
                <a:tc>
                  <a:txBody>
                    <a:bodyPr wrap="square"/>
                    <a:lstStyle/>
                    <a:p>
                      <a:pPr algn="r"/>
                      <a:r>
                        <a:rPr sz="1300" b="0">
                          <a:solidFill>
                            <a:srgbClr val="C0561B"/>
                          </a:solidFill>
                          <a:latin typeface="Calibri"/>
                        </a:rPr>
                        <a:t>Arrived</a:t>
                      </a:r>
                    </a:p>
                  </a:txBody>
                  <a:tcPr marL="100584" marR="100584" marT="36576" marB="36576" anchor="ctr">
                    <a:solidFill>
                      <a:srgbClr val="F6E6DB"/>
                    </a:solidFill>
                  </a:tcPr>
                </a:tc>
              </a:tr>
              <a:tr h="329184">
                <a:tc>
                  <a:txBody>
                    <a:bodyPr wrap="square"/>
                    <a:lstStyle/>
                    <a:p>
                      <a:pPr algn="l"/>
                      <a:r>
                        <a:rPr sz="1300" b="1">
                          <a:solidFill>
                            <a:srgbClr val="151C1B"/>
                          </a:solidFill>
                          <a:latin typeface="Calibri"/>
                        </a:rPr>
                        <a:t>Accepted at the site</a:t>
                      </a:r>
                    </a:p>
                  </a:txBody>
                  <a:tcPr marL="100584" marR="100584" marT="36576" marB="36576" anchor="ctr">
                    <a:solidFill>
                      <a:srgbClr val="F6E6DB"/>
                    </a:solidFill>
                  </a:tcPr>
                </a:tc>
                <a:tc>
                  <a:txBody>
                    <a:bodyPr wrap="square"/>
                    <a:lstStyle/>
                    <a:p>
                      <a:pPr algn="r"/>
                      <a:r>
                        <a:rPr sz="1300" b="0">
                          <a:solidFill>
                            <a:srgbClr val="C0561B"/>
                          </a:solidFill>
                          <a:latin typeface="Calibri"/>
                        </a:rPr>
                        <a:t>1,935</a:t>
                      </a:r>
                    </a:p>
                  </a:txBody>
                  <a:tcPr marL="100584" marR="100584" marT="36576" marB="36576" anchor="ctr">
                    <a:solidFill>
                      <a:srgbClr val="F6E6DB"/>
                    </a:solidFill>
                  </a:tcPr>
                </a:tc>
                <a:tc>
                  <a:txBody>
                    <a:bodyPr wrap="square"/>
                    <a:lstStyle/>
                    <a:p>
                      <a:pPr algn="r"/>
                      <a:r>
                        <a:rPr sz="1300" b="0">
                          <a:solidFill>
                            <a:srgbClr val="C0561B"/>
                          </a:solidFill>
                          <a:latin typeface="Calibri"/>
                        </a:rPr>
                        <a:t>6,156</a:t>
                      </a:r>
                    </a:p>
                  </a:txBody>
                  <a:tcPr marL="100584" marR="100584" marT="36576" marB="36576" anchor="ctr">
                    <a:solidFill>
                      <a:srgbClr val="F6E6DB"/>
                    </a:solidFill>
                  </a:tcPr>
                </a:tc>
                <a:tc>
                  <a:txBody>
                    <a:bodyPr wrap="square"/>
                    <a:lstStyle/>
                    <a:p>
                      <a:pPr algn="r"/>
                      <a:r>
                        <a:rPr sz="1300" b="0">
                          <a:solidFill>
                            <a:srgbClr val="C0561B"/>
                          </a:solidFill>
                          <a:latin typeface="Calibri"/>
                        </a:rPr>
                        <a:t>Arrived</a:t>
                      </a:r>
                    </a:p>
                  </a:txBody>
                  <a:tcPr marL="100584" marR="100584" marT="36576" marB="36576" anchor="ctr">
                    <a:solidFill>
                      <a:srgbClr val="F6E6DB"/>
                    </a:solidFill>
                  </a:tcPr>
                </a:tc>
              </a:tr>
              <a:tr h="329184">
                <a:tc>
                  <a:txBody>
                    <a:bodyPr wrap="square"/>
                    <a:lstStyle/>
                    <a:p>
                      <a:pPr algn="l"/>
                      <a:r>
                        <a:rPr sz="1300" b="1">
                          <a:solidFill>
                            <a:srgbClr val="151C1B"/>
                          </a:solidFill>
                          <a:latin typeface="Calibri"/>
                        </a:rPr>
                        <a:t>Delivered</a:t>
                      </a:r>
                    </a:p>
                  </a:txBody>
                  <a:tcPr marL="100584" marR="100584" marT="36576" marB="36576" anchor="ctr">
                    <a:solidFill>
                      <a:srgbClr val="F6E6DB"/>
                    </a:solidFill>
                  </a:tcPr>
                </a:tc>
                <a:tc>
                  <a:txBody>
                    <a:bodyPr wrap="square"/>
                    <a:lstStyle/>
                    <a:p>
                      <a:pPr algn="r"/>
                      <a:r>
                        <a:rPr sz="1300" b="0">
                          <a:solidFill>
                            <a:srgbClr val="C0561B"/>
                          </a:solidFill>
                          <a:latin typeface="Calibri"/>
                        </a:rPr>
                        <a:t>815</a:t>
                      </a:r>
                    </a:p>
                  </a:txBody>
                  <a:tcPr marL="100584" marR="100584" marT="36576" marB="36576" anchor="ctr">
                    <a:solidFill>
                      <a:srgbClr val="F6E6DB"/>
                    </a:solidFill>
                  </a:tcPr>
                </a:tc>
                <a:tc>
                  <a:txBody>
                    <a:bodyPr wrap="square"/>
                    <a:lstStyle/>
                    <a:p>
                      <a:pPr algn="r"/>
                      <a:r>
                        <a:rPr sz="1300" b="0">
                          <a:solidFill>
                            <a:srgbClr val="C0561B"/>
                          </a:solidFill>
                          <a:latin typeface="Calibri"/>
                        </a:rPr>
                        <a:t>2,286</a:t>
                      </a:r>
                    </a:p>
                  </a:txBody>
                  <a:tcPr marL="100584" marR="100584" marT="36576" marB="36576" anchor="ctr">
                    <a:solidFill>
                      <a:srgbClr val="F6E6DB"/>
                    </a:solidFill>
                  </a:tcPr>
                </a:tc>
                <a:tc>
                  <a:txBody>
                    <a:bodyPr wrap="square"/>
                    <a:lstStyle/>
                    <a:p>
                      <a:pPr algn="r"/>
                      <a:r>
                        <a:rPr sz="1300" b="0">
                          <a:solidFill>
                            <a:srgbClr val="C0561B"/>
                          </a:solidFill>
                          <a:latin typeface="Calibri"/>
                        </a:rPr>
                        <a:t>Arrived</a:t>
                      </a:r>
                    </a:p>
                  </a:txBody>
                  <a:tcPr marL="100584" marR="100584" marT="36576" marB="36576" anchor="ctr">
                    <a:solidFill>
                      <a:srgbClr val="F6E6DB"/>
                    </a:solidFill>
                  </a:tcPr>
                </a:tc>
              </a:tr>
              <a:tr h="329184">
                <a:tc>
                  <a:txBody>
                    <a:bodyPr wrap="square"/>
                    <a:lstStyle/>
                    <a:p>
                      <a:pPr algn="l"/>
                      <a:r>
                        <a:rPr sz="1300" b="1">
                          <a:solidFill>
                            <a:srgbClr val="151C1B"/>
                          </a:solidFill>
                          <a:latin typeface="Calibri"/>
                        </a:rPr>
                        <a:t>Old total</a:t>
                      </a:r>
                    </a:p>
                  </a:txBody>
                  <a:tcPr marL="100584" marR="100584" marT="36576" marB="36576" anchor="ctr">
                    <a:solidFill>
                      <a:srgbClr val="F4F5F4"/>
                    </a:solidFill>
                  </a:tcPr>
                </a:tc>
                <a:tc>
                  <a:txBody>
                    <a:bodyPr wrap="square"/>
                    <a:lstStyle/>
                    <a:p>
                      <a:pPr algn="r"/>
                      <a:r>
                        <a:rPr sz="1300" b="1">
                          <a:solidFill>
                            <a:srgbClr val="151C1B"/>
                          </a:solidFill>
                          <a:latin typeface="Calibri"/>
                        </a:rPr>
                        <a:t>38,856</a:t>
                      </a:r>
                    </a:p>
                  </a:txBody>
                  <a:tcPr marL="100584" marR="100584" marT="36576" marB="36576" anchor="ctr">
                    <a:solidFill>
                      <a:srgbClr val="F4F5F4"/>
                    </a:solidFill>
                  </a:tcPr>
                </a:tc>
                <a:tc>
                  <a:txBody>
                    <a:bodyPr wrap="square"/>
                    <a:lstStyle/>
                    <a:p>
                      <a:pPr algn="r"/>
                      <a:r>
                        <a:rPr sz="1300" b="1">
                          <a:solidFill>
                            <a:srgbClr val="151C1B"/>
                          </a:solidFill>
                          <a:latin typeface="Calibri"/>
                        </a:rPr>
                        <a:t>20,186</a:t>
                      </a:r>
                    </a:p>
                  </a:txBody>
                  <a:tcPr marL="100584" marR="100584" marT="36576" marB="36576" anchor="ctr">
                    <a:solidFill>
                      <a:srgbClr val="F4F5F4"/>
                    </a:solidFill>
                  </a:tcPr>
                </a:tc>
                <a:tc>
                  <a:txBody>
                    <a:bodyPr wrap="square"/>
                    <a:lstStyle/>
                    <a:p>
                      <a:pPr algn="r"/>
                      <a:r>
                        <a:rPr sz="1300" b="1">
                          <a:solidFill>
                            <a:srgbClr val="151C1B"/>
                          </a:solidFill>
                          <a:latin typeface="Calibri"/>
                        </a:rPr>
                        <a:t/>
                      </a:r>
                    </a:p>
                  </a:txBody>
                  <a:tcPr marL="100584" marR="100584" marT="36576" marB="36576" anchor="ctr">
                    <a:solidFill>
                      <a:srgbClr val="F4F5F4"/>
                    </a:solidFill>
                  </a:tcPr>
                </a:tc>
              </a:tr>
              <a:tr h="329184">
                <a:tc>
                  <a:txBody>
                    <a:bodyPr wrap="square"/>
                    <a:lstStyle/>
                    <a:p>
                      <a:pPr algn="l"/>
                      <a:r>
                        <a:rPr sz="1300" b="1">
                          <a:solidFill>
                            <a:srgbClr val="151C1B"/>
                          </a:solidFill>
                          <a:latin typeface="Calibri"/>
                        </a:rPr>
                        <a:t>What we now count</a:t>
                      </a:r>
                    </a:p>
                  </a:txBody>
                  <a:tcPr marL="100584" marR="100584" marT="36576" marB="36576" anchor="ctr">
                    <a:solidFill>
                      <a:srgbClr val="F4F5F4"/>
                    </a:solidFill>
                  </a:tcPr>
                </a:tc>
                <a:tc>
                  <a:txBody>
                    <a:bodyPr wrap="square"/>
                    <a:lstStyle/>
                    <a:p>
                      <a:pPr algn="r"/>
                      <a:r>
                        <a:rPr sz="1300" b="1">
                          <a:solidFill>
                            <a:srgbClr val="151C1B"/>
                          </a:solidFill>
                          <a:latin typeface="Calibri"/>
                        </a:rPr>
                        <a:t>21,468</a:t>
                      </a:r>
                    </a:p>
                  </a:txBody>
                  <a:tcPr marL="100584" marR="100584" marT="36576" marB="36576" anchor="ctr">
                    <a:solidFill>
                      <a:srgbClr val="F4F5F4"/>
                    </a:solidFill>
                  </a:tcPr>
                </a:tc>
                <a:tc>
                  <a:txBody>
                    <a:bodyPr wrap="square"/>
                    <a:lstStyle/>
                    <a:p>
                      <a:pPr algn="r"/>
                      <a:r>
                        <a:rPr sz="1300" b="1">
                          <a:solidFill>
                            <a:srgbClr val="151C1B"/>
                          </a:solidFill>
                          <a:latin typeface="Calibri"/>
                        </a:rPr>
                        <a:t>9,703</a:t>
                      </a:r>
                    </a:p>
                  </a:txBody>
                  <a:tcPr marL="100584" marR="100584" marT="36576" marB="36576" anchor="ctr">
                    <a:solidFill>
                      <a:srgbClr val="F4F5F4"/>
                    </a:solidFill>
                  </a:tcPr>
                </a:tc>
                <a:tc>
                  <a:txBody>
                    <a:bodyPr wrap="square"/>
                    <a:lstStyle/>
                    <a:p>
                      <a:pPr algn="r"/>
                      <a:r>
                        <a:rPr sz="1300" b="1">
                          <a:solidFill>
                            <a:srgbClr val="151C1B"/>
                          </a:solidFill>
                          <a:latin typeface="Calibri"/>
                        </a:rPr>
                        <a:t/>
                      </a:r>
                    </a:p>
                  </a:txBody>
                  <a:tcPr marL="100584" marR="100584" marT="36576" marB="36576" anchor="ctr">
                    <a:solidFill>
                      <a:srgbClr val="F4F5F4"/>
                    </a:solidFill>
                  </a:tcPr>
                </a:tc>
              </a:tr>
            </a:tbl>
          </a:graphicData>
        </a:graphic>
      </p:graphicFrame>
      <p:sp>
        <p:nvSpPr>
          <p:cNvPr id="7" name="TextBox 6"/>
          <p:cNvSpPr txBox="1"/>
          <p:nvPr/>
        </p:nvSpPr>
        <p:spPr>
          <a:xfrm>
            <a:off x="640080" y="5806440"/>
            <a:ext cx="10881360" cy="548640"/>
          </a:xfrm>
          <a:prstGeom prst="rect">
            <a:avLst/>
          </a:prstGeom>
          <a:noFill/>
        </p:spPr>
        <p:txBody>
          <a:bodyPr wrap="square" lIns="0" rIns="0" tIns="0" bIns="0">
            <a:spAutoFit/>
          </a:bodyPr>
          <a:lstStyle/>
          <a:p>
            <a:pPr algn="l">
              <a:lnSpc>
                <a:spcPct val="125000"/>
              </a:lnSpc>
              <a:spcAft>
                <a:spcPts val="600"/>
              </a:spcAft>
            </a:pPr>
            <a:r>
              <a:rPr sz="1250" b="1">
                <a:solidFill>
                  <a:srgbClr val="3C4644"/>
                </a:solidFill>
                <a:latin typeface="Calibri"/>
              </a:rPr>
              <a:t>Read the bottom two rows together:</a:t>
            </a:r>
            <a:r>
              <a:rPr sz="1250" b="0">
                <a:solidFill>
                  <a:srgbClr val="3C4644"/>
                </a:solidFill>
                <a:latin typeface="Calibri"/>
              </a:rPr>
              <a:t> 45% of Oakleigh South's old figure and 52% of Dandenong South's was freight arriving to be delivered locally, not freight the depot collected.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4 — THE CORRECTION</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The proof we did not cut too much</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058400" cy="457200"/>
          </a:xfrm>
          <a:prstGeom prst="rect">
            <a:avLst/>
          </a:prstGeom>
          <a:noFill/>
        </p:spPr>
        <p:txBody>
          <a:bodyPr wrap="square" lIns="0" rIns="0" tIns="0" bIns="0">
            <a:spAutoFit/>
          </a:bodyPr>
          <a:lstStyle/>
          <a:p>
            <a:pPr algn="l">
              <a:lnSpc>
                <a:spcPct val="125000"/>
              </a:lnSpc>
              <a:spcAft>
                <a:spcPts val="600"/>
              </a:spcAft>
            </a:pPr>
            <a:r>
              <a:rPr sz="1450" b="0">
                <a:solidFill>
                  <a:srgbClr val="3C4644"/>
                </a:solidFill>
                <a:latin typeface="Calibri"/>
              </a:rPr>
              <a:t>If the removed volume were really collections, it would leave the depot. It does not.</a:t>
            </a:r>
          </a:p>
        </p:txBody>
      </p:sp>
      <p:sp>
        <p:nvSpPr>
          <p:cNvPr id="6" name="Rectangle 5"/>
          <p:cNvSpPr/>
          <p:nvPr/>
        </p:nvSpPr>
        <p:spPr>
          <a:xfrm>
            <a:off x="640080" y="2377440"/>
            <a:ext cx="5303520" cy="146304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42032"/>
            <a:ext cx="1828800" cy="457200"/>
          </a:xfrm>
          <a:prstGeom prst="rect">
            <a:avLst/>
          </a:prstGeom>
          <a:noFill/>
        </p:spPr>
        <p:txBody>
          <a:bodyPr wrap="square" lIns="0" rIns="0" tIns="0" bIns="0">
            <a:spAutoFit/>
          </a:bodyPr>
          <a:lstStyle/>
          <a:p>
            <a:pPr algn="l">
              <a:lnSpc>
                <a:spcPct val="125000"/>
              </a:lnSpc>
              <a:spcAft>
                <a:spcPts val="200"/>
              </a:spcAft>
            </a:pPr>
            <a:r>
              <a:rPr sz="3000" b="1">
                <a:solidFill>
                  <a:srgbClr val="C0561B"/>
                </a:solidFill>
                <a:latin typeface="Calibri"/>
              </a:rPr>
              <a:t>82%</a:t>
            </a:r>
          </a:p>
        </p:txBody>
      </p:sp>
      <p:sp>
        <p:nvSpPr>
          <p:cNvPr id="8" name="TextBox 7"/>
          <p:cNvSpPr txBox="1"/>
          <p:nvPr/>
        </p:nvSpPr>
        <p:spPr>
          <a:xfrm>
            <a:off x="914400" y="3035808"/>
            <a:ext cx="4754880" cy="731520"/>
          </a:xfrm>
          <a:prstGeom prst="rect">
            <a:avLst/>
          </a:prstGeom>
          <a:noFill/>
        </p:spPr>
        <p:txBody>
          <a:bodyPr wrap="square" lIns="0" rIns="0" tIns="0" bIns="0">
            <a:spAutoFit/>
          </a:bodyPr>
          <a:lstStyle/>
          <a:p>
            <a:pPr algn="l">
              <a:lnSpc>
                <a:spcPct val="125000"/>
              </a:lnSpc>
              <a:spcAft>
                <a:spcPts val="600"/>
              </a:spcAft>
            </a:pPr>
            <a:r>
              <a:rPr sz="1250" b="0">
                <a:solidFill>
                  <a:srgbClr val="3C4644"/>
                </a:solidFill>
                <a:latin typeface="Calibri"/>
              </a:rPr>
              <a:t>of what we removed at Oakleigh South — 14,218 of 17,388 articles — was delivered by Oakleigh's own vans. That is inbound freight by definition.</a:t>
            </a:r>
          </a:p>
        </p:txBody>
      </p:sp>
      <p:sp>
        <p:nvSpPr>
          <p:cNvPr id="9" name="Rectangle 8"/>
          <p:cNvSpPr/>
          <p:nvPr/>
        </p:nvSpPr>
        <p:spPr>
          <a:xfrm>
            <a:off x="6217920" y="2377440"/>
            <a:ext cx="5303520" cy="146304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2542032"/>
            <a:ext cx="1828800" cy="457200"/>
          </a:xfrm>
          <a:prstGeom prst="rect">
            <a:avLst/>
          </a:prstGeom>
          <a:noFill/>
        </p:spPr>
        <p:txBody>
          <a:bodyPr wrap="square" lIns="0" rIns="0" tIns="0" bIns="0">
            <a:spAutoFit/>
          </a:bodyPr>
          <a:lstStyle/>
          <a:p>
            <a:pPr algn="l">
              <a:lnSpc>
                <a:spcPct val="125000"/>
              </a:lnSpc>
              <a:spcAft>
                <a:spcPts val="200"/>
              </a:spcAft>
            </a:pPr>
            <a:r>
              <a:rPr sz="3000" b="1">
                <a:solidFill>
                  <a:srgbClr val="C0561B"/>
                </a:solidFill>
                <a:latin typeface="Calibri"/>
              </a:rPr>
              <a:t>87%</a:t>
            </a:r>
          </a:p>
        </p:txBody>
      </p:sp>
      <p:sp>
        <p:nvSpPr>
          <p:cNvPr id="11" name="TextBox 10"/>
          <p:cNvSpPr txBox="1"/>
          <p:nvPr/>
        </p:nvSpPr>
        <p:spPr>
          <a:xfrm>
            <a:off x="6492240" y="3035808"/>
            <a:ext cx="4754880" cy="731520"/>
          </a:xfrm>
          <a:prstGeom prst="rect">
            <a:avLst/>
          </a:prstGeom>
          <a:noFill/>
        </p:spPr>
        <p:txBody>
          <a:bodyPr wrap="square" lIns="0" rIns="0" tIns="0" bIns="0">
            <a:spAutoFit/>
          </a:bodyPr>
          <a:lstStyle/>
          <a:p>
            <a:pPr algn="l">
              <a:lnSpc>
                <a:spcPct val="125000"/>
              </a:lnSpc>
              <a:spcAft>
                <a:spcPts val="600"/>
              </a:spcAft>
            </a:pPr>
            <a:r>
              <a:rPr sz="1250" b="0">
                <a:solidFill>
                  <a:srgbClr val="3C4644"/>
                </a:solidFill>
                <a:latin typeface="Calibri"/>
              </a:rPr>
              <a:t>same test at Dandenong South: 9,132 of the 10,483 removed articles were delivered by Dandenong South itself.</a:t>
            </a:r>
          </a:p>
        </p:txBody>
      </p:sp>
      <p:sp>
        <p:nvSpPr>
          <p:cNvPr id="12" name="Rectangle 11"/>
          <p:cNvSpPr/>
          <p:nvPr/>
        </p:nvSpPr>
        <p:spPr>
          <a:xfrm>
            <a:off x="640080" y="4069080"/>
            <a:ext cx="5303520" cy="146304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33672"/>
            <a:ext cx="1828800" cy="457200"/>
          </a:xfrm>
          <a:prstGeom prst="rect">
            <a:avLst/>
          </a:prstGeom>
          <a:noFill/>
        </p:spPr>
        <p:txBody>
          <a:bodyPr wrap="square" lIns="0" rIns="0" tIns="0" bIns="0">
            <a:spAutoFit/>
          </a:bodyPr>
          <a:lstStyle/>
          <a:p>
            <a:pPr algn="l">
              <a:lnSpc>
                <a:spcPct val="125000"/>
              </a:lnSpc>
              <a:spcAft>
                <a:spcPts val="200"/>
              </a:spcAft>
            </a:pPr>
            <a:r>
              <a:rPr sz="3000" b="1">
                <a:solidFill>
                  <a:srgbClr val="008C7A"/>
                </a:solidFill>
                <a:latin typeface="Calibri"/>
              </a:rPr>
              <a:t>2.6%</a:t>
            </a:r>
          </a:p>
        </p:txBody>
      </p:sp>
      <p:sp>
        <p:nvSpPr>
          <p:cNvPr id="14" name="TextBox 13"/>
          <p:cNvSpPr txBox="1"/>
          <p:nvPr/>
        </p:nvSpPr>
        <p:spPr>
          <a:xfrm>
            <a:off x="914400" y="4727448"/>
            <a:ext cx="4754880" cy="731520"/>
          </a:xfrm>
          <a:prstGeom prst="rect">
            <a:avLst/>
          </a:prstGeom>
          <a:noFill/>
        </p:spPr>
        <p:txBody>
          <a:bodyPr wrap="square" lIns="0" rIns="0" tIns="0" bIns="0">
            <a:spAutoFit/>
          </a:bodyPr>
          <a:lstStyle/>
          <a:p>
            <a:pPr algn="l">
              <a:lnSpc>
                <a:spcPct val="125000"/>
              </a:lnSpc>
              <a:spcAft>
                <a:spcPts val="600"/>
              </a:spcAft>
            </a:pPr>
            <a:r>
              <a:rPr sz="1250" b="0">
                <a:solidFill>
                  <a:srgbClr val="3C4644"/>
                </a:solidFill>
                <a:latin typeface="Calibri"/>
              </a:rPr>
              <a:t>of the volume we kept is delivered locally. The rest genuinely leaves — Sunshine West, Bayswater, Sydney, Perth. That is what collected volume should look like.</a:t>
            </a:r>
          </a:p>
        </p:txBody>
      </p:sp>
      <p:sp>
        <p:nvSpPr>
          <p:cNvPr id="15" name="Rectangle 14"/>
          <p:cNvSpPr/>
          <p:nvPr/>
        </p:nvSpPr>
        <p:spPr>
          <a:xfrm>
            <a:off x="6217920" y="4069080"/>
            <a:ext cx="5303520" cy="146304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233672"/>
            <a:ext cx="1828800" cy="457200"/>
          </a:xfrm>
          <a:prstGeom prst="rect">
            <a:avLst/>
          </a:prstGeom>
          <a:noFill/>
        </p:spPr>
        <p:txBody>
          <a:bodyPr wrap="square" lIns="0" rIns="0" tIns="0" bIns="0">
            <a:spAutoFit/>
          </a:bodyPr>
          <a:lstStyle/>
          <a:p>
            <a:pPr algn="l">
              <a:lnSpc>
                <a:spcPct val="125000"/>
              </a:lnSpc>
              <a:spcAft>
                <a:spcPts val="200"/>
              </a:spcAft>
            </a:pPr>
            <a:r>
              <a:rPr sz="3000" b="1">
                <a:solidFill>
                  <a:srgbClr val="C0561B"/>
                </a:solidFill>
                <a:latin typeface="Calibri"/>
              </a:rPr>
              <a:t>3,101</a:t>
            </a:r>
          </a:p>
        </p:txBody>
      </p:sp>
      <p:sp>
        <p:nvSpPr>
          <p:cNvPr id="17" name="TextBox 16"/>
          <p:cNvSpPr txBox="1"/>
          <p:nvPr/>
        </p:nvSpPr>
        <p:spPr>
          <a:xfrm>
            <a:off x="6492240" y="4727448"/>
            <a:ext cx="4754880" cy="731520"/>
          </a:xfrm>
          <a:prstGeom prst="rect">
            <a:avLst/>
          </a:prstGeom>
          <a:noFill/>
        </p:spPr>
        <p:txBody>
          <a:bodyPr wrap="square" lIns="0" rIns="0" tIns="0" bIns="0">
            <a:spAutoFit/>
          </a:bodyPr>
          <a:lstStyle/>
          <a:p>
            <a:pPr algn="l">
              <a:lnSpc>
                <a:spcPct val="125000"/>
              </a:lnSpc>
              <a:spcAft>
                <a:spcPts val="600"/>
              </a:spcAft>
            </a:pPr>
            <a:r>
              <a:rPr sz="1250" b="0">
                <a:solidFill>
                  <a:srgbClr val="3C4644"/>
                </a:solidFill>
                <a:latin typeface="Calibri"/>
              </a:rPr>
              <a:t>articles across the two depots whose only event at the site was being delivered by it, and which the old figure counted as collected volume.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5 — WHAT IS STILL OPEN</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The gap we cannot explain yet</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058400" cy="457200"/>
          </a:xfrm>
          <a:prstGeom prst="rect">
            <a:avLst/>
          </a:prstGeom>
          <a:noFill/>
        </p:spPr>
        <p:txBody>
          <a:bodyPr wrap="square" lIns="0" rIns="0" tIns="0" bIns="0">
            <a:spAutoFit/>
          </a:bodyPr>
          <a:lstStyle/>
          <a:p>
            <a:pPr algn="l">
              <a:lnSpc>
                <a:spcPct val="125000"/>
              </a:lnSpc>
              <a:spcAft>
                <a:spcPts val="600"/>
              </a:spcAft>
            </a:pPr>
            <a:r>
              <a:rPr sz="1450" b="0">
                <a:solidFill>
                  <a:srgbClr val="3C4644"/>
                </a:solidFill>
                <a:latin typeface="Calibri"/>
              </a:rPr>
              <a:t>After the clean-up, Oakleigh South sits at 37% of its peak day and Dandenong South at 27%, while the other three van depots land at 71–81%.</a:t>
            </a:r>
          </a:p>
        </p:txBody>
      </p:sp>
      <p:sp>
        <p:nvSpPr>
          <p:cNvPr id="6" name="TextBox 5"/>
          <p:cNvSpPr txBox="1"/>
          <p:nvPr/>
        </p:nvSpPr>
        <p:spPr>
          <a:xfrm>
            <a:off x="640080" y="2514600"/>
            <a:ext cx="10881360" cy="274320"/>
          </a:xfrm>
          <a:prstGeom prst="rect">
            <a:avLst/>
          </a:prstGeom>
          <a:noFill/>
        </p:spPr>
        <p:txBody>
          <a:bodyPr wrap="square" lIns="0" rIns="0" tIns="0" bIns="0">
            <a:spAutoFit/>
          </a:bodyPr>
          <a:lstStyle/>
          <a:p>
            <a:pPr algn="l">
              <a:lnSpc>
                <a:spcPct val="125000"/>
              </a:lnSpc>
              <a:spcAft>
                <a:spcPts val="600"/>
              </a:spcAft>
            </a:pPr>
            <a:r>
              <a:rPr sz="1700" b="1">
                <a:solidFill>
                  <a:srgbClr val="151C1B"/>
                </a:solidFill>
                <a:latin typeface="Calibri"/>
              </a:rPr>
              <a:t>Neither depot has a sorting machine</a:t>
            </a:r>
          </a:p>
        </p:txBody>
      </p:sp>
      <p:sp>
        <p:nvSpPr>
          <p:cNvPr id="7" name="Rectangle 6"/>
          <p:cNvSpPr/>
          <p:nvPr/>
        </p:nvSpPr>
        <p:spPr>
          <a:xfrm>
            <a:off x="685800" y="2962656"/>
            <a:ext cx="82296" cy="82296"/>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880360"/>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There is not a single sorter scan anywhere in either depot's data — not just on the first scan, on any scan. That is why both show zero collections proven by the sorter.</a:t>
            </a:r>
          </a:p>
        </p:txBody>
      </p:sp>
      <p:sp>
        <p:nvSpPr>
          <p:cNvPr id="9" name="Rectangle 8"/>
          <p:cNvSpPr/>
          <p:nvPr/>
        </p:nvSpPr>
        <p:spPr>
          <a:xfrm>
            <a:off x="685800" y="3529584"/>
            <a:ext cx="82296" cy="82296"/>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447288"/>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Everywhere else the sorter is a second witness. At Bayswater, 22,841 of 30,444 collected articles are proven by the sorter rather than by a pickup scan. Melbourne North and Sunshine West are the same.</a:t>
            </a:r>
          </a:p>
        </p:txBody>
      </p:sp>
      <p:sp>
        <p:nvSpPr>
          <p:cNvPr id="11" name="Rectangle 10"/>
          <p:cNvSpPr/>
          <p:nvPr/>
        </p:nvSpPr>
        <p:spPr>
          <a:xfrm>
            <a:off x="685800" y="4096512"/>
            <a:ext cx="82296" cy="82296"/>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014216"/>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At these two depots there is only one witness — the driver's pickup scan. If a driver does not scan, the collection is invisible to us; the parcel first appears hours later at a hub, and the hub gets the credit.</a:t>
            </a:r>
          </a:p>
        </p:txBody>
      </p:sp>
      <p:sp>
        <p:nvSpPr>
          <p:cNvPr id="13" name="Rectangle 12"/>
          <p:cNvSpPr/>
          <p:nvPr/>
        </p:nvSpPr>
        <p:spPr>
          <a:xfrm>
            <a:off x="685800" y="4663440"/>
            <a:ext cx="82296" cy="82296"/>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581144"/>
            <a:ext cx="10058400" cy="457200"/>
          </a:xfrm>
          <a:prstGeom prst="rect">
            <a:avLst/>
          </a:prstGeom>
          <a:noFill/>
        </p:spPr>
        <p:txBody>
          <a:bodyPr wrap="square" lIns="0" rIns="0" tIns="0" bIns="0">
            <a:spAutoFit/>
          </a:bodyPr>
          <a:lstStyle/>
          <a:p>
            <a:pPr algn="l">
              <a:lnSpc>
                <a:spcPct val="125000"/>
              </a:lnSpc>
              <a:spcAft>
                <a:spcPts val="600"/>
              </a:spcAft>
            </a:pPr>
            <a:r>
              <a:rPr sz="1300" b="0">
                <a:solidFill>
                  <a:srgbClr val="3C4644"/>
                </a:solidFill>
                <a:latin typeface="Calibri"/>
              </a:rPr>
              <a:t>The scans we do see look right. Median pickup time 3pm at Oakleigh and 2pm at Dandenong, with most struck in the afternoon — exactly the shape of a van coming back off round.</a:t>
            </a:r>
          </a:p>
        </p:txBody>
      </p:sp>
      <p:sp>
        <p:nvSpPr>
          <p:cNvPr id="15" name="TextBox 14"/>
          <p:cNvSpPr txBox="1"/>
          <p:nvPr/>
        </p:nvSpPr>
        <p:spPr>
          <a:xfrm>
            <a:off x="640080" y="5349240"/>
            <a:ext cx="10881360" cy="274320"/>
          </a:xfrm>
          <a:prstGeom prst="rect">
            <a:avLst/>
          </a:prstGeom>
          <a:noFill/>
        </p:spPr>
        <p:txBody>
          <a:bodyPr wrap="square" lIns="0" rIns="0" tIns="0" bIns="0">
            <a:spAutoFit/>
          </a:bodyPr>
          <a:lstStyle/>
          <a:p>
            <a:pPr algn="l">
              <a:lnSpc>
                <a:spcPct val="125000"/>
              </a:lnSpc>
              <a:spcAft>
                <a:spcPts val="600"/>
              </a:spcAft>
            </a:pPr>
            <a:r>
              <a:rPr sz="1700" b="1">
                <a:solidFill>
                  <a:srgbClr val="151C1B"/>
                </a:solidFill>
                <a:latin typeface="Calibri"/>
              </a:rPr>
              <a:t>What we ruled out</a:t>
            </a:r>
          </a:p>
        </p:txBody>
      </p:sp>
      <p:sp>
        <p:nvSpPr>
          <p:cNvPr id="16" name="TextBox 15"/>
          <p:cNvSpPr txBox="1"/>
          <p:nvPr/>
        </p:nvSpPr>
        <p:spPr>
          <a:xfrm>
            <a:off x="640080" y="5715000"/>
            <a:ext cx="10881360" cy="731520"/>
          </a:xfrm>
          <a:prstGeom prst="rect">
            <a:avLst/>
          </a:prstGeom>
          <a:noFill/>
        </p:spPr>
        <p:txBody>
          <a:bodyPr wrap="square" lIns="0" rIns="0" tIns="0" bIns="0">
            <a:spAutoFit/>
          </a:bodyPr>
          <a:lstStyle/>
          <a:p>
            <a:pPr algn="l">
              <a:lnSpc>
                <a:spcPct val="125000"/>
              </a:lnSpc>
              <a:spcAft>
                <a:spcPts val="400"/>
              </a:spcAft>
            </a:pPr>
            <a:r>
              <a:rPr sz="1300" b="1">
                <a:solidFill>
                  <a:srgbClr val="3C4644"/>
                </a:solidFill>
                <a:latin typeface="Calibri"/>
              </a:rPr>
              <a:t>Not the product filter</a:t>
            </a:r>
            <a:r>
              <a:rPr sz="1300" b="0">
                <a:solidFill>
                  <a:srgbClr val="3C4644"/>
                </a:solidFill>
                <a:latin typeface="Calibri"/>
              </a:rPr>
              <a:t> — limiting to Parcel Post and Express Post costs 30 articles across both depots.</a:t>
            </a:r>
          </a:p>
          <a:p>
            <a:pPr algn="l">
              <a:lnSpc>
                <a:spcPct val="125000"/>
              </a:lnSpc>
              <a:spcAft>
                <a:spcPts val="400"/>
              </a:spcAft>
            </a:pPr>
            <a:r>
              <a:rPr sz="1300" b="1">
                <a:solidFill>
                  <a:srgbClr val="3C4644"/>
                </a:solidFill>
                <a:latin typeface="Calibri"/>
              </a:rPr>
              <a:t>Not the date</a:t>
            </a:r>
            <a:r>
              <a:rPr sz="1300" b="0">
                <a:solidFill>
                  <a:srgbClr val="3C4644"/>
                </a:solidFill>
                <a:latin typeface="Calibri"/>
              </a:rPr>
              <a:t> — every first scan in both extracts falls on 11 May.</a:t>
            </a:r>
          </a:p>
          <a:p>
            <a:pPr algn="l">
              <a:lnSpc>
                <a:spcPct val="125000"/>
              </a:lnSpc>
              <a:spcAft>
                <a:spcPts val="400"/>
              </a:spcAft>
            </a:pPr>
            <a:r>
              <a:rPr sz="1300" b="1">
                <a:solidFill>
                  <a:srgbClr val="3C4644"/>
                </a:solidFill>
                <a:latin typeface="Calibri"/>
              </a:rPr>
              <a:t>Not our own counting order</a:t>
            </a:r>
            <a:r>
              <a:rPr sz="1300" b="0">
                <a:solidFill>
                  <a:srgbClr val="3C4644"/>
                </a:solidFill>
                <a:latin typeface="Calibri"/>
              </a:rPr>
              <a:t> — both depots are counted before the hubs, so a hub is not taking their volume.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058400" cy="274320"/>
          </a:xfrm>
          <a:prstGeom prst="rect">
            <a:avLst/>
          </a:prstGeom>
          <a:noFill/>
        </p:spPr>
        <p:txBody>
          <a:bodyPr wrap="square" lIns="0" rIns="0" tIns="0" bIns="0">
            <a:spAutoFit/>
          </a:bodyPr>
          <a:lstStyle/>
          <a:p>
            <a:pPr algn="l">
              <a:lnSpc>
                <a:spcPct val="125000"/>
              </a:lnSpc>
              <a:spcAft>
                <a:spcPts val="600"/>
              </a:spcAft>
            </a:pPr>
            <a:r>
              <a:rPr sz="1100" b="1">
                <a:solidFill>
                  <a:srgbClr val="008C7A"/>
                </a:solidFill>
                <a:latin typeface="Calibri"/>
              </a:rPr>
              <a:t>6 — THE ASK</a:t>
            </a:r>
          </a:p>
        </p:txBody>
      </p:sp>
      <p:sp>
        <p:nvSpPr>
          <p:cNvPr id="3" name="TextBox 2"/>
          <p:cNvSpPr txBox="1"/>
          <p:nvPr/>
        </p:nvSpPr>
        <p:spPr>
          <a:xfrm>
            <a:off x="640080" y="685800"/>
            <a:ext cx="10881360" cy="640080"/>
          </a:xfrm>
          <a:prstGeom prst="rect">
            <a:avLst/>
          </a:prstGeom>
          <a:noFill/>
        </p:spPr>
        <p:txBody>
          <a:bodyPr wrap="square" lIns="0" rIns="0" tIns="0" bIns="0">
            <a:spAutoFit/>
          </a:bodyPr>
          <a:lstStyle/>
          <a:p>
            <a:pPr algn="l">
              <a:lnSpc>
                <a:spcPct val="100000"/>
              </a:lnSpc>
              <a:spcAft>
                <a:spcPts val="600"/>
              </a:spcAft>
            </a:pPr>
            <a:r>
              <a:rPr sz="3000" b="1">
                <a:solidFill>
                  <a:srgbClr val="151C1B"/>
                </a:solidFill>
                <a:latin typeface="Calibri"/>
              </a:rPr>
              <a:t>What to say, and what we need</a:t>
            </a:r>
          </a:p>
        </p:txBody>
      </p:sp>
      <p:sp>
        <p:nvSpPr>
          <p:cNvPr id="4" name="Rectangle 3"/>
          <p:cNvSpPr/>
          <p:nvPr/>
        </p:nvSpPr>
        <p:spPr>
          <a:xfrm>
            <a:off x="640080" y="1298448"/>
            <a:ext cx="10881360" cy="9525"/>
          </a:xfrm>
          <a:prstGeom prst="rect">
            <a:avLst/>
          </a:prstGeom>
          <a:solidFill>
            <a:srgbClr val="D5DA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920240"/>
            <a:ext cx="10881360" cy="2286000"/>
          </a:xfrm>
          <a:prstGeom prst="rect">
            <a:avLst/>
          </a:prstGeom>
          <a:solidFill>
            <a:srgbClr val="F4F5F4"/>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48840"/>
            <a:ext cx="10241280" cy="274320"/>
          </a:xfrm>
          <a:prstGeom prst="rect">
            <a:avLst/>
          </a:prstGeom>
          <a:noFill/>
        </p:spPr>
        <p:txBody>
          <a:bodyPr wrap="square" lIns="0" rIns="0" tIns="0" bIns="0">
            <a:spAutoFit/>
          </a:bodyPr>
          <a:lstStyle/>
          <a:p>
            <a:pPr algn="l">
              <a:lnSpc>
                <a:spcPct val="125000"/>
              </a:lnSpc>
              <a:spcAft>
                <a:spcPts val="600"/>
              </a:spcAft>
            </a:pPr>
            <a:r>
              <a:rPr sz="1600" b="1">
                <a:solidFill>
                  <a:srgbClr val="151C1B"/>
                </a:solidFill>
                <a:latin typeface="Calibri"/>
              </a:rPr>
              <a:t>Three sentences for the conversation</a:t>
            </a:r>
          </a:p>
        </p:txBody>
      </p:sp>
      <p:sp>
        <p:nvSpPr>
          <p:cNvPr id="7" name="Rectangle 6"/>
          <p:cNvSpPr/>
          <p:nvPr/>
        </p:nvSpPr>
        <p:spPr>
          <a:xfrm>
            <a:off x="1005840" y="2688336"/>
            <a:ext cx="82296" cy="82296"/>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06040"/>
            <a:ext cx="9784080" cy="457200"/>
          </a:xfrm>
          <a:prstGeom prst="rect">
            <a:avLst/>
          </a:prstGeom>
          <a:noFill/>
        </p:spPr>
        <p:txBody>
          <a:bodyPr wrap="square" lIns="0" rIns="0" tIns="0" bIns="0">
            <a:spAutoFit/>
          </a:bodyPr>
          <a:lstStyle/>
          <a:p>
            <a:pPr algn="l">
              <a:lnSpc>
                <a:spcPct val="125000"/>
              </a:lnSpc>
              <a:spcAft>
                <a:spcPts val="600"/>
              </a:spcAft>
            </a:pPr>
            <a:r>
              <a:rPr sz="1350" b="1">
                <a:solidFill>
                  <a:srgbClr val="3C4644"/>
                </a:solidFill>
                <a:latin typeface="Calibri"/>
              </a:rPr>
              <a:t>The measure is now clean.</a:t>
            </a:r>
            <a:r>
              <a:rPr sz="1350" b="0">
                <a:solidFill>
                  <a:srgbClr val="3C4644"/>
                </a:solidFill>
                <a:latin typeface="Calibri"/>
              </a:rPr>
              <a:t> 349,663 articles are collected across the seven sites on a normal Monday, and we no longer count a parcel as collected here when the only thing that happened to it was being delivered by us.</a:t>
            </a:r>
          </a:p>
        </p:txBody>
      </p:sp>
      <p:sp>
        <p:nvSpPr>
          <p:cNvPr id="9" name="Rectangle 8"/>
          <p:cNvSpPr/>
          <p:nvPr/>
        </p:nvSpPr>
        <p:spPr>
          <a:xfrm>
            <a:off x="1005840" y="3218688"/>
            <a:ext cx="82296" cy="82296"/>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136392"/>
            <a:ext cx="9784080" cy="457200"/>
          </a:xfrm>
          <a:prstGeom prst="rect">
            <a:avLst/>
          </a:prstGeom>
          <a:noFill/>
        </p:spPr>
        <p:txBody>
          <a:bodyPr wrap="square" lIns="0" rIns="0" tIns="0" bIns="0">
            <a:spAutoFit/>
          </a:bodyPr>
          <a:lstStyle/>
          <a:p>
            <a:pPr algn="l">
              <a:lnSpc>
                <a:spcPct val="125000"/>
              </a:lnSpc>
              <a:spcAft>
                <a:spcPts val="600"/>
              </a:spcAft>
            </a:pPr>
            <a:r>
              <a:rPr sz="1350" b="1">
                <a:solidFill>
                  <a:srgbClr val="3C4644"/>
                </a:solidFill>
                <a:latin typeface="Calibri"/>
              </a:rPr>
              <a:t>Oakleigh South and Dandenong South halved, and that correction is right.</a:t>
            </a:r>
            <a:r>
              <a:rPr sz="1350" b="0">
                <a:solidFill>
                  <a:srgbClr val="3C4644"/>
                </a:solidFill>
                <a:latin typeface="Calibri"/>
              </a:rPr>
              <a:t> 82–87% of what we cut was delivered by the depot's own vans.</a:t>
            </a:r>
          </a:p>
        </p:txBody>
      </p:sp>
      <p:sp>
        <p:nvSpPr>
          <p:cNvPr id="11" name="Rectangle 10"/>
          <p:cNvSpPr/>
          <p:nvPr/>
        </p:nvSpPr>
        <p:spPr>
          <a:xfrm>
            <a:off x="1005840" y="3749040"/>
            <a:ext cx="82296" cy="82296"/>
          </a:xfrm>
          <a:prstGeom prst="rect">
            <a:avLst/>
          </a:prstGeom>
          <a:solidFill>
            <a:srgbClr val="00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80160" y="3666744"/>
            <a:ext cx="9784080" cy="457200"/>
          </a:xfrm>
          <a:prstGeom prst="rect">
            <a:avLst/>
          </a:prstGeom>
          <a:noFill/>
        </p:spPr>
        <p:txBody>
          <a:bodyPr wrap="square" lIns="0" rIns="0" tIns="0" bIns="0">
            <a:spAutoFit/>
          </a:bodyPr>
          <a:lstStyle/>
          <a:p>
            <a:pPr algn="l">
              <a:lnSpc>
                <a:spcPct val="125000"/>
              </a:lnSpc>
              <a:spcAft>
                <a:spcPts val="600"/>
              </a:spcAft>
            </a:pPr>
            <a:r>
              <a:rPr sz="1350" b="1">
                <a:solidFill>
                  <a:srgbClr val="3C4644"/>
                </a:solidFill>
                <a:latin typeface="Calibri"/>
              </a:rPr>
              <a:t>Both still run at about half the rate of comparable depots, and neither has a sorting machine</a:t>
            </a:r>
            <a:r>
              <a:rPr sz="1350" b="0">
                <a:solidFill>
                  <a:srgbClr val="3C4644"/>
                </a:solidFill>
                <a:latin typeface="Calibri"/>
              </a:rPr>
              <a:t>, so a missed pickup scan makes a collection invisible to us.</a:t>
            </a:r>
          </a:p>
        </p:txBody>
      </p:sp>
      <p:sp>
        <p:nvSpPr>
          <p:cNvPr id="13" name="Rectangle 12"/>
          <p:cNvSpPr/>
          <p:nvPr/>
        </p:nvSpPr>
        <p:spPr>
          <a:xfrm>
            <a:off x="640080" y="4389120"/>
            <a:ext cx="10881360" cy="1600200"/>
          </a:xfrm>
          <a:prstGeom prst="rect">
            <a:avLst/>
          </a:prstGeom>
          <a:solidFill>
            <a:srgbClr val="FFFFFF"/>
          </a:solidFill>
          <a:ln w="9525">
            <a:solidFill>
              <a:srgbClr val="D5DA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617720"/>
            <a:ext cx="10241280" cy="274320"/>
          </a:xfrm>
          <a:prstGeom prst="rect">
            <a:avLst/>
          </a:prstGeom>
          <a:noFill/>
        </p:spPr>
        <p:txBody>
          <a:bodyPr wrap="square" lIns="0" rIns="0" tIns="0" bIns="0">
            <a:spAutoFit/>
          </a:bodyPr>
          <a:lstStyle/>
          <a:p>
            <a:pPr algn="l">
              <a:lnSpc>
                <a:spcPct val="125000"/>
              </a:lnSpc>
              <a:spcAft>
                <a:spcPts val="600"/>
              </a:spcAft>
            </a:pPr>
            <a:r>
              <a:rPr sz="1600" b="1">
                <a:solidFill>
                  <a:srgbClr val="151C1B"/>
                </a:solidFill>
                <a:latin typeface="Calibri"/>
              </a:rPr>
              <a:t>The one thing we need from operations</a:t>
            </a:r>
          </a:p>
        </p:txBody>
      </p:sp>
      <p:sp>
        <p:nvSpPr>
          <p:cNvPr id="15" name="TextBox 14"/>
          <p:cNvSpPr txBox="1"/>
          <p:nvPr/>
        </p:nvSpPr>
        <p:spPr>
          <a:xfrm>
            <a:off x="960120" y="5074920"/>
            <a:ext cx="9966960" cy="640080"/>
          </a:xfrm>
          <a:prstGeom prst="rect">
            <a:avLst/>
          </a:prstGeom>
          <a:noFill/>
        </p:spPr>
        <p:txBody>
          <a:bodyPr wrap="square" lIns="0" rIns="0" tIns="0" bIns="0">
            <a:spAutoFit/>
          </a:bodyPr>
          <a:lstStyle/>
          <a:p>
            <a:pPr algn="l">
              <a:lnSpc>
                <a:spcPct val="125000"/>
              </a:lnSpc>
              <a:spcAft>
                <a:spcPts val="600"/>
              </a:spcAft>
            </a:pPr>
            <a:r>
              <a:rPr sz="1350" b="0">
                <a:solidFill>
                  <a:srgbClr val="3C4644"/>
                </a:solidFill>
                <a:latin typeface="Calibri"/>
              </a:rPr>
              <a:t>Confirm whether Oakleigh South and Dandenong South drivers scan at pickup, or whether their collected freight is first scanned when it arrives at Dandenong LC. That answer either closes the gap or tells us the number is real — and it decides whether the model's collection volume at those two depots needs to be raised.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