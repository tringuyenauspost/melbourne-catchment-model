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D8590"/>
                </a:solidFill>
                <a:latin typeface="Consolas"/>
              </a:rPr>
              <a:t>MELBOURNE PARCEL NETWORK  ·  FOR OPTILOGIC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32304"/>
            <a:ext cx="9875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14171C"/>
                </a:solidFill>
                <a:latin typeface="Calibri"/>
              </a:rPr>
              <a:t>Source-to-sink, and how we implemented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03904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4A525C"/>
                </a:solidFill>
                <a:latin typeface="Calibri"/>
              </a:rPr>
              <a:t>Every parcel has a named origin and a named destination, and the path between them is a property of the product table — not of a constraint.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901184"/>
            <a:ext cx="1463040" cy="31750"/>
          </a:xfrm>
          <a:prstGeom prst="rect">
            <a:avLst/>
          </a:prstGeom>
          <a:solidFill>
            <a:srgbClr val="2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15721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D8590"/>
                </a:solidFill>
                <a:latin typeface="Consolas"/>
              </a:rPr>
              <a:t>melbourne-optilogic-manager-sourcing-terminating     ·     4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THE RULE WE BUILD 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Two tables make a source. Two make a sink. Nothing else does.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Everything in between is conserved flow through 1:1 transforms, and an intermediate state may never ride a lane.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20240"/>
            <a:ext cx="3472586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3472586" cy="38100"/>
          </a:xfrm>
          <a:prstGeom prst="rect">
            <a:avLst/>
          </a:prstGeom>
          <a:solidFill>
            <a:srgbClr val="2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39696"/>
            <a:ext cx="30702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5FA8"/>
                </a:solidFill>
                <a:latin typeface="Consola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32304"/>
            <a:ext cx="30702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71C"/>
                </a:solidFill>
                <a:latin typeface="Calibri"/>
              </a:rPr>
              <a:t>Suppliers  +  SupplierCapabilities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962656"/>
            <a:ext cx="307025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A525C"/>
                </a:solidFill>
                <a:latin typeface="Calibri"/>
              </a:rPr>
              <a:t>Three supplier families: catchment lodgement, interstate arrivals at a hub, and yesterday's holding at a depot. Supply rows are CAPS.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9554" y="1920240"/>
            <a:ext cx="3472586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9554" y="1920240"/>
            <a:ext cx="3472586" cy="38100"/>
          </a:xfrm>
          <a:prstGeom prst="rect">
            <a:avLst/>
          </a:prstGeom>
          <a:solidFill>
            <a:srgbClr val="7D8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0722" y="2139696"/>
            <a:ext cx="30702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D8590"/>
                </a:solidFill>
                <a:latin typeface="Consolas"/>
              </a:rPr>
              <a:t>BETWEEN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0722" y="2432304"/>
            <a:ext cx="30702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71C"/>
                </a:solidFill>
                <a:latin typeface="Calibri"/>
              </a:rPr>
              <a:t>Products  +  BillOfMaterials  +  ProductionPolicies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0722" y="2962656"/>
            <a:ext cx="307025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A525C"/>
                </a:solidFill>
                <a:latin typeface="Calibri"/>
              </a:rPr>
              <a:t>Every transform is 1:1 — a parcel becomes the same parcel in a later state. A state exists only where a recipe and a machine both allow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0740" y="1920240"/>
            <a:ext cx="3472586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0740" y="1920240"/>
            <a:ext cx="3472586" cy="38100"/>
          </a:xfrm>
          <a:prstGeom prst="rect">
            <a:avLst/>
          </a:prstGeom>
          <a:solidFill>
            <a:srgbClr val="C2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1908" y="2139696"/>
            <a:ext cx="30702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571F"/>
                </a:solidFill>
                <a:latin typeface="Consolas"/>
              </a:rPr>
              <a:t>SINK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432304"/>
            <a:ext cx="30702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71C"/>
                </a:solidFill>
                <a:latin typeface="Calibri"/>
              </a:rPr>
              <a:t>Customers  +  CustomerDemand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1908" y="2962656"/>
            <a:ext cx="307025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A525C"/>
                </a:solidFill>
                <a:latin typeface="Calibri"/>
              </a:rPr>
              <a:t>Delivery zones, the interstate handover, and the on-site overnight keep. Demand rows are EQUALITIES.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04164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D8590"/>
                </a:solidFill>
                <a:latin typeface="Consolas"/>
              </a:rPr>
              <a:t>THE BALANCE IDENTITY, CHECKED AT BUILD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352544"/>
            <a:ext cx="10874959" cy="841248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480560"/>
            <a:ext cx="10607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8590"/>
                </a:solidFill>
                <a:latin typeface="Consolas"/>
              </a:rPr>
              <a:t>collected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700016"/>
            <a:ext cx="10607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A5FA8"/>
                </a:solidFill>
                <a:latin typeface="Consolas"/>
              </a:rPr>
              <a:t>46,491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48256" y="4590288"/>
            <a:ext cx="2194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7D8590"/>
                </a:solidFill>
                <a:latin typeface="Consolas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14016" y="4480560"/>
            <a:ext cx="10607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8590"/>
                </a:solidFill>
                <a:latin typeface="Consolas"/>
              </a:rPr>
              <a:t>arrived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14016" y="4700016"/>
            <a:ext cx="10607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2571F"/>
                </a:solidFill>
                <a:latin typeface="Consolas"/>
              </a:rPr>
              <a:t>162,796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9584" y="4590288"/>
            <a:ext cx="2194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7D8590"/>
                </a:solidFill>
                <a:latin typeface="Consolas"/>
              </a:rP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95344" y="4480560"/>
            <a:ext cx="10607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8590"/>
                </a:solidFill>
                <a:latin typeface="Consolas"/>
              </a:rPr>
              <a:t>staged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95344" y="4700016"/>
            <a:ext cx="10607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4A3AA7"/>
                </a:solidFill>
                <a:latin typeface="Consolas"/>
              </a:rPr>
              <a:t>4,635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0912" y="4590288"/>
            <a:ext cx="2194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71C"/>
                </a:solidFill>
                <a:latin typeface="Consolas"/>
              </a:rPr>
              <a:t>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76672" y="4480560"/>
            <a:ext cx="10607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8590"/>
                </a:solidFill>
                <a:latin typeface="Consolas"/>
              </a:rPr>
              <a:t>delivered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6672" y="4700016"/>
            <a:ext cx="10607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2571F"/>
                </a:solidFill>
                <a:latin typeface="Consolas"/>
              </a:rPr>
              <a:t>167,431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590288"/>
            <a:ext cx="2194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7D8590"/>
                </a:solidFill>
                <a:latin typeface="Consolas"/>
              </a:rP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480560"/>
            <a:ext cx="10607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8590"/>
                </a:solidFill>
                <a:latin typeface="Consolas"/>
              </a:rPr>
              <a:t>exported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700016"/>
            <a:ext cx="10607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A5FA8"/>
                </a:solidFill>
                <a:latin typeface="Consolas"/>
              </a:rPr>
              <a:t>41,856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73568" y="4590288"/>
            <a:ext cx="2194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7D8590"/>
                </a:solidFill>
                <a:latin typeface="Consolas"/>
              </a:rPr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8" y="4480560"/>
            <a:ext cx="10607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8590"/>
                </a:solidFill>
                <a:latin typeface="Consolas"/>
              </a:rPr>
              <a:t>kept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4700016"/>
            <a:ext cx="10607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4A3AA7"/>
                </a:solidFill>
                <a:latin typeface="Consolas"/>
              </a:rPr>
              <a:t>4,635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468112"/>
            <a:ext cx="10874959" cy="713232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5468112"/>
            <a:ext cx="38100" cy="71323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5586984"/>
            <a:ext cx="1058235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525C"/>
                </a:solidFill>
                <a:latin typeface="Calibri"/>
              </a:rPr>
              <a:t>Because both sides are named, a parcel collected in Melbourne can be shown to leave the state — it is not merely cheaper for it to do so. In the untagged model the identity closed either way, which is why the leak was invisible for weeks.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THE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Three product families that share no state past the pickup dock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A family is a set of product names. Because they share no state, no cost or constraint is needed to keep them apart — the wrong path simply does not exist.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4708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5FA8"/>
                </a:solidFill>
                <a:latin typeface="Consolas"/>
              </a:rPr>
              <a:t>PICKUP   75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5888" y="1847088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D8590"/>
                </a:solidFill>
                <a:latin typeface="Consolas"/>
              </a:rPr>
              <a:t>&lt;class&gt;_&lt;cluster&gt;_*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21408"/>
            <a:ext cx="1770583" cy="457200"/>
          </a:xfrm>
          <a:prstGeom prst="rect">
            <a:avLst/>
          </a:prstGeom>
          <a:solidFill>
            <a:srgbClr val="2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189988"/>
            <a:ext cx="1679143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Consolas"/>
              </a:rPr>
              <a:t>SUP_PKP_&lt;catchment&gt;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8951" y="221284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9243" y="2121408"/>
            <a:ext cx="177058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4963" y="2189988"/>
            <a:ext cx="1679143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>
                <a:solidFill>
                  <a:srgbClr val="14171C"/>
                </a:solidFill>
                <a:latin typeface="Consolas"/>
              </a:rPr>
              <a:t>Pickup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9826" y="221284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0118" y="2121408"/>
            <a:ext cx="177058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5838" y="2189988"/>
            <a:ext cx="1679143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>
                <a:solidFill>
                  <a:srgbClr val="14171C"/>
                </a:solidFill>
                <a:latin typeface="Consolas"/>
              </a:rPr>
              <a:t>Unloaded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0701" y="221284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993" y="2121408"/>
            <a:ext cx="177058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6713" y="2189988"/>
            <a:ext cx="1679143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>
                <a:solidFill>
                  <a:srgbClr val="14171C"/>
                </a:solidFill>
                <a:latin typeface="Consolas"/>
              </a:rPr>
              <a:t>Sorted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576" y="221284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1868" y="2121408"/>
            <a:ext cx="177058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87588" y="2189988"/>
            <a:ext cx="1679143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14171C"/>
                </a:solidFill>
                <a:latin typeface="Consolas"/>
              </a:rPr>
              <a:t>Despatch1_&lt;hub&gt;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2451" y="221284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62743" y="2121408"/>
            <a:ext cx="1770583" cy="457200"/>
          </a:xfrm>
          <a:prstGeom prst="rect">
            <a:avLst/>
          </a:prstGeom>
          <a:solidFill>
            <a:srgbClr val="2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08463" y="2189988"/>
            <a:ext cx="1679143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Consolas"/>
              </a:rPr>
              <a:t>CZ_Interstate_&lt;hub&gt;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633472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D8590"/>
                </a:solidFill>
                <a:latin typeface="Calibri"/>
              </a:rPr>
              <a:t>7 origin clusters  ·  TERMINAL: no round-2 recipe consumes it  ·  the ~20% kept on site branches at Sort0 to CZ_LocalTerm_&lt;depot&gt;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94436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571F"/>
                </a:solidFill>
                <a:latin typeface="Consolas"/>
              </a:rPr>
              <a:t>INTERSTATE   23 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8" y="2944368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D8590"/>
                </a:solidFill>
                <a:latin typeface="Consolas"/>
              </a:rPr>
              <a:t>&lt;class&gt;_INTERSTATE_*  ›  &lt;class&gt;_INTERSTATE_&lt;hub&gt;_*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218688"/>
            <a:ext cx="1042233" cy="457200"/>
          </a:xfrm>
          <a:prstGeom prst="rect">
            <a:avLst/>
          </a:prstGeom>
          <a:solidFill>
            <a:srgbClr val="C2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3287268"/>
            <a:ext cx="950793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SUP_INT_&lt;hub&gt;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601" y="331012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0893" y="3218688"/>
            <a:ext cx="104223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96613" y="3287268"/>
            <a:ext cx="950793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>
                <a:solidFill>
                  <a:srgbClr val="14171C"/>
                </a:solidFill>
                <a:latin typeface="Consolas"/>
              </a:rPr>
              <a:t>Pickup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93126" y="331012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43418" y="3218688"/>
            <a:ext cx="104223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9138" y="3287268"/>
            <a:ext cx="950793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>
                <a:solidFill>
                  <a:srgbClr val="14171C"/>
                </a:solidFill>
                <a:latin typeface="Consolas"/>
              </a:rPr>
              <a:t>Unloaded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5651" y="331012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5943" y="3218688"/>
            <a:ext cx="104223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81663" y="3287268"/>
            <a:ext cx="950793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>
                <a:solidFill>
                  <a:srgbClr val="14171C"/>
                </a:solidFill>
                <a:latin typeface="Consolas"/>
              </a:rPr>
              <a:t>Sorted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8176" y="331012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8468" y="3218688"/>
            <a:ext cx="104223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188" y="3287268"/>
            <a:ext cx="950793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14171C"/>
                </a:solidFill>
                <a:latin typeface="Consolas"/>
              </a:rPr>
              <a:t>Despatch1_&lt;hub&gt;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70701" y="331012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0993" y="3218688"/>
            <a:ext cx="104223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6713" y="3287268"/>
            <a:ext cx="950793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>
                <a:solidFill>
                  <a:srgbClr val="14171C"/>
                </a:solidFill>
                <a:latin typeface="Consolas"/>
              </a:rPr>
              <a:t>Unloaded2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63226" y="331012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13518" y="3218688"/>
            <a:ext cx="104223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59238" y="3287268"/>
            <a:ext cx="950793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>
                <a:solidFill>
                  <a:srgbClr val="14171C"/>
                </a:solidFill>
                <a:latin typeface="Consolas"/>
              </a:rPr>
              <a:t>Sorted2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55751" y="331012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06043" y="3218688"/>
            <a:ext cx="104223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51763" y="3287268"/>
            <a:ext cx="950793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>
                <a:solidFill>
                  <a:srgbClr val="14171C"/>
                </a:solidFill>
                <a:latin typeface="Consolas"/>
              </a:rPr>
              <a:t>Despatch2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48276" y="331012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98568" y="3218688"/>
            <a:ext cx="104223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44288" y="3287268"/>
            <a:ext cx="950793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>
                <a:solidFill>
                  <a:srgbClr val="14171C"/>
                </a:solidFill>
                <a:latin typeface="Consolas"/>
              </a:rPr>
              <a:t>Delivered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40801" y="331012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491093" y="3218688"/>
            <a:ext cx="1042233" cy="457200"/>
          </a:xfrm>
          <a:prstGeom prst="rect">
            <a:avLst/>
          </a:prstGeom>
          <a:solidFill>
            <a:srgbClr val="C2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36813" y="3287268"/>
            <a:ext cx="950793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CZ_&lt;zone&gt;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3730752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D8590"/>
                </a:solidFill>
                <a:latin typeface="Calibri"/>
              </a:rPr>
              <a:t>the only family that takes a second sort and reaches a delivery zone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404164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3AA7"/>
                </a:solidFill>
                <a:latin typeface="Consolas"/>
              </a:rPr>
              <a:t>STAGE   12 products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75888" y="4041648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D8590"/>
                </a:solidFill>
                <a:latin typeface="Consolas"/>
              </a:rPr>
              <a:t>&lt;class&gt;_STG_&lt;cluster&gt;_*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4315968"/>
            <a:ext cx="2681020" cy="4572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4088" y="4384548"/>
            <a:ext cx="25895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FFFFFF"/>
                </a:solidFill>
                <a:latin typeface="Consolas"/>
              </a:rPr>
              <a:t>SUP_STAGE_&lt;depot&gt;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9388" y="440740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89680" y="4315968"/>
            <a:ext cx="26810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35400" y="4384548"/>
            <a:ext cx="25895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>
                <a:solidFill>
                  <a:srgbClr val="14171C"/>
                </a:solidFill>
                <a:latin typeface="Consolas"/>
              </a:rPr>
              <a:t>Despatch2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70700" y="440740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0992" y="4315968"/>
            <a:ext cx="26810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66712" y="4384548"/>
            <a:ext cx="25895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>
                <a:solidFill>
                  <a:srgbClr val="14171C"/>
                </a:solidFill>
                <a:latin typeface="Consolas"/>
              </a:rPr>
              <a:t>Delivered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02012" y="4407408"/>
            <a:ext cx="50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›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52304" y="4315968"/>
            <a:ext cx="2681020" cy="4572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98024" y="4384548"/>
            <a:ext cx="25895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CZ_&lt;zone&gt;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4828032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D8590"/>
                </a:solidFill>
                <a:latin typeface="Calibri"/>
              </a:rPr>
              <a:t>supplied delivery-ready  ·  never touches a hub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" y="5138928"/>
            <a:ext cx="10874959" cy="658368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58368" y="5138928"/>
            <a:ext cx="38100" cy="658368"/>
          </a:xfrm>
          <a:prstGeom prst="rect">
            <a:avLst/>
          </a:prstGeom>
          <a:solidFill>
            <a:srgbClr val="C2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4672" y="5257800"/>
            <a:ext cx="10582351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525C"/>
                </a:solidFill>
                <a:latin typeface="Calibri"/>
              </a:rPr>
              <a:t>The hub is written into the name at Despatch1 and survives all the way to Delivered. That is what gives interstate volume a traceable source-to-sink path — and it is why no hub is ever granted the recipe for the flavour it sorted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THE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Constrain by splitting the product, not by adding a constraint 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Three guarantees, three times we reached for a FlowConstraint first, three times the product split was both smaller and stronger.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5167" y="1883664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65760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What had to be guaranteed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The constraint-row way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What we did instead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A5FA8"/>
                          </a:solidFill>
                          <a:latin typeface="Calibri"/>
                        </a:rPr>
                        <a:t>All collected volume leaves the state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pin the demand and rely on cost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pickup products are given no round-2 recipe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impossible, not expensive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C2571F"/>
                          </a:solidFill>
                          <a:latin typeface="Calibri"/>
                        </a:rPr>
                        <a:t>The two sorts happen at two different sites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a rule per hub pair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Despatch1_&lt;hub&gt;; no hub gets its own flavour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0 same-site paths exist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4A3AA7"/>
                          </a:solidFill>
                          <a:latin typeface="Calibri"/>
                        </a:rPr>
                        <a:t>60 / 40 ULD vs long-reach on arrivals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12 FlowConstraint rows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split the arrival product by presentation, one unload recipe each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96-100% -&gt; exactly 60.0%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4114800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D8590"/>
                </a:solidFill>
                <a:latin typeface="Consolas"/>
              </a:rPr>
              <a:t>WHY THE THIRD ONE MATTERS TO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40740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A525C"/>
                </a:solidFill>
                <a:latin typeface="Calibri"/>
              </a:rPr>
              <a:t>Those 12 rows bound nothing, and the solved run came back 96-100% ULD against a stated 20-80% band. Three independent reasons: they named the OUTPUT both recipes produce identically; origin and destination were the same hub, so the lane did not exist; and a FlowConstraint acts on lanes while an intermediate state rides none. Splitting the arrival product made the ratio exact with no constraint at 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486400"/>
            <a:ext cx="10874959" cy="658368"/>
          </a:xfrm>
          <a:prstGeom prst="rect">
            <a:avLst/>
          </a:prstGeom>
          <a:solidFill>
            <a:srgbClr val="F2F4F3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486400"/>
            <a:ext cx="38100" cy="65836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05272"/>
            <a:ext cx="10582351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525C"/>
                </a:solidFill>
                <a:latin typeface="Calibri"/>
              </a:rPr>
              <a:t>Follow-on trap, worth an hour of your time: supply headroom is inert only while a product is the ONLY route to its sink. Split it to pin a ratio and the headroom becomes the ratio's error bar — ours came back 58-63% until we removed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WHAT IT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4171C"/>
                </a:solidFill>
                <a:latin typeface="Calibri"/>
              </a:rPr>
              <a:t>15 constraint rows in a 5,342-lane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525C"/>
                </a:solidFill>
                <a:latin typeface="Calibri"/>
              </a:rPr>
              <a:t>Tracing origin to destination is paid for in the demand and lane tables. Everywhere else the guarantees made the model smaller.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74959" cy="1524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5167" y="1883664"/>
          <a:ext cx="10881360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69494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Anura table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D8590"/>
                          </a:solidFill>
                          <a:latin typeface="Calibri"/>
                        </a:rPr>
                        <a:t>How it is built</a:t>
                      </a:r>
                    </a:p>
                  </a:txBody>
                  <a:tcPr marL="91440" marR="91440" marT="27432" marB="27432" anchor="ctr">
                    <a:solidFill>
                      <a:srgbClr val="F2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71C"/>
                          </a:solidFill>
                          <a:latin typeface="Calibri"/>
                        </a:rPr>
                        <a:t>Products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generated from chain x family x state x tag — nobody types a product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71C"/>
                          </a:solidFill>
                          <a:latin typeface="Calibri"/>
                        </a:rPr>
                        <a:t>BillOfMaterials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one row per 1:1 transform; the guarantees live in the recipes we WITHHOLD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71C"/>
                          </a:solidFill>
                          <a:latin typeface="Calibri"/>
                        </a:rPr>
                        <a:t>ProductionPolicies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317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recipe x site x machine — the permission list, fully derived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71C"/>
                          </a:solidFill>
                          <a:latin typeface="Calibri"/>
                        </a:rPr>
                        <a:t>TransportationPolicies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5,342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9 legs, generated combinatorially, distance from coordinates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71C"/>
                          </a:solidFill>
                          <a:latin typeface="Calibri"/>
                        </a:rPr>
                        <a:t>CustomerDemand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4,062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one row per zone x class x origin it may be served from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71C"/>
                          </a:solidFill>
                          <a:latin typeface="Calibri"/>
                        </a:rPr>
                        <a:t>FlowConstraints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A525C"/>
                          </a:solidFill>
                          <a:latin typeface="Calibri"/>
                        </a:rPr>
                        <a:t>14 pickup pins + 1 cap on the off-hub sort site. That is all.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46817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D8590"/>
                </a:solidFill>
                <a:latin typeface="Consolas"/>
              </a:rPr>
              <a:t>WHAT KEEPS IT HONEST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956048"/>
            <a:ext cx="350306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084064"/>
            <a:ext cx="313730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4171C"/>
                </a:solidFill>
                <a:latin typeface="Consolas"/>
              </a:rPr>
              <a:t>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504688"/>
            <a:ext cx="313730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assertions in the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760720"/>
            <a:ext cx="31373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25C"/>
                </a:solidFill>
                <a:latin typeface="Calibri"/>
              </a:rPr>
              <a:t>Every one exists because it caught something real. A build that violates a guarantee fails here, not in Cosmic Frog.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4314" y="4956048"/>
            <a:ext cx="350306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7194" y="5084064"/>
            <a:ext cx="313730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4171C"/>
                </a:solidFill>
                <a:latin typeface="Consola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7194" y="5504688"/>
            <a:ext cx="313730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invented origin-destination cells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7194" y="5760720"/>
            <a:ext cx="31373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25C"/>
                </a:solidFill>
                <a:latin typeface="Calibri"/>
              </a:rPr>
              <a:t>The delivery sourcing rule makes the origin matrix derived. The alternative needs 88 numbers we do not have.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0260" y="4956048"/>
            <a:ext cx="350306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3140" y="5084064"/>
            <a:ext cx="313730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4171C"/>
                </a:solidFill>
                <a:latin typeface="Consolas"/>
              </a:rPr>
              <a:t>1:1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3140" y="5504688"/>
            <a:ext cx="313730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8590"/>
                </a:solidFill>
                <a:latin typeface="Consolas"/>
              </a:rPr>
              <a:t>every 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3140" y="5760720"/>
            <a:ext cx="31373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25C"/>
                </a:solidFill>
                <a:latin typeface="Calibri"/>
              </a:rPr>
              <a:t>No yield, no consolidation, no loss. Volume in equals volume out at every step, so the identity is checkable by hand.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