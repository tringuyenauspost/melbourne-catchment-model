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C5C6"/>
                </a:solidFill>
                <a:latin typeface="Segoe UI"/>
              </a:rPr>
              <a:t>OPTILOGIC COACHING CADENCE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6984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Melbourne Parcel 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CFDAE4"/>
                </a:solidFill>
                <a:latin typeface="Segoe UI"/>
              </a:rPr>
              <a:t>Single-stream baseline — architecture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B6C4D1"/>
                </a:solidFill>
                <a:latin typeface="Segoe UI"/>
              </a:rPr>
              <a:t>What we built, and the questions we need Optilogic to confirm or correct.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6B7682"/>
                </a:solidFill>
                <a:latin typeface="Segoe UI"/>
              </a:rPr>
              <a:t>Cosmic Frog (Anura schema · NEO solver)   |   17 input tables · 51 work centres · ~3,400 lanes   |   Wed session, Week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Single-stream flow: one day, sources = sinks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623560" cy="3703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End-to-end stream (mirrors ops A1→A5)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11096"/>
            <a:ext cx="5029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A1  First mile   </a:t>
            </a:r>
            <a:r>
              <a:rPr sz="1050" b="0">
                <a:solidFill>
                  <a:srgbClr val="3A4A5A"/>
                </a:solidFill>
                <a:latin typeface="Segoe UI"/>
              </a:rPr>
              <a:t>411 catchments → 7 first-mile sites. Pickup is pinned data, not a solver choice.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5029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A2  Inbound   </a:t>
            </a:r>
            <a:r>
              <a:rPr sz="1050" b="0">
                <a:solidFill>
                  <a:srgbClr val="3A4A5A"/>
                </a:solidFill>
                <a:latin typeface="Segoe UI"/>
              </a:rPr>
              <a:t>Bag-unload at 3 sorting PUDs; hubs unload everything (loose / ULD / long-reach).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45536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5029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A3  Sortation   </a:t>
            </a:r>
            <a:r>
              <a:rPr sz="1050" b="0">
                <a:solidFill>
                  <a:srgbClr val="3A4A5A"/>
                </a:solidFill>
                <a:latin typeface="Segoe UI"/>
              </a:rPr>
              <a:t>Sorting PUDs keep 20% locally, linehaul 80% raw; hubs sort the rest (+10% manual floor).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21608"/>
            <a:ext cx="5029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A4  Outbound   </a:t>
            </a:r>
            <a:r>
              <a:rPr sz="1050" b="0">
                <a:solidFill>
                  <a:srgbClr val="3A4A5A"/>
                </a:solidFill>
                <a:latin typeface="Segoe UI"/>
              </a:rPr>
              <a:t>Hubs load; delivery PUDs self-load — drivers 80/hr × 2h wave, 160/van.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52544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25112"/>
            <a:ext cx="5029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A5  Middle &amp; last mile   </a:t>
            </a:r>
            <a:r>
              <a:rPr sz="1050" b="0">
                <a:solidFill>
                  <a:srgbClr val="3A4A5A"/>
                </a:solidFill>
                <a:latin typeface="Segoe UI"/>
              </a:rPr>
              <a:t>PUD↔hub linehaul (treat-as-full); last mile White Van 160/trip.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5330952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Steady-state balance  ·  P + IN + stage = D + OUT +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2468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Sources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965960"/>
            <a:ext cx="457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192024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Sinks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1965960"/>
            <a:ext cx="1371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50008"/>
            <a:ext cx="2468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P  first-mile pickup (pinned)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350008"/>
            <a:ext cx="457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83,715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50008"/>
            <a:ext cx="192024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D  delivery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2350008"/>
            <a:ext cx="1371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167,431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34056"/>
            <a:ext cx="2468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IN  interstate arrivals (cap)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734056"/>
            <a:ext cx="457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125,572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734056"/>
            <a:ext cx="192024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OUT  interstate despatch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2734056"/>
            <a:ext cx="1371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41,852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118103"/>
            <a:ext cx="2468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stage  yesterday kept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18103"/>
            <a:ext cx="457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8,348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18103"/>
            <a:ext cx="192024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L  today kept locally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3118103"/>
            <a:ext cx="1371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8,348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502151"/>
            <a:ext cx="2468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502151"/>
            <a:ext cx="457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217,635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502151"/>
            <a:ext cx="192024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3502151"/>
            <a:ext cx="1371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217,631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50208"/>
            <a:ext cx="48920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023360"/>
            <a:ext cx="457200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Conservation by construction: </a:t>
            </a:r>
            <a:r>
              <a:rPr sz="1050" b="0">
                <a:solidFill>
                  <a:srgbClr val="3A4A5A"/>
                </a:solidFill>
                <a:latin typeface="Segoe UI"/>
              </a:rPr>
              <a:t>each parcel tracked through states Pickup→Unloaded→Sorted→Despatch→Delivered (8 BOMs, all 1:1). No lanes on intermediates — volume cannot skip a stage or double-count. Asserted at build time.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Schema, capacities &amp; processing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09728" cy="260604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8737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Network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873752" cy="1965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17 facilities: 4 hubs · 11 delivery PUDs · 2 transport sites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411 pickup catchments · 1,046 delivery zones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51 work centres · 85 processes · ~218k parcels/day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10 products (PP ~86% / EP ~14%) · 8 BOMs (1:1)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109728" cy="260604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81328"/>
            <a:ext cx="48737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Processing / throughput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873752" cy="1965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F2E4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Hub unload &amp; load: loose 15k · ULD 55k · long-reach 35k /day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F2E4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Auto sort: rate × 20 h window (e.g. Melb Parcel 300k/day)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F2E4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Manual sort: cap 25k, min 5,023 forced (10% non-machinable)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F2E4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Bag unload: 25k/day (placeholder rate)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114800"/>
            <a:ext cx="109728" cy="26060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24528"/>
            <a:ext cx="48737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Capacity levers set in 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4873752" cy="1965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throughputcapacity on WCs (EA/day basis)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processingrate on sort/load activities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Facility throughput caps (PUD_CAPACITY): 3,885 → 55,767/day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Driver capacity: ceil(demand/160), 1,052 waves/day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1148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114800"/>
            <a:ext cx="109728" cy="2606040"/>
          </a:xfrm>
          <a:prstGeom prst="rect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24528"/>
            <a:ext cx="48737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What binds vs what doesn't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4873752" cy="1965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B7682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Sorter machinery is NOT binding (rate × 20h ≫ volume)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B7682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Binding: facility caps, manual floor, driver capacity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B7682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→ sort cost rates (placeholders) will decide machine mix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B7682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Bayswater / Oakleigh caps lifted after NEO infeasibility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Cost structure &amp; business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6235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8A8C"/>
                </a:solidFill>
                <a:latin typeface="Segoe UI"/>
              </a:rPr>
              <a:t>Cost stack (mixed bases)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206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Activity / handling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variable $/EA (e.g. $0.50/parcel driver load = $40/h ÷ 80/hr; bag unload $0.03)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51206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Fixed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per-day = annual ÷ 252 on WCs, plus Fixed_Cost StepCosts curves on 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18104"/>
            <a:ext cx="51206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Transport cost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linehaul treat-as-full = per-trip fixedcost × ceil(flow / avg shipment); vans/red-van prorated (linear)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9896"/>
            <a:ext cx="51206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Transport modes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Rigid 1,500 / 12-Tonner 2,500 / B-Double 4,000; White Van 160/trip; $/km placeholders (0.7–1.3)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61688"/>
            <a:ext cx="51206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Transport time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haversine distance (not road km) — understated, flagged for Week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5330952" cy="3703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81328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7A1E"/>
                </a:solidFill>
                <a:latin typeface="Segoe UI"/>
              </a:rPr>
              <a:t>Business logic (design rules — agreed)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493776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80/20 keep: sorting PUDs keep exactly 20% locally (terminates free), linehaul 80% raw. Currently emergent, not a native ratio constraint.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Pickup pinned exactly to catchments (supply = min at each site).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10% manual-sort floor: MinimumThroughput 5,023/hub forces flow.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Consolidation floors: min 500/lane (scaled down for small PUDs) as a frequency proxy — we watched them bind at exactly 500.0.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Interstate only at 4 hubs, weighted by sorter capacity.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Boundary sinks/sources modelled as co-located suppliers/customers (zero-distance handovers).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252 working days for annualised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WEEK 1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Today's agenda — get their blessing or objections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4A5A"/>
                </a:solidFill>
                <a:latin typeface="Segoe UI"/>
              </a:rPr>
              <a:t>Objective: Optilogic confirms — or corrects — the modelling architecture before we build further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39112"/>
            <a:ext cx="10058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Architecture validation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Single-stream flow + structure best-practice; processing state chain; boundary sink/source constructs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18104"/>
            <a:ext cx="10058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Schema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Throughput capacity, processing rate &amp; other capacity params across stages and facilities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78224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97096"/>
            <a:ext cx="10058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Cost 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Activity + transport cost + transport time + linehaul mode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57216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85816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76088"/>
            <a:ext cx="10058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Business rules &amp; infeasibility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Ratio/floor constraints; infeasibility debugging; constraints in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FOUNDATIONAL QUESTION — PARCEL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How is a parcel's origin → destination decided?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A5A"/>
                </a:solidFill>
                <a:latin typeface="Segoe UI"/>
              </a:rPr>
              <a:t>Defines what the model can answer — e.g. can we say “20% of Bayswater pickup → Sunshine West, 20% → Dandenong, 60% interstate”?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623560" cy="411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623560" cy="41148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5303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HOW IT WORKS NOW  ·  state-based fungible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E4E"/>
                </a:solidFill>
                <a:latin typeface="Segoe UI"/>
              </a:rPr>
              <a:t>Products encode STATE × CLASS — never identity: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Pickup → Unload → Sort → Despatch → Delivered  (× PP/EP)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257800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A parcel becomes anonymous the instant it's picked up — one Bayswater Pickup_PP is identical to one Sunshine West Pickup_PP. No origin tag, no destination tag.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Pickup (411 catchments) and Delivery (1,046 zones) are pinned separately; they balance only in aggregate (P+IN+stage = D+OUT+L).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In between, one shared pool — any pickup can satisfy any delivery.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>
                <a:solidFill>
                  <a:srgbClr val="3A4A5A"/>
                </a:solidFill>
                <a:latin typeface="Segoe UI"/>
              </a:rPr>
              <a:t>The solver picks the path by minimum cost, not by any OD rule. The only 'flavour' (Despatch1_&lt;hub&gt;) just forces the two sorts onto different hubs.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5349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5349240" cy="41148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92224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WHAT IT CANNOT DO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0292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Enforce or report a true origin → destination path. “20% of Bayswater → Sunshine West” is not expressible — the products know neither where a parcel came from nor where it's going.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474720"/>
            <a:ext cx="5349240" cy="2377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349240" cy="41148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529584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FOR OPTILOGIC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77639"/>
            <a:ext cx="5029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Q1  </a:t>
            </a:r>
            <a:r>
              <a:rPr sz="1050" b="0">
                <a:solidFill>
                  <a:srgbClr val="3A4A5A"/>
                </a:solidFill>
                <a:latin typeface="Segoe UI"/>
              </a:rPr>
              <a:t>Does Cosmic Frog support destination-flavoured commodities or an OD-matrix construct to route by origin/destination, not just cost?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Q2  </a:t>
            </a:r>
            <a:r>
              <a:rPr sz="1050" b="0">
                <a:solidFill>
                  <a:srgbClr val="3A4A5A"/>
                </a:solidFill>
                <a:latin typeface="Segoe UI"/>
              </a:rPr>
              <a:t>Is there a native multi-commodity / product-by-destination pattern — or do we flavour products by destination region ourselves?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Q3  </a:t>
            </a:r>
            <a:r>
              <a:rPr sz="1050" b="0">
                <a:solidFill>
                  <a:srgbClr val="3A4A5A"/>
                </a:solidFill>
                <a:latin typeface="Segoe UI"/>
              </a:rPr>
              <a:t>At what granularity (zone vs hub/region) before solve time blows up? What's the recommended middle ground?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Single stream: one representative day, sources = sinks (P+IN+stage = D+OUT+L); today's despatch stands in for tomorrow's delivery.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Stage-as-product chain: each stage its own product, 1:1 BOMs, no lanes on intermediates. Origin-flavoured Despatch1 forces the two hub sorts onto different hubs.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Boundary sinks/sources: interstate arrivals as co-located suppliers; interstate/local-terminate as co-located customers.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No time dimension: one representative day. Wave/window timing is folded into static capacities (sorter = rate × 20 h; van = 80/hr × 2 h wave).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Steady-state closure — today's despatch stands in for tomorrow's delivery, with OUT pinned at 50% of pickup. Under what conditions does this representative-day approximation diverge from true multi-day flow, and what diagnostics would you run to catch a misleading single-day answer before we commit a network decision to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24912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724912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The stage-as-product chain re-implements routing and conservation in the product dimension (a product per state, 1:1 BOMs, no intermediate lanes). What does that cost us in solve time, output readability and the effort to add a stage — and if there's a native multi-echelon / processing-step construct, what do we gain or lose by migrating five weeks 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83864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483864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Identity lives only in the Despatch1_&lt;hub&gt; flavour, purely to force the second sort onto a different hub. Scaling toward national (≫4 hubs) multiplies products and lanes combinatorially — is there a native 'process at two distinct facilities' construct, and where does per-hub flavouring break first as hub count grows?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242816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242816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We model boundaries (interstate in/out, yesterday's staged volume) as pinned zero-distance suppliers/customers. Where does treating boundaries as demand/supply — rather than multi-period inventory carryover — distort cost allocation or capacity accounting, and what breaks in scenario work when they're hard-pinned instead of solver-chosen?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001768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001768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Time is implicit — one day, with wave/window timing baked into static capacities. Does this static-capacity encoding hold, or hide time-bound bottlenecks (arrival peaks, cut-offs)? If we want real granularity — waves, sort windows, next-day service — what's the lightest native path (time slices / Periods, period-specific capacities) short of a full multi-period rebuild, and what's the solve-time cost of each step up?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SCHEMA &amp; CAPACITIES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Shared work centres: multiple processes reference one WC; we assume throughputcapacity is the sum across processes.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MinimumThroughput = 10% manual-sort floor, 5,023 EA/hub.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Facility throughputcapacity (PUD_CAPACITY) set per site (3,885–55,767/day).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Sorter capacity = rate × 20 h window; per-day fixed = annual ÷ 252.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Multiple processes share one work centre and we meter it as the sum of throughputcapacity across processes, on an EA/day basis. When does an EA basis misrepresent a resource whose true limit is time (a sorter feeding both round-1 and round-2), and when should we switch to an HR basis driven by processingrate — what fails, quietly, if we pick the wrong basis?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Our 10% manual-sort floor (MinimumThroughput 5,023/hub) forces flow the solver would otherwise avoid. How does NEO treat a minimum it can't satisfy — hard-infeasible or silently relaxed — and how do we distinguish a floor that's genuinely binding from one quietly making the model infeasible elsewhere? What phrasing fails loudly rather than silently?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Bayswater/Oakleigh went infeasible because pinned pickup transit stacks on delivery against one lumped cap. Exactly which flows does throughputcapacity meter — inbound, outbound, production, pure transit — and can we meter them separately? How would you have localised which flow consumed the cap, rather than lifting it on interpretation as we did?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charge per-day fixed on WCs (annual ÷ 252) AND Fixed_Cost StepCosts on facilities. How do we verify from a run that these don't double-count the same asset in the objective, what's the single-source-of-truth pattern you'd recommend, and is there a report that breaks fixed cost down per facility/WC?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Activity: variable $/EA (driver $0.50 = $40/h ÷ 80/hr; bag unload $0.03).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Transport cost: treat-as-full = per-trip fixedcost × ceil(flow / avg shipment size); prorate = linear.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Linehaul modes: Rigid / 12-Tonner / B-Double set per lane; last mile White Van 160/trip.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Transport time/distance: haversine (not road km).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model linehaul as treat-as-full: per-trip fixedcost × ceil(flow / averageshipmentsize). How does NEO handle that integer ceil inside a cost-min LP — a true step function or a linear relaxation — and does that let the solver under-load trucks? On which lanes does treat-as-full vs prorate flip the network decision, so we know which to apply where?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The objective mixes variable $/EA, per-day fixed, and per-trip transport. How do we read a run's cost composition to confirm each component enters once and at the right weight — and what's the classic double-count trap when facility StepCosts and WC fixed costs coexist? Is there a cost-bridge output that decomposes total by these buckets?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Each lane offers Rigid/12T/B-Double and the solver picks per lane; averageshipmentsize is our only fill lever. When does per-lane mode choice misrepresent a shared, finite fleet — and what's the right construct for fleet/rounds vs our per-lane menu? Are we using averageshipmentsize as intended for effective truck fill?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Haversine understates distance and therefore transport cost. Rather than just 'use road km' — how sensitive are the decisions (mode, consolidation, keep-vs-linehaul) to a distance multiplier, and is there an internal distance/route engine we should wire in before Week-6 costing so absolute numbers become defensible?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BUSINESS RULES &amp; INFEASIBILITY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80/20 keep is emergent (pinned sink demand + scarcity), not a declared ratio constraint.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Artificial pickup caps needed a 2× buffer to avoid false 'Site Production Capacity' violations.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Consolidation via hard Min 500/lane floors (bind at exactly 500.0).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We use both Groups + Aggregate and per-row flow constraints (86 constraints).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Our 80/20 keep is emergent — it falls out of pinned demand plus scarcity, not a declared rule; changing it to 70/30 means re-pinning volumes by hand. Can Cosmic Frog express a ratio constraint directly ('≥80% of a sorting PUD's pickup must linehaul'), and what pattern stays robust when we sweep that ratio in Week-8 scenarios?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needed a 2× pickup buffer to stop false 'Site Production Capacity' violations — an artificial fudge. What's the idiomatic soft-constraint / penalty approach so real limits bind but numerical slack doesn't trigger phantom infeasibility, and how do we set penalty magnitudes that don't quietly distort the optimum?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When NEO returns infeasible we currently guess. Walk us through your triage: which output/log opens first, how do you localise the binding row, and can we get shadow prices or an IIS-style 'irreducible infeasible set' so we go straight to the offending constraint instead of bisecting inputs?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mix Group + Aggregate behaviour and per-row flow constraints (86 total). Where does each break down — an aggregate hiding which member binds, or per-row constraints exploding at national scale — what's your rule of thumb for choosing, and how do we audit that a Group actually constrains the members we think?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Exit criteria for 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76272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written yes / no per pattern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single-stream closure · stage-as-product chain · boundary sinks-sources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80944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1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restructure list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anything to fix before Week 4 (business rules &amp; infeasibility)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85615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3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Schema semantics documented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capacity basis, shared-WC summing, fixed-cost double-count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90288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517136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Cost-math confirmation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treat-as-full formula, objective composition, distance 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59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321807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Infeasibility playbook (started)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triage sequence + whether we can get binding-constraint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