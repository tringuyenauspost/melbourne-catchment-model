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44"/>
    <p:restoredTop sz="94647"/>
  </p:normalViewPr>
  <p:slideViewPr>
    <p:cSldViewPr snapToGrid="0" snapToObjects="1">
      <p:cViewPr>
        <p:scale>
          <a:sx n="160" d="100"/>
          <a:sy n="160" d="100"/>
        </p:scale>
        <p:origin x="144" y="-8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508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9FC5C6"/>
                </a:solidFill>
                <a:latin typeface="Segoe UI"/>
              </a:rPr>
              <a:t>OPTILOGIC COACHING CADENCE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698480" cy="12801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Melbourne Parcel Network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CFDAE4"/>
                </a:solidFill>
                <a:latin typeface="Segoe UI"/>
              </a:rPr>
              <a:t>Single-stream baseline — architecture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698480" cy="1463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B6C4D1"/>
                </a:solidFill>
                <a:latin typeface="Segoe UI"/>
              </a:rPr>
              <a:t>What we built, and the questions we need Optilogic to confirm or correct.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6B7682"/>
                </a:solidFill>
                <a:latin typeface="Segoe UI"/>
              </a:rPr>
              <a:t>Cosmic Frog (Anura schema · NEO solver)   |   17 input tables · 51 work centres · ~3,400 lanes   |   Wed session, Week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WHAT WE BUILT —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Single-stream flow: one day, sources = sinks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623560" cy="37033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21208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E4E"/>
                </a:solidFill>
                <a:latin typeface="Segoe UI"/>
              </a:rPr>
              <a:t>End-to-end stream (mirrors ops A1→A5)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38528"/>
            <a:ext cx="109728" cy="5029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911096"/>
            <a:ext cx="5029200" cy="5669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dirty="0">
                <a:solidFill>
                  <a:srgbClr val="0F2E4E"/>
                </a:solidFill>
                <a:latin typeface="Segoe UI"/>
              </a:rPr>
              <a:t>A1  First mile   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411 catchments → 7 first-mile sites. Pickup is pinned data, not a solver choice.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42032"/>
            <a:ext cx="109728" cy="5029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514600"/>
            <a:ext cx="5029200" cy="5669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2E4E"/>
                </a:solidFill>
                <a:latin typeface="Segoe UI"/>
              </a:rPr>
              <a:t>A2  Inbound   </a:t>
            </a:r>
            <a:r>
              <a:rPr sz="1050" b="0">
                <a:solidFill>
                  <a:srgbClr val="3A4A5A"/>
                </a:solidFill>
                <a:latin typeface="Segoe UI"/>
              </a:rPr>
              <a:t>Bag-unload at 3 sorting PUDs; hubs unload everything (loose / ULD / long-reach).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45536"/>
            <a:ext cx="109728" cy="5029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118104"/>
            <a:ext cx="5029200" cy="5669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2E4E"/>
                </a:solidFill>
                <a:latin typeface="Segoe UI"/>
              </a:rPr>
              <a:t>A3  Sortation   </a:t>
            </a:r>
            <a:r>
              <a:rPr sz="1050" b="0">
                <a:solidFill>
                  <a:srgbClr val="3A4A5A"/>
                </a:solidFill>
                <a:latin typeface="Segoe UI"/>
              </a:rPr>
              <a:t>Sorting PUDs keep 20% locally, linehaul 80% raw; hubs sort the rest (+10% manual floor).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40"/>
            <a:ext cx="109728" cy="5029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721608"/>
            <a:ext cx="5029200" cy="5669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2E4E"/>
                </a:solidFill>
                <a:latin typeface="Segoe UI"/>
              </a:rPr>
              <a:t>A4  Outbound   </a:t>
            </a:r>
            <a:r>
              <a:rPr sz="1050" b="0">
                <a:solidFill>
                  <a:srgbClr val="3A4A5A"/>
                </a:solidFill>
                <a:latin typeface="Segoe UI"/>
              </a:rPr>
              <a:t>Hubs load; delivery PUDs self-load — drivers 80/hr × 2h wave, 160/van.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52544"/>
            <a:ext cx="109728" cy="5029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325112"/>
            <a:ext cx="5029200" cy="5669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2E4E"/>
                </a:solidFill>
                <a:latin typeface="Segoe UI"/>
              </a:rPr>
              <a:t>A5  Middle &amp; last mile   </a:t>
            </a:r>
            <a:r>
              <a:rPr sz="1050" b="0">
                <a:solidFill>
                  <a:srgbClr val="3A4A5A"/>
                </a:solidFill>
                <a:latin typeface="Segoe UI"/>
              </a:rPr>
              <a:t>PUD↔hub linehaul (treat-as-full); last mile White Van 160/trip.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371600"/>
            <a:ext cx="5330952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1508760"/>
            <a:ext cx="49377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E4E"/>
                </a:solidFill>
                <a:latin typeface="Segoe UI"/>
              </a:rPr>
              <a:t>Steady-state balance  ·  P + IN + stage = D + OUT + 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65960"/>
            <a:ext cx="246888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F2E4E"/>
                </a:solidFill>
                <a:latin typeface="Segoe UI"/>
              </a:rPr>
              <a:t>Sources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965960"/>
            <a:ext cx="4572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81160" y="1965960"/>
            <a:ext cx="192024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F2E4E"/>
                </a:solidFill>
                <a:latin typeface="Segoe UI"/>
              </a:rPr>
              <a:t>Sinks /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1965960"/>
            <a:ext cx="13716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2350008"/>
            <a:ext cx="246888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P  first-mile pickup (pinned)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2183" y="2350008"/>
            <a:ext cx="840377" cy="212879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83,715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350008"/>
            <a:ext cx="192024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D  delivery demand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06743" y="2350008"/>
            <a:ext cx="1160417" cy="212879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167,431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734056"/>
            <a:ext cx="246888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IN  interstate arrivals (cap)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2183" y="2734056"/>
            <a:ext cx="840377" cy="212879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125,572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734056"/>
            <a:ext cx="192024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OUT  interstate despatch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03131" y="2734056"/>
            <a:ext cx="664029" cy="212879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dirty="0">
                <a:solidFill>
                  <a:srgbClr val="3A4A5A"/>
                </a:solidFill>
                <a:latin typeface="Segoe UI"/>
              </a:rPr>
              <a:t>41,852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118103"/>
            <a:ext cx="246888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stage  yesterday kept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1554" y="3118103"/>
            <a:ext cx="971006" cy="212879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dirty="0">
                <a:solidFill>
                  <a:srgbClr val="3A4A5A"/>
                </a:solidFill>
                <a:latin typeface="Segoe UI"/>
              </a:rPr>
              <a:t>8,348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118103"/>
            <a:ext cx="192024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L  today kept locally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93531" y="3118103"/>
            <a:ext cx="1273629" cy="212879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dirty="0">
                <a:solidFill>
                  <a:srgbClr val="3A4A5A"/>
                </a:solidFill>
                <a:latin typeface="Segoe UI"/>
              </a:rPr>
              <a:t>8,348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502151"/>
            <a:ext cx="246888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F2E4E"/>
                </a:solidFill>
                <a:latin typeface="Segoe UI"/>
              </a:rPr>
              <a:t>Total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0560" y="3502151"/>
            <a:ext cx="762000" cy="212879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0F2E4E"/>
                </a:solidFill>
                <a:latin typeface="Segoe UI"/>
              </a:rPr>
              <a:t>217,635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3502151"/>
            <a:ext cx="192024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F2E4E"/>
                </a:solidFill>
                <a:latin typeface="Segoe UI"/>
              </a:rPr>
              <a:t>Total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93531" y="3502151"/>
            <a:ext cx="1273629" cy="212879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0F2E4E"/>
                </a:solidFill>
                <a:latin typeface="Segoe UI"/>
              </a:rPr>
              <a:t>217,631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950208"/>
            <a:ext cx="489204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66560" y="4023360"/>
            <a:ext cx="4572000" cy="8686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Conservation by construction: </a:t>
            </a:r>
            <a:r>
              <a:rPr sz="1050" b="0">
                <a:solidFill>
                  <a:srgbClr val="3A4A5A"/>
                </a:solidFill>
                <a:latin typeface="Segoe UI"/>
              </a:rPr>
              <a:t>each parcel tracked through states Pickup→Unloaded→Sorted→Despatch→Delivered (8 BOMs, all 1:1). No lanes on intermediates — volume cannot skip a stage or double-count. Asserted at build time.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WHAT WE BUILT —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Schema, capacities &amp; processing rates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330952" cy="26060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09728" cy="260604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4873752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2E4E"/>
                </a:solidFill>
                <a:latin typeface="Segoe UI"/>
              </a:rPr>
              <a:t>Network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4873752" cy="1965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17 facilities: 4 hubs · 11 delivery PUDs · 2 transport sites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411 pickup catchments · 1,046 delivery zones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51 work centres · 85 processes · ~218k parcels/day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10 products (PP ~86% / EP ~14%) · 8 BOMs (1:1)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371600"/>
            <a:ext cx="5330952" cy="26060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109728" cy="260604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481328"/>
            <a:ext cx="4873752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F2E4E"/>
                </a:solidFill>
                <a:latin typeface="Segoe UI"/>
              </a:rPr>
              <a:t>Processing / throughput 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20240"/>
            <a:ext cx="4873752" cy="920765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dirty="0">
                <a:solidFill>
                  <a:srgbClr val="0F2E4E"/>
                </a:solidFill>
                <a:highlight>
                  <a:srgbClr val="FFFF00"/>
                </a:highlight>
                <a:latin typeface="Segoe UI"/>
              </a:rPr>
              <a:t>•  </a:t>
            </a:r>
            <a:r>
              <a:rPr sz="110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Hub unload &amp; load: loose 15k · ULD 55k · long-reach 35k /day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dirty="0">
                <a:solidFill>
                  <a:srgbClr val="0F2E4E"/>
                </a:solidFill>
                <a:highlight>
                  <a:srgbClr val="FFFF00"/>
                </a:highlight>
                <a:latin typeface="Segoe UI"/>
              </a:rPr>
              <a:t>•  </a:t>
            </a:r>
            <a:r>
              <a:rPr sz="110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Auto sort: rate × 20 h window (e.g. </a:t>
            </a:r>
            <a:r>
              <a:rPr sz="1100" b="0" dirty="0" err="1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Melb</a:t>
            </a:r>
            <a:r>
              <a:rPr sz="110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 Parcel 300k/day)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dirty="0">
                <a:solidFill>
                  <a:srgbClr val="0F2E4E"/>
                </a:solidFill>
                <a:highlight>
                  <a:srgbClr val="FFFF00"/>
                </a:highlight>
                <a:latin typeface="Segoe UI"/>
              </a:rPr>
              <a:t>•  </a:t>
            </a:r>
            <a:r>
              <a:rPr sz="110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Manual sort: cap 25k, min 5,023 forced (10% non-machinable)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dirty="0">
                <a:solidFill>
                  <a:srgbClr val="0F2E4E"/>
                </a:solidFill>
                <a:highlight>
                  <a:srgbClr val="FFFF00"/>
                </a:highlight>
                <a:latin typeface="Segoe UI"/>
              </a:rPr>
              <a:t>•  </a:t>
            </a:r>
            <a:r>
              <a:rPr sz="110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Bag unload: 25k/day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4114800"/>
            <a:ext cx="5330952" cy="26060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4114800"/>
            <a:ext cx="109728" cy="2606040"/>
          </a:xfrm>
          <a:prstGeom prst="rect">
            <a:avLst/>
          </a:prstGeom>
          <a:solidFill>
            <a:srgbClr val="6B7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4224528"/>
            <a:ext cx="4873752" cy="2667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0F2E4E"/>
                </a:solidFill>
                <a:latin typeface="Segoe UI"/>
              </a:rPr>
              <a:t>What </a:t>
            </a:r>
            <a:r>
              <a:rPr lang="en-AU" sz="1400" b="1" dirty="0">
                <a:solidFill>
                  <a:srgbClr val="0F2E4E"/>
                </a:solidFill>
                <a:latin typeface="Segoe UI"/>
              </a:rPr>
              <a:t>is constraint</a:t>
            </a:r>
            <a:r>
              <a:rPr sz="1400" b="1" dirty="0">
                <a:solidFill>
                  <a:srgbClr val="0F2E4E"/>
                </a:solidFill>
                <a:latin typeface="Segoe UI"/>
              </a:rPr>
              <a:t> vs </a:t>
            </a:r>
            <a:r>
              <a:rPr lang="en-AU" sz="1400" b="1" dirty="0">
                <a:solidFill>
                  <a:srgbClr val="0F2E4E"/>
                </a:solidFill>
                <a:latin typeface="Segoe UI"/>
              </a:rPr>
              <a:t>place holder</a:t>
            </a:r>
            <a:endParaRPr sz="1400" b="1" dirty="0">
              <a:solidFill>
                <a:srgbClr val="0F2E4E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29400" y="4663440"/>
            <a:ext cx="4873752" cy="6873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dirty="0">
                <a:solidFill>
                  <a:srgbClr val="6B7682"/>
                </a:solidFill>
                <a:highlight>
                  <a:srgbClr val="FFFF00"/>
                </a:highlight>
                <a:latin typeface="Segoe UI"/>
              </a:rPr>
              <a:t>•  </a:t>
            </a:r>
            <a:r>
              <a:rPr sz="110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Sorter machinery is NOT </a:t>
            </a:r>
            <a:r>
              <a:rPr lang="en-AU" sz="110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constraints</a:t>
            </a:r>
            <a:r>
              <a:rPr sz="110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 (rate × 20h ≫ volume)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dirty="0">
                <a:solidFill>
                  <a:srgbClr val="6B7682"/>
                </a:solidFill>
                <a:latin typeface="Segoe UI"/>
              </a:rPr>
              <a:t>•  </a:t>
            </a:r>
            <a:r>
              <a:rPr lang="en-AU" sz="1100" b="0" dirty="0">
                <a:solidFill>
                  <a:srgbClr val="3A4A5A"/>
                </a:solidFill>
                <a:latin typeface="Segoe UI"/>
              </a:rPr>
              <a:t>Constraints</a:t>
            </a:r>
            <a:r>
              <a:rPr sz="1100" b="0" dirty="0">
                <a:solidFill>
                  <a:srgbClr val="3A4A5A"/>
                </a:solidFill>
                <a:latin typeface="Segoe UI"/>
              </a:rPr>
              <a:t>: facility caps, manual floor, driver capacity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dirty="0">
                <a:solidFill>
                  <a:srgbClr val="6B7682"/>
                </a:solidFill>
                <a:latin typeface="Segoe UI"/>
              </a:rPr>
              <a:t>•</a:t>
            </a:r>
            <a:r>
              <a:rPr lang="en-AU" sz="1100" b="1" dirty="0">
                <a:solidFill>
                  <a:srgbClr val="6B7682"/>
                </a:solidFill>
                <a:latin typeface="Segoe UI"/>
              </a:rPr>
              <a:t>  </a:t>
            </a:r>
            <a:r>
              <a:rPr lang="en-AU" sz="110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Sort cost rates (placeholders) will decide machine mix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WHAT WE BUILT —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Cost structure &amp; business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62356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521208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8A8C"/>
                </a:solidFill>
                <a:latin typeface="Segoe UI"/>
              </a:rPr>
              <a:t>Cost stack (mixed bases)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1206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2E4E"/>
                </a:solidFill>
                <a:latin typeface="Segoe UI"/>
              </a:rPr>
              <a:t>Activity / handling — </a:t>
            </a:r>
            <a:r>
              <a:rPr sz="1050" b="0">
                <a:solidFill>
                  <a:srgbClr val="3A4A5A"/>
                </a:solidFill>
                <a:latin typeface="Segoe UI"/>
              </a:rPr>
              <a:t>variable $/EA (e.g. $0.50/parcel driver load = $40/h ÷ 80/hr; bag unload $0.03)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96312"/>
            <a:ext cx="51206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dirty="0">
                <a:solidFill>
                  <a:srgbClr val="0F2E4E"/>
                </a:solidFill>
                <a:latin typeface="Segoe UI"/>
              </a:rPr>
              <a:t>Fixed — 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per-day = annual ÷ 252 on WCs, plus </a:t>
            </a:r>
            <a:r>
              <a:rPr sz="1050" b="0" dirty="0" err="1">
                <a:solidFill>
                  <a:srgbClr val="3A4A5A"/>
                </a:solidFill>
                <a:latin typeface="Segoe UI"/>
              </a:rPr>
              <a:t>Fixed_Cost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 </a:t>
            </a:r>
            <a:r>
              <a:rPr sz="1050" b="0" dirty="0" err="1">
                <a:solidFill>
                  <a:srgbClr val="3A4A5A"/>
                </a:solidFill>
                <a:latin typeface="Segoe UI"/>
              </a:rPr>
              <a:t>StepCosts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 curves on facilities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18104"/>
            <a:ext cx="51206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2E4E"/>
                </a:solidFill>
                <a:latin typeface="Segoe UI"/>
              </a:rPr>
              <a:t>Transport cost — </a:t>
            </a:r>
            <a:r>
              <a:rPr sz="1050" b="0">
                <a:solidFill>
                  <a:srgbClr val="3A4A5A"/>
                </a:solidFill>
                <a:latin typeface="Segoe UI"/>
              </a:rPr>
              <a:t>linehaul treat-as-full = per-trip fixedcost × ceil(flow / avg shipment); vans/red-van prorated (linear)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39896"/>
            <a:ext cx="51206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dirty="0">
                <a:solidFill>
                  <a:srgbClr val="0F2E4E"/>
                </a:solidFill>
                <a:latin typeface="Segoe UI"/>
              </a:rPr>
              <a:t>Transport modes — 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Rigid 1,500 / 12-Tonner 2,500 / B-Double 4,000; White Van 160/trip; $/km placeholders (0.7–1.3)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61688"/>
            <a:ext cx="51206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dirty="0">
                <a:solidFill>
                  <a:srgbClr val="0F2E4E"/>
                </a:solidFill>
                <a:latin typeface="Segoe UI"/>
              </a:rPr>
              <a:t>Transport time — 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haversine distance (not road km) — understated, flagged for Week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371600"/>
            <a:ext cx="5330952" cy="37033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481328"/>
            <a:ext cx="49377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87A1E"/>
                </a:solidFill>
                <a:latin typeface="Segoe UI"/>
              </a:rPr>
              <a:t>Business logic (design rules — agreed)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74519"/>
            <a:ext cx="4937760" cy="2149243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dirty="0">
                <a:solidFill>
                  <a:srgbClr val="C87A1E"/>
                </a:solidFill>
                <a:highlight>
                  <a:srgbClr val="FFFF00"/>
                </a:highlight>
                <a:latin typeface="Segoe UI"/>
              </a:rPr>
              <a:t>•  </a:t>
            </a:r>
            <a:r>
              <a:rPr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80/20 keep: sorting PUDs keep exactly 20% locally (terminates free), linehaul 80% raw. Currently emergent, not a native ratio constraint.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dirty="0">
                <a:solidFill>
                  <a:srgbClr val="C87A1E"/>
                </a:solidFill>
                <a:latin typeface="Segoe UI"/>
              </a:rPr>
              <a:t>•  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Pickup pinned exactly to catchments (supply = min at each site).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dirty="0">
                <a:solidFill>
                  <a:srgbClr val="C87A1E"/>
                </a:solidFill>
                <a:highlight>
                  <a:srgbClr val="FFFF00"/>
                </a:highlight>
                <a:latin typeface="Segoe UI"/>
              </a:rPr>
              <a:t>•  </a:t>
            </a:r>
            <a:r>
              <a:rPr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10% manual-sort floor: </a:t>
            </a:r>
            <a:r>
              <a:rPr sz="1050" b="0" dirty="0" err="1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MinimumThroughput</a:t>
            </a:r>
            <a:r>
              <a:rPr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 5,023/hub forces flow.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dirty="0">
                <a:solidFill>
                  <a:srgbClr val="C87A1E"/>
                </a:solidFill>
                <a:latin typeface="Segoe UI"/>
              </a:rPr>
              <a:t>•  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Consolidation floors: min 500/lane (scaled down for small PUDs) as a frequency proxy — we watched them bind at exactly 500.0.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dirty="0">
                <a:solidFill>
                  <a:srgbClr val="C87A1E"/>
                </a:solidFill>
                <a:highlight>
                  <a:srgbClr val="FFFF00"/>
                </a:highlight>
                <a:latin typeface="Segoe UI"/>
              </a:rPr>
              <a:t>•  </a:t>
            </a:r>
            <a:r>
              <a:rPr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Interstate only at 4 hubs, weighted by sorter capacity.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dirty="0">
                <a:solidFill>
                  <a:srgbClr val="C87A1E"/>
                </a:solidFill>
                <a:latin typeface="Segoe UI"/>
              </a:rPr>
              <a:t>•  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Boundary sinks/sources modelled as co-located suppliers/customers (zero-distance handovers).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dirty="0">
                <a:solidFill>
                  <a:srgbClr val="C87A1E"/>
                </a:solidFill>
                <a:latin typeface="Segoe UI"/>
              </a:rPr>
              <a:t>•  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252 working days for </a:t>
            </a:r>
            <a:r>
              <a:rPr sz="1050" b="0" dirty="0" err="1">
                <a:solidFill>
                  <a:srgbClr val="3A4A5A"/>
                </a:solidFill>
                <a:latin typeface="Segoe UI"/>
              </a:rPr>
              <a:t>annualised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 costs.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WEEK 1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43601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AU" sz="2500" b="1" dirty="0">
                <a:solidFill>
                  <a:srgbClr val="FFFFFF"/>
                </a:solidFill>
                <a:latin typeface="Segoe UI"/>
              </a:rPr>
              <a:t>Week 1’s goal – Have OPTILOGIC confirms</a:t>
            </a:r>
            <a:endParaRPr sz="25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09728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A4A5A"/>
                </a:solidFill>
                <a:latin typeface="Segoe UI"/>
              </a:rPr>
              <a:t>Objective: Optilogic confirms — or corrects — the modelling architecture before we build further on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1120140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39112"/>
            <a:ext cx="10058400" cy="520655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AU" sz="1600" b="1" dirty="0">
                <a:solidFill>
                  <a:srgbClr val="0F2E4E"/>
                </a:solidFill>
                <a:latin typeface="Segoe UI"/>
              </a:rPr>
              <a:t>Flow a</a:t>
            </a:r>
            <a:r>
              <a:rPr sz="1600" b="1" dirty="0" err="1">
                <a:solidFill>
                  <a:srgbClr val="0F2E4E"/>
                </a:solidFill>
                <a:latin typeface="Segoe UI"/>
              </a:rPr>
              <a:t>rchitecture</a:t>
            </a:r>
            <a:r>
              <a:rPr sz="1600" b="1" dirty="0">
                <a:solidFill>
                  <a:srgbClr val="0F2E4E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0F2E4E"/>
                </a:solidFill>
                <a:latin typeface="Segoe UI"/>
              </a:rPr>
              <a:t>validati</a:t>
            </a:r>
            <a:r>
              <a:rPr lang="en-AU" sz="1600" b="1" dirty="0">
                <a:solidFill>
                  <a:srgbClr val="0F2E4E"/>
                </a:solidFill>
                <a:latin typeface="Segoe UI"/>
              </a:rPr>
              <a:t>on</a:t>
            </a:r>
            <a:endParaRPr sz="1600" b="1" dirty="0">
              <a:solidFill>
                <a:srgbClr val="0F2E4E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dirty="0">
                <a:solidFill>
                  <a:srgbClr val="3A4A5A"/>
                </a:solidFill>
                <a:latin typeface="Segoe UI"/>
              </a:rPr>
              <a:t>Single-stream flow + structure best-practice; processing state chain; boundary sink/source constructs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99232"/>
            <a:ext cx="1120140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3227832"/>
            <a:ext cx="502920" cy="502920"/>
          </a:xfrm>
          <a:prstGeom prst="ellipse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18104"/>
            <a:ext cx="10058400" cy="520655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AU" sz="1600" b="1" dirty="0">
                <a:solidFill>
                  <a:srgbClr val="0F2E4E"/>
                </a:solidFill>
                <a:latin typeface="Segoe UI"/>
              </a:rPr>
              <a:t>Capacity structure</a:t>
            </a:r>
            <a:endParaRPr sz="1600" b="1" dirty="0">
              <a:solidFill>
                <a:srgbClr val="0F2E4E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dirty="0">
                <a:solidFill>
                  <a:srgbClr val="3A4A5A"/>
                </a:solidFill>
                <a:latin typeface="Segoe UI"/>
              </a:rPr>
              <a:t>Throughput capacity, processing rate &amp; other capacity params across stages and facilities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78224"/>
            <a:ext cx="1120140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31520" y="4306824"/>
            <a:ext cx="502920" cy="502920"/>
          </a:xfrm>
          <a:prstGeom prst="ellipse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197096"/>
            <a:ext cx="100584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E4E"/>
                </a:solidFill>
                <a:latin typeface="Segoe UI"/>
              </a:rPr>
              <a:t>Cost structure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A4A5A"/>
                </a:solidFill>
                <a:latin typeface="Segoe UI"/>
              </a:rPr>
              <a:t>Activity + transport cost + transport time + linehaul mode 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157216"/>
            <a:ext cx="1120140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" y="5385816"/>
            <a:ext cx="502920" cy="502920"/>
          </a:xfrm>
          <a:prstGeom prst="ellipse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276088"/>
            <a:ext cx="100584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E4E"/>
                </a:solidFill>
                <a:latin typeface="Segoe UI"/>
              </a:rPr>
              <a:t>Business rules &amp; infeasibility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A4A5A"/>
                </a:solidFill>
                <a:latin typeface="Segoe UI"/>
              </a:rPr>
              <a:t>Ratio/floor constraints; infeasibility debugging; constraints in the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23596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dirty="0">
                <a:solidFill>
                  <a:srgbClr val="9FC5C6"/>
                </a:solidFill>
                <a:latin typeface="Segoe UI"/>
              </a:rPr>
              <a:t>PARCEL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How is a parcel's origin → destination decided?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24712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A4A5A"/>
                </a:solidFill>
                <a:latin typeface="Segoe UI"/>
              </a:rPr>
              <a:t>Defines what the model can answer — e.g. can we say “20% of Bayswater pickup → Sunshine West, 20% → Dandenong, 60% interstate”?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623560" cy="41148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5623560" cy="41148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530352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HOW IT WORKS NOW  ·  state-based fungible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5303520" cy="42832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dirty="0">
                <a:solidFill>
                  <a:srgbClr val="0F2E4E"/>
                </a:solidFill>
                <a:latin typeface="Segoe UI"/>
              </a:rPr>
              <a:t>Products encode STATE × CLASS — </a:t>
            </a:r>
            <a:r>
              <a:rPr lang="en-AU" sz="1100" b="1" dirty="0">
                <a:solidFill>
                  <a:srgbClr val="0F2E4E"/>
                </a:solidFill>
                <a:latin typeface="Segoe UI"/>
              </a:rPr>
              <a:t>not by</a:t>
            </a:r>
            <a:r>
              <a:rPr sz="1100" b="1" dirty="0">
                <a:solidFill>
                  <a:srgbClr val="0F2E4E"/>
                </a:solidFill>
                <a:latin typeface="Segoe UI"/>
              </a:rPr>
              <a:t> identity</a:t>
            </a:r>
            <a:r>
              <a:rPr lang="en-AU" sz="1100" b="1" dirty="0">
                <a:solidFill>
                  <a:srgbClr val="0F2E4E"/>
                </a:solidFill>
                <a:latin typeface="Segoe UI"/>
              </a:rPr>
              <a:t> (by OD)</a:t>
            </a:r>
            <a:r>
              <a:rPr sz="1100" b="1" dirty="0">
                <a:solidFill>
                  <a:srgbClr val="0F2E4E"/>
                </a:solidFill>
                <a:latin typeface="Segoe UI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dirty="0">
                <a:solidFill>
                  <a:srgbClr val="1F8A8C"/>
                </a:solidFill>
                <a:latin typeface="Segoe UI"/>
              </a:rPr>
              <a:t>Pickup → Unload → Sort → </a:t>
            </a:r>
            <a:r>
              <a:rPr sz="1100" b="1" dirty="0" err="1">
                <a:solidFill>
                  <a:srgbClr val="1F8A8C"/>
                </a:solidFill>
                <a:latin typeface="Segoe UI"/>
              </a:rPr>
              <a:t>Despatch</a:t>
            </a:r>
            <a:r>
              <a:rPr sz="1100" b="1" dirty="0">
                <a:solidFill>
                  <a:srgbClr val="1F8A8C"/>
                </a:solidFill>
                <a:latin typeface="Segoe UI"/>
              </a:rPr>
              <a:t> → Delivered  (× PP/EP)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5257800" cy="157915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dirty="0">
                <a:solidFill>
                  <a:srgbClr val="1F8A8C"/>
                </a:solidFill>
                <a:latin typeface="Segoe UI"/>
              </a:rPr>
              <a:t>•  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A parcel becomes anonymous the </a:t>
            </a:r>
            <a:r>
              <a:rPr lang="en-AU" sz="1050" dirty="0">
                <a:solidFill>
                  <a:srgbClr val="3A4A5A"/>
                </a:solidFill>
                <a:latin typeface="Segoe UI"/>
              </a:rPr>
              <a:t>moment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 it's picked up</a:t>
            </a:r>
            <a:r>
              <a:rPr lang="en-AU" sz="1050" dirty="0">
                <a:solidFill>
                  <a:srgbClr val="3A4A5A"/>
                </a:solidFill>
                <a:latin typeface="Segoe UI"/>
              </a:rPr>
              <a:t>. For example 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one Bayswater </a:t>
            </a:r>
            <a:r>
              <a:rPr sz="1050" b="0" dirty="0" err="1">
                <a:solidFill>
                  <a:srgbClr val="3A4A5A"/>
                </a:solidFill>
                <a:latin typeface="Segoe UI"/>
              </a:rPr>
              <a:t>Pickup_PP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 is identical to one Sunshine West </a:t>
            </a:r>
            <a:r>
              <a:rPr sz="1050" b="0" dirty="0" err="1">
                <a:solidFill>
                  <a:srgbClr val="3A4A5A"/>
                </a:solidFill>
                <a:latin typeface="Segoe UI"/>
              </a:rPr>
              <a:t>Pickup_PP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. No origin tag, no destination tag.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dirty="0">
                <a:solidFill>
                  <a:srgbClr val="1F8A8C"/>
                </a:solidFill>
                <a:latin typeface="Segoe UI"/>
              </a:rPr>
              <a:t>•  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Pickup (411 catchments) and Delivery (1,046 zones) are </a:t>
            </a:r>
            <a:r>
              <a:rPr lang="en-AU" sz="1050" dirty="0">
                <a:solidFill>
                  <a:srgbClr val="3A4A5A"/>
                </a:solidFill>
                <a:latin typeface="Segoe UI"/>
              </a:rPr>
              <a:t>allocated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 separately; they </a:t>
            </a:r>
            <a:r>
              <a:rPr lang="en-AU" sz="1050" b="0" dirty="0">
                <a:solidFill>
                  <a:srgbClr val="3A4A5A"/>
                </a:solidFill>
                <a:latin typeface="Segoe UI"/>
              </a:rPr>
              <a:t>conservation rule only applied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 in aggregate</a:t>
            </a:r>
            <a:r>
              <a:rPr lang="en-AU" sz="1050" b="0" dirty="0">
                <a:solidFill>
                  <a:srgbClr val="3A4A5A"/>
                </a:solidFill>
                <a:latin typeface="Segoe UI"/>
              </a:rPr>
              <a:t>ion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 (</a:t>
            </a:r>
            <a:r>
              <a:rPr sz="1050" b="0" dirty="0" err="1">
                <a:solidFill>
                  <a:srgbClr val="3A4A5A"/>
                </a:solidFill>
                <a:latin typeface="Segoe UI"/>
              </a:rPr>
              <a:t>P+IN+stage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 = D+OUT+L).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dirty="0">
                <a:solidFill>
                  <a:srgbClr val="1F8A8C"/>
                </a:solidFill>
                <a:latin typeface="Segoe UI"/>
              </a:rPr>
              <a:t>•  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In between, one shared pool — any pickup can satisfy any delivery.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dirty="0">
                <a:solidFill>
                  <a:srgbClr val="1F8A8C"/>
                </a:solidFill>
                <a:latin typeface="Segoe UI"/>
              </a:rPr>
              <a:t>•  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The solver picks the path by minimum cost, not by any OD rule. The only '</a:t>
            </a:r>
            <a:r>
              <a:rPr sz="1050" b="0" dirty="0" err="1">
                <a:solidFill>
                  <a:srgbClr val="3A4A5A"/>
                </a:solidFill>
                <a:latin typeface="Segoe UI"/>
              </a:rPr>
              <a:t>flavour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' (Despatch1_&lt;hub&gt;) just forces the two sorts onto different hubs.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737360"/>
            <a:ext cx="53492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B4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737360"/>
            <a:ext cx="5349240" cy="41148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792224"/>
            <a:ext cx="5029200" cy="23596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AU" sz="1200" b="1" dirty="0">
                <a:solidFill>
                  <a:srgbClr val="FFFFFF"/>
                </a:solidFill>
                <a:latin typeface="Segoe UI"/>
              </a:rPr>
              <a:t>WHAT OUR MODEL CANNOT DO AT THIS STAGE</a:t>
            </a:r>
            <a:endParaRPr sz="12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37960" y="2286000"/>
            <a:ext cx="5029200" cy="59574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AU" sz="1150" dirty="0">
                <a:solidFill>
                  <a:srgbClr val="3A4A5A"/>
                </a:solidFill>
                <a:latin typeface="Segoe UI"/>
              </a:rPr>
              <a:t>How to express or </a:t>
            </a:r>
            <a:r>
              <a:rPr lang="en-AU" sz="1150" b="0" dirty="0">
                <a:solidFill>
                  <a:srgbClr val="3A4A5A"/>
                </a:solidFill>
                <a:latin typeface="Segoe UI"/>
              </a:rPr>
              <a:t>e</a:t>
            </a:r>
            <a:r>
              <a:rPr sz="1150" b="0" dirty="0" err="1">
                <a:solidFill>
                  <a:srgbClr val="3A4A5A"/>
                </a:solidFill>
                <a:latin typeface="Segoe UI"/>
              </a:rPr>
              <a:t>nforce</a:t>
            </a:r>
            <a:r>
              <a:rPr sz="1150" b="0" dirty="0">
                <a:solidFill>
                  <a:srgbClr val="3A4A5A"/>
                </a:solidFill>
                <a:latin typeface="Segoe UI"/>
              </a:rPr>
              <a:t> a true origin → destination path. “20% of Bayswater → Sunshine West” is not expressible — the products know neither where a parcel came from nor where it's going.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474720"/>
            <a:ext cx="5349240" cy="2377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3474720"/>
            <a:ext cx="5349240" cy="41148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529584"/>
            <a:ext cx="5029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QUESTIONS FOR OPTILOGIC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977639"/>
            <a:ext cx="5029200" cy="789575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>
              <a:lnSpc>
                <a:spcPct val="98000"/>
              </a:lnSpc>
              <a:spcAft>
                <a:spcPts val="700"/>
              </a:spcAft>
            </a:pPr>
            <a:r>
              <a:rPr sz="1100" b="1" dirty="0">
                <a:solidFill>
                  <a:srgbClr val="1F8A8C"/>
                </a:solidFill>
                <a:latin typeface="Segoe UI"/>
              </a:rPr>
              <a:t>Q1  </a:t>
            </a:r>
            <a:r>
              <a:rPr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Does Cosmic Frog support </a:t>
            </a:r>
            <a:r>
              <a:rPr lang="en-AU"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a</a:t>
            </a:r>
            <a:r>
              <a:rPr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n OD-matrix construct to route by origin/destination, not just cost?</a:t>
            </a:r>
            <a:r>
              <a:rPr lang="en-AU"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 </a:t>
            </a:r>
          </a:p>
          <a:p>
            <a:pPr>
              <a:lnSpc>
                <a:spcPct val="98000"/>
              </a:lnSpc>
              <a:spcAft>
                <a:spcPts val="700"/>
              </a:spcAft>
            </a:pPr>
            <a:r>
              <a:rPr sz="1100" b="1" dirty="0">
                <a:solidFill>
                  <a:srgbClr val="1F8A8C"/>
                </a:solidFill>
                <a:latin typeface="Segoe UI"/>
              </a:rPr>
              <a:t>Q2 </a:t>
            </a:r>
            <a:r>
              <a:rPr sz="1100" b="1" dirty="0">
                <a:solidFill>
                  <a:srgbClr val="1F8A8C"/>
                </a:solidFill>
                <a:highlight>
                  <a:srgbClr val="FFFF00"/>
                </a:highlight>
                <a:latin typeface="Segoe UI"/>
              </a:rPr>
              <a:t> </a:t>
            </a:r>
            <a:r>
              <a:rPr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Is there a native product-by-destination pattern</a:t>
            </a:r>
            <a:r>
              <a:rPr lang="en-AU"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?</a:t>
            </a:r>
            <a:r>
              <a:rPr lang="en-AU" sz="105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 At what granularity (zone vs hub/region) before solve time blows up? What's the recommended middle ground?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QUESTIONS FOR OPTILOGIC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What we've set up · what we need confirmed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429768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297680" cy="4572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35608"/>
            <a:ext cx="40233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OUR SET-UP / 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977639" cy="3840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dirty="0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 dirty="0">
                <a:solidFill>
                  <a:srgbClr val="3A4A5A"/>
                </a:solidFill>
                <a:latin typeface="Segoe UI"/>
              </a:rPr>
              <a:t>Single stream: one representative day, sources = sinks (</a:t>
            </a:r>
            <a:r>
              <a:rPr sz="1100" b="0" dirty="0" err="1">
                <a:solidFill>
                  <a:srgbClr val="3A4A5A"/>
                </a:solidFill>
                <a:latin typeface="Segoe UI"/>
              </a:rPr>
              <a:t>P+IN+stage</a:t>
            </a:r>
            <a:r>
              <a:rPr sz="1100" b="0" dirty="0">
                <a:solidFill>
                  <a:srgbClr val="3A4A5A"/>
                </a:solidFill>
                <a:latin typeface="Segoe UI"/>
              </a:rPr>
              <a:t> = D+OUT+L); today's </a:t>
            </a:r>
            <a:r>
              <a:rPr sz="1100" b="0" dirty="0" err="1">
                <a:solidFill>
                  <a:srgbClr val="3A4A5A"/>
                </a:solidFill>
                <a:latin typeface="Segoe UI"/>
              </a:rPr>
              <a:t>despatch</a:t>
            </a:r>
            <a:r>
              <a:rPr sz="1100" b="0" dirty="0">
                <a:solidFill>
                  <a:srgbClr val="3A4A5A"/>
                </a:solidFill>
                <a:latin typeface="Segoe UI"/>
              </a:rPr>
              <a:t> stands in for tomorrow's delivery.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dirty="0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 dirty="0">
                <a:solidFill>
                  <a:srgbClr val="3A4A5A"/>
                </a:solidFill>
                <a:latin typeface="Segoe UI"/>
              </a:rPr>
              <a:t>Stage-as-product chain: each stage its own product, 1:1 BOMs, no lanes on intermediates. Origin-</a:t>
            </a:r>
            <a:r>
              <a:rPr sz="1100" b="0" dirty="0" err="1">
                <a:solidFill>
                  <a:srgbClr val="3A4A5A"/>
                </a:solidFill>
                <a:latin typeface="Segoe UI"/>
              </a:rPr>
              <a:t>flavoured</a:t>
            </a:r>
            <a:r>
              <a:rPr sz="1100" b="0" dirty="0">
                <a:solidFill>
                  <a:srgbClr val="3A4A5A"/>
                </a:solidFill>
                <a:latin typeface="Segoe UI"/>
              </a:rPr>
              <a:t> Despatch1 forces the two hub sorts onto different hubs.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dirty="0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 dirty="0">
                <a:solidFill>
                  <a:srgbClr val="3A4A5A"/>
                </a:solidFill>
                <a:latin typeface="Segoe UI"/>
              </a:rPr>
              <a:t>Boundary sinks/sources: interstate arrivals as co-located suppliers; interstate/local-terminate as co-located customers.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dirty="0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 dirty="0">
                <a:solidFill>
                  <a:srgbClr val="3A4A5A"/>
                </a:solidFill>
                <a:latin typeface="Segoe UI"/>
              </a:rPr>
              <a:t>No time dimension: one representative day. Wave/window timing is folded into static capacities (sorter = rate × 20 h; van = 80/</a:t>
            </a:r>
            <a:r>
              <a:rPr sz="1100" b="0" dirty="0" err="1">
                <a:solidFill>
                  <a:srgbClr val="3A4A5A"/>
                </a:solidFill>
                <a:latin typeface="Segoe UI"/>
              </a:rPr>
              <a:t>hr</a:t>
            </a:r>
            <a:r>
              <a:rPr sz="1100" b="0" dirty="0">
                <a:solidFill>
                  <a:srgbClr val="3A4A5A"/>
                </a:solidFill>
                <a:latin typeface="Segoe UI"/>
              </a:rPr>
              <a:t> × 2 h wave).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371600"/>
            <a:ext cx="67208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83480" y="1371600"/>
            <a:ext cx="6720840" cy="45720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6360" y="1435608"/>
            <a:ext cx="6400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QUESTIONS TO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965960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965960"/>
            <a:ext cx="5943600" cy="66531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dirty="0">
                <a:solidFill>
                  <a:srgbClr val="3A4A5A"/>
                </a:solidFill>
                <a:latin typeface="Segoe UI"/>
              </a:rPr>
              <a:t>Steady-state closure — today's </a:t>
            </a:r>
            <a:r>
              <a:rPr sz="1050" b="0" dirty="0" err="1">
                <a:solidFill>
                  <a:srgbClr val="3A4A5A"/>
                </a:solidFill>
                <a:latin typeface="Segoe UI"/>
              </a:rPr>
              <a:t>despatch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 stands in for tomorrow's delivery, with OUT </a:t>
            </a:r>
            <a:r>
              <a:rPr lang="en-AU" sz="1050" b="0" dirty="0">
                <a:solidFill>
                  <a:srgbClr val="3A4A5A"/>
                </a:solidFill>
                <a:latin typeface="Segoe UI"/>
              </a:rPr>
              <a:t>allocated</a:t>
            </a:r>
            <a:r>
              <a:rPr sz="1050" b="0" dirty="0">
                <a:solidFill>
                  <a:srgbClr val="3A4A5A"/>
                </a:solidFill>
                <a:latin typeface="Segoe UI"/>
              </a:rPr>
              <a:t> at 50% of pickup. Under what conditions does this representative-day approximation diverge from true multi-day flow, and what diagnostics would you run to catch a misleading single-day answer before we commit a network decision to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724912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724912"/>
            <a:ext cx="5943600" cy="51180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The stage-as-product chain re-implements routing and conservation in the product dimension (a product per state, 1:1 BOMs, no intermediate lanes). What does that cost us in solve time, output readability and the effort to add a stage?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483864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483864"/>
            <a:ext cx="5943600" cy="66531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lang="en-AU"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The parcel’s </a:t>
            </a:r>
            <a:r>
              <a:rPr lang="en-AU" sz="1050" b="0" dirty="0" err="1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i</a:t>
            </a:r>
            <a:r>
              <a:rPr sz="1050" b="0" dirty="0" err="1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dentity</a:t>
            </a:r>
            <a:r>
              <a:rPr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 lives only in the Despatch1_&lt;hub&gt; </a:t>
            </a:r>
            <a:r>
              <a:rPr lang="en-AU"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approach</a:t>
            </a:r>
            <a:r>
              <a:rPr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, purely to force the second sort onto a different hub. Scaling toward national (≫4 hubs) multiplies products and lanes combinatorially — is there a native 'process at two distinct facilities' construct, and where does per-hub </a:t>
            </a:r>
            <a:r>
              <a:rPr sz="1050" b="0" dirty="0" err="1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flavouring</a:t>
            </a:r>
            <a:r>
              <a:rPr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 break first as hub count grows?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195110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195110"/>
            <a:ext cx="5943600" cy="117711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lang="en-AU"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Boundary flows — interstate in/out and yesterday's staged volume — enter and leave through zero-distance, so the out-of-network leg carries no cost while the internal processing does. If we want to attach a notional cost to the external leg, should </a:t>
            </a:r>
            <a:r>
              <a:rPr lang="en-AU" sz="105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we include</a:t>
            </a:r>
            <a:r>
              <a:rPr lang="en-AU"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 supplier/customer </a:t>
            </a:r>
            <a:r>
              <a:rPr lang="en-AU" sz="1050" b="0" dirty="0" err="1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unitcost</a:t>
            </a:r>
            <a:r>
              <a:rPr lang="en-AU"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, a priced zero-distance lane, or a dummy boundary process — and which keeps scenario comparisons clean?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br>
              <a:rPr lang="en-AU" sz="1050" b="0" dirty="0">
                <a:solidFill>
                  <a:srgbClr val="3A4A5A"/>
                </a:solidFill>
                <a:latin typeface="Segoe UI"/>
              </a:rPr>
            </a:br>
            <a:endParaRPr sz="1050" b="0" dirty="0">
              <a:solidFill>
                <a:srgbClr val="3A4A5A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66360" y="5001768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5001768"/>
            <a:ext cx="5943600" cy="81881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Time is implicit — one day, with wave/window timing baked into static capacities. Does this static-capacity encoding hold, or hide time-bound bottlenecks (arrival peaks, cut-offs)? If we want real granularity — waves, sort windows, next-day service — what's the lightest native path (time slices / Periods, period-specific capacities) short of a full multi-period rebuild, </a:t>
            </a:r>
            <a:r>
              <a:rPr lang="en-AU" sz="105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or is this something with THROG?</a:t>
            </a:r>
            <a:endParaRPr sz="1050" b="0" dirty="0">
              <a:solidFill>
                <a:srgbClr val="3A4A5A"/>
              </a:solidFill>
              <a:highlight>
                <a:srgbClr val="FFFF00"/>
              </a:highlight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QUESTIONS FOR OPTILOGIC — SCHEMA &amp; CAPACITIES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What we've set up · what we need confirmed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429768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297680" cy="4572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35608"/>
            <a:ext cx="40233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OUR SET-UP / 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977639" cy="171329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dirty="0">
                <a:solidFill>
                  <a:srgbClr val="1F8A8C"/>
                </a:solidFill>
                <a:highlight>
                  <a:srgbClr val="FFFF00"/>
                </a:highlight>
                <a:latin typeface="Segoe UI"/>
              </a:rPr>
              <a:t>•  </a:t>
            </a:r>
            <a:r>
              <a:rPr sz="110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Shared work </a:t>
            </a:r>
            <a:r>
              <a:rPr sz="1100" b="0" dirty="0" err="1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centres</a:t>
            </a:r>
            <a:r>
              <a:rPr sz="110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: multiple processes reference one WC; we assume </a:t>
            </a:r>
            <a:r>
              <a:rPr sz="1100" b="0" dirty="0" err="1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throughputcapacity</a:t>
            </a:r>
            <a:r>
              <a:rPr sz="110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 is the sum across processes.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dirty="0">
                <a:solidFill>
                  <a:srgbClr val="1F8A8C"/>
                </a:solidFill>
                <a:highlight>
                  <a:srgbClr val="FFFF00"/>
                </a:highlight>
                <a:latin typeface="Segoe UI"/>
              </a:rPr>
              <a:t>•  </a:t>
            </a:r>
            <a:r>
              <a:rPr sz="1100" b="0" dirty="0" err="1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MinimumThroughput</a:t>
            </a:r>
            <a:r>
              <a:rPr sz="110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 = 10% manual-sort floor, 5,023 EA/hub.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dirty="0">
                <a:solidFill>
                  <a:srgbClr val="1F8A8C"/>
                </a:solidFill>
                <a:highlight>
                  <a:srgbClr val="FFFF00"/>
                </a:highlight>
                <a:latin typeface="Segoe UI"/>
              </a:rPr>
              <a:t>•  </a:t>
            </a:r>
            <a:r>
              <a:rPr sz="110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Facility </a:t>
            </a:r>
            <a:r>
              <a:rPr sz="1100" b="0" dirty="0" err="1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throughputcapacity</a:t>
            </a:r>
            <a:r>
              <a:rPr sz="110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 (PUD_CAPACITY) set per site (3,885–55,767/day).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dirty="0">
                <a:solidFill>
                  <a:srgbClr val="1F8A8C"/>
                </a:solidFill>
                <a:highlight>
                  <a:srgbClr val="FFFF00"/>
                </a:highlight>
                <a:latin typeface="Segoe UI"/>
              </a:rPr>
              <a:t>•  </a:t>
            </a:r>
            <a:r>
              <a:rPr sz="1100" b="0" dirty="0">
                <a:solidFill>
                  <a:srgbClr val="3A4A5A"/>
                </a:solidFill>
                <a:highlight>
                  <a:srgbClr val="FFFF00"/>
                </a:highlight>
                <a:latin typeface="Segoe UI"/>
              </a:rPr>
              <a:t>Sorter capacity = rate × 20 h window; per-day fixed = annual ÷ 252.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371600"/>
            <a:ext cx="67208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83480" y="1371600"/>
            <a:ext cx="6720840" cy="4572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6360" y="1435608"/>
            <a:ext cx="6400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QUESTIONS TO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965960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8A8C"/>
                </a:solidFill>
                <a:latin typeface="Segoe UI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965960"/>
            <a:ext cx="5943600" cy="93615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AU" sz="1150" dirty="0">
                <a:solidFill>
                  <a:srgbClr val="3A4A5A"/>
                </a:solidFill>
                <a:latin typeface="Segoe UI"/>
              </a:rPr>
              <a:t>Multiple processes share one work centre and we consider it as the sum of </a:t>
            </a:r>
            <a:r>
              <a:rPr lang="en-AU" sz="1150" dirty="0" err="1">
                <a:solidFill>
                  <a:srgbClr val="3A4A5A"/>
                </a:solidFill>
                <a:latin typeface="Segoe UI"/>
              </a:rPr>
              <a:t>throughputcapacity</a:t>
            </a:r>
            <a:r>
              <a:rPr lang="en-AU" sz="1150" dirty="0">
                <a:solidFill>
                  <a:srgbClr val="3A4A5A"/>
                </a:solidFill>
                <a:latin typeface="Segoe UI"/>
              </a:rPr>
              <a:t> across processes, on an EA/day basis. When does an EA basis misrepresent a resource whose true limit is time (a sorter feeding both round-1 and round-2), and when should we switch to an HR basis driven by </a:t>
            </a:r>
            <a:r>
              <a:rPr lang="en-AU" sz="1150" dirty="0" err="1">
                <a:solidFill>
                  <a:srgbClr val="3A4A5A"/>
                </a:solidFill>
                <a:latin typeface="Segoe UI"/>
              </a:rPr>
              <a:t>processingrate</a:t>
            </a:r>
            <a:r>
              <a:rPr lang="en-AU" sz="1150" dirty="0">
                <a:solidFill>
                  <a:srgbClr val="3A4A5A"/>
                </a:solidFill>
                <a:latin typeface="Segoe UI"/>
              </a:rPr>
              <a:t> — what fails, quietly, if we pick the wrong basis?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914650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8A8C"/>
                </a:solidFill>
                <a:latin typeface="Segoe U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914650"/>
            <a:ext cx="5943600" cy="75918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AU" sz="1150" dirty="0">
                <a:solidFill>
                  <a:srgbClr val="3A4A5A"/>
                </a:solidFill>
                <a:latin typeface="Segoe UI"/>
              </a:rPr>
              <a:t>Our 10% manual-sort floor (</a:t>
            </a:r>
            <a:r>
              <a:rPr lang="en-AU" sz="1150" dirty="0" err="1">
                <a:solidFill>
                  <a:srgbClr val="3A4A5A"/>
                </a:solidFill>
                <a:latin typeface="Segoe UI"/>
              </a:rPr>
              <a:t>MinimumThroughput</a:t>
            </a:r>
            <a:r>
              <a:rPr lang="en-AU" sz="1150" dirty="0">
                <a:solidFill>
                  <a:srgbClr val="3A4A5A"/>
                </a:solidFill>
                <a:latin typeface="Segoe UI"/>
              </a:rPr>
              <a:t> 5,023/hub) forces flow the solver would otherwise avoid. How does NEO treat a minimum it can't satisfy — hard-infeasible or silently relaxed — and how do we distinguish a floor that's genuinely binding from one quietly making the model infeasible elsewhere?</a:t>
            </a:r>
            <a:endParaRPr sz="1150" b="0" dirty="0">
              <a:solidFill>
                <a:srgbClr val="3A4A5A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66360" y="3863339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8A8C"/>
                </a:solidFill>
                <a:latin typeface="Segoe UI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863339"/>
            <a:ext cx="5943600" cy="75918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AU" sz="1150" dirty="0">
                <a:solidFill>
                  <a:srgbClr val="3A4A5A"/>
                </a:solidFill>
                <a:latin typeface="Segoe UI"/>
              </a:rPr>
              <a:t>We charge per-day fixed on WCs (annual ÷ 252) AND </a:t>
            </a:r>
            <a:r>
              <a:rPr lang="en-AU" sz="1150" dirty="0" err="1">
                <a:solidFill>
                  <a:srgbClr val="3A4A5A"/>
                </a:solidFill>
                <a:latin typeface="Segoe UI"/>
              </a:rPr>
              <a:t>Fixed_Cost</a:t>
            </a:r>
            <a:r>
              <a:rPr lang="en-AU" sz="1150" dirty="0">
                <a:solidFill>
                  <a:srgbClr val="3A4A5A"/>
                </a:solidFill>
                <a:latin typeface="Segoe UI"/>
              </a:rPr>
              <a:t> </a:t>
            </a:r>
            <a:r>
              <a:rPr lang="en-AU" sz="1150" dirty="0" err="1">
                <a:solidFill>
                  <a:srgbClr val="3A4A5A"/>
                </a:solidFill>
                <a:latin typeface="Segoe UI"/>
              </a:rPr>
              <a:t>StepCosts</a:t>
            </a:r>
            <a:r>
              <a:rPr lang="en-AU" sz="1150" dirty="0">
                <a:solidFill>
                  <a:srgbClr val="3A4A5A"/>
                </a:solidFill>
                <a:latin typeface="Segoe UI"/>
              </a:rPr>
              <a:t> on facilities. How do we verify from a run that these don't double-count the same asset in the objective, what's the single-source-of-truth pattern you'd recommend, and is there a report that breaks fixed cost down per facility/WC?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812029"/>
            <a:ext cx="411480" cy="25135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1F8A8C"/>
                </a:solidFill>
                <a:latin typeface="Segoe UI"/>
              </a:rPr>
              <a:t>Q</a:t>
            </a:r>
            <a:r>
              <a:rPr lang="en-AU" sz="1300" b="1" dirty="0">
                <a:solidFill>
                  <a:srgbClr val="1F8A8C"/>
                </a:solidFill>
                <a:latin typeface="Segoe UI"/>
              </a:rPr>
              <a:t>4</a:t>
            </a:r>
            <a:endParaRPr sz="1300" b="1" dirty="0">
              <a:solidFill>
                <a:srgbClr val="1F8A8C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QUESTIONS FOR OPTILOGIC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What we've set up · what we need confirmed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429768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297680" cy="4572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35608"/>
            <a:ext cx="40233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OUR SET-UP / 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977639" cy="3840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Single stream: one representative day, sources = sinks (P+IN+stage = D+OUT+L); today's despatch stands in for tomorrow's delivery.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Stage-as-product chain: each stage its own product, 1:1 BOMs, no lanes on intermediates. Origin-flavoured Despatch1 forces the two hub sorts onto different hubs.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Boundary sinks/sources: interstate arrivals as co-located suppliers; interstate/local-terminate as co-located customers.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No time dimension: one representative day. Wave/window timing is folded into static capacities (sorter = rate × 20 h; van = 80/hr × 2 h wave).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371600"/>
            <a:ext cx="67208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83480" y="1371600"/>
            <a:ext cx="6720840" cy="45720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6360" y="1435608"/>
            <a:ext cx="6400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QUESTIONS TO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965960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965960"/>
            <a:ext cx="5943600" cy="11887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Steady-state closure — today's despatch stands in for tomorrow's delivery, with OUT pinned at 50% of pickup. Under what conditions does this representative-day approximation diverge from true multi-day flow, and what diagnostics would you run to catch a misleading single-day answer before we commit a network decision to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724912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724912"/>
            <a:ext cx="5943600" cy="11887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The stage-as-product chain re-implements routing and conservation in the product dimension (a product per state, 1:1 BOMs, no intermediate lanes). What does that cost us in solve time, output readability and the effort to add a stage — and if there's a native multi-echelon / processing-step construct, what do we gain or lose by migrating five weeks in?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483864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483864"/>
            <a:ext cx="5943600" cy="11887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Identity lives only in the Despatch1_&lt;hub&gt; flavour, purely to force the second sort onto a different hub. Scaling toward national (≫4 hubs) multiplies products and lanes combinatorially — is there a native 'process at two distinct facilities' construct, and where does per-hub flavouring break first as hub count grows?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242816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242816"/>
            <a:ext cx="5943600" cy="11887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We model boundaries (interstate in/out, yesterday's staged volume) as pinned zero-distance suppliers/customers. Where does treating boundaries as demand/supply — rather than multi-period inventory carryover — distort cost allocation or capacity accounting, and what breaks in scenario work when they're hard-pinned instead of solver-chosen?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5001768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5001768"/>
            <a:ext cx="5943600" cy="11887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A4A5A"/>
                </a:solidFill>
                <a:latin typeface="Segoe UI"/>
              </a:rPr>
              <a:t>Time is implicit — one day, with wave/window timing baked into static capacities. Does this static-capacity encoding hold, or hide time-bound bottlenecks (arrival peaks, cut-offs)? If we want real granularity — waves, sort windows, next-day service — what's the lightest native path (time slices / Periods, period-specific capacities) short of a full multi-period rebuild, and what's the solve-time cost of each step up?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QUESTIONS FOR OPTILOGIC — SCHEMA &amp; CAPACITIES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What we've set up · what we need confirmed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429768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297680" cy="4572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35608"/>
            <a:ext cx="40233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OUR SET-UP / 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977639" cy="3840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Shared work centres: multiple processes reference one WC; we assume throughputcapacity is the sum across processes.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MinimumThroughput = 10% manual-sort floor, 5,023 EA/hub.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Facility throughputcapacity (PUD_CAPACITY) set per site (3,885–55,767/day).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Sorter capacity = rate × 20 h window; per-day fixed = annual ÷ 252.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371600"/>
            <a:ext cx="67208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83480" y="1371600"/>
            <a:ext cx="6720840" cy="4572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6360" y="1435608"/>
            <a:ext cx="6400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QUESTIONS TO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965960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8A8C"/>
                </a:solidFill>
                <a:latin typeface="Segoe UI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965960"/>
            <a:ext cx="5943600" cy="11887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dirty="0">
                <a:solidFill>
                  <a:srgbClr val="3A4A5A"/>
                </a:solidFill>
                <a:latin typeface="Segoe UI"/>
              </a:rPr>
              <a:t>Multiple processes share one work </a:t>
            </a:r>
            <a:r>
              <a:rPr sz="1150" b="0" dirty="0" err="1">
                <a:solidFill>
                  <a:srgbClr val="3A4A5A"/>
                </a:solidFill>
                <a:latin typeface="Segoe UI"/>
              </a:rPr>
              <a:t>centre</a:t>
            </a:r>
            <a:r>
              <a:rPr sz="1150" b="0" dirty="0">
                <a:solidFill>
                  <a:srgbClr val="3A4A5A"/>
                </a:solidFill>
                <a:latin typeface="Segoe UI"/>
              </a:rPr>
              <a:t> and we meter it as the sum of </a:t>
            </a:r>
            <a:r>
              <a:rPr sz="1150" b="0" dirty="0" err="1">
                <a:solidFill>
                  <a:srgbClr val="3A4A5A"/>
                </a:solidFill>
                <a:latin typeface="Segoe UI"/>
              </a:rPr>
              <a:t>throughputcapacity</a:t>
            </a:r>
            <a:r>
              <a:rPr sz="1150" b="0" dirty="0">
                <a:solidFill>
                  <a:srgbClr val="3A4A5A"/>
                </a:solidFill>
                <a:latin typeface="Segoe UI"/>
              </a:rPr>
              <a:t> across processes, on an EA/day basis. When does an EA basis misrepresent a resource whose true limit is time (a sorter feeding both round-1 and round-2), and when should we switch to an HR basis driven by </a:t>
            </a:r>
            <a:r>
              <a:rPr sz="1150" b="0" dirty="0" err="1">
                <a:solidFill>
                  <a:srgbClr val="3A4A5A"/>
                </a:solidFill>
                <a:latin typeface="Segoe UI"/>
              </a:rPr>
              <a:t>processingrate</a:t>
            </a:r>
            <a:r>
              <a:rPr sz="1150" b="0" dirty="0">
                <a:solidFill>
                  <a:srgbClr val="3A4A5A"/>
                </a:solidFill>
                <a:latin typeface="Segoe UI"/>
              </a:rPr>
              <a:t> — what fails, quietly, if we pick the wrong basis?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914650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8A8C"/>
                </a:solidFill>
                <a:latin typeface="Segoe U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914650"/>
            <a:ext cx="5943600" cy="11887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dirty="0">
                <a:solidFill>
                  <a:srgbClr val="3A4A5A"/>
                </a:solidFill>
                <a:latin typeface="Segoe UI"/>
              </a:rPr>
              <a:t>Our 10% manual-sort floor (</a:t>
            </a:r>
            <a:r>
              <a:rPr sz="1150" b="0" dirty="0" err="1">
                <a:solidFill>
                  <a:srgbClr val="3A4A5A"/>
                </a:solidFill>
                <a:latin typeface="Segoe UI"/>
              </a:rPr>
              <a:t>MinimumThroughput</a:t>
            </a:r>
            <a:r>
              <a:rPr sz="1150" b="0" dirty="0">
                <a:solidFill>
                  <a:srgbClr val="3A4A5A"/>
                </a:solidFill>
                <a:latin typeface="Segoe UI"/>
              </a:rPr>
              <a:t> 5,023/hub) forces flow the solver would otherwise avoid. How does NEO treat a minimum it can't satisfy — hard-infeasible or silently relaxed — and how do we distinguish a floor that's genuinely binding from one quietly making the model infeasible elsewhere? What phrasing fails loudly rather than silently?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863339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8A8C"/>
                </a:solidFill>
                <a:latin typeface="Segoe UI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863339"/>
            <a:ext cx="5943600" cy="11887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dirty="0">
                <a:solidFill>
                  <a:srgbClr val="3A4A5A"/>
                </a:solidFill>
                <a:latin typeface="Segoe UI"/>
              </a:rPr>
              <a:t>Bayswater/Oakleigh went infeasible because pinned pickup transit stacks on delivery against one lumped cap. Exactly which flows does </a:t>
            </a:r>
            <a:r>
              <a:rPr sz="1150" b="0" dirty="0" err="1">
                <a:solidFill>
                  <a:srgbClr val="3A4A5A"/>
                </a:solidFill>
                <a:latin typeface="Segoe UI"/>
              </a:rPr>
              <a:t>throughputcapacity</a:t>
            </a:r>
            <a:r>
              <a:rPr sz="1150" b="0" dirty="0">
                <a:solidFill>
                  <a:srgbClr val="3A4A5A"/>
                </a:solidFill>
                <a:latin typeface="Segoe UI"/>
              </a:rPr>
              <a:t> meter — inbound, outbound, production, pure transit — and can we meter them separately? How would you have </a:t>
            </a:r>
            <a:r>
              <a:rPr sz="1150" b="0" dirty="0" err="1">
                <a:solidFill>
                  <a:srgbClr val="3A4A5A"/>
                </a:solidFill>
                <a:latin typeface="Segoe UI"/>
              </a:rPr>
              <a:t>localised</a:t>
            </a:r>
            <a:r>
              <a:rPr sz="1150" b="0" dirty="0">
                <a:solidFill>
                  <a:srgbClr val="3A4A5A"/>
                </a:solidFill>
                <a:latin typeface="Segoe UI"/>
              </a:rPr>
              <a:t> which flow consumed the cap, rather than lifting it on interpretation as we did?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812029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8A8C"/>
                </a:solidFill>
                <a:latin typeface="Segoe UI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812029"/>
            <a:ext cx="5943600" cy="11887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dirty="0">
                <a:solidFill>
                  <a:srgbClr val="3A4A5A"/>
                </a:solidFill>
                <a:latin typeface="Segoe UI"/>
              </a:rPr>
              <a:t>We charge per-day fixed on WCs (annual ÷ 252) AND </a:t>
            </a:r>
            <a:r>
              <a:rPr sz="1150" b="0" dirty="0" err="1">
                <a:solidFill>
                  <a:srgbClr val="3A4A5A"/>
                </a:solidFill>
                <a:latin typeface="Segoe UI"/>
              </a:rPr>
              <a:t>Fixed_Cost</a:t>
            </a:r>
            <a:r>
              <a:rPr sz="1150" b="0" dirty="0">
                <a:solidFill>
                  <a:srgbClr val="3A4A5A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3A4A5A"/>
                </a:solidFill>
                <a:latin typeface="Segoe UI"/>
              </a:rPr>
              <a:t>StepCosts</a:t>
            </a:r>
            <a:r>
              <a:rPr sz="1150" b="0" dirty="0">
                <a:solidFill>
                  <a:srgbClr val="3A4A5A"/>
                </a:solidFill>
                <a:latin typeface="Segoe UI"/>
              </a:rPr>
              <a:t> on facilities. How do we verify from a run that these don't double-count the same asset in the objective, what's the single-source-of-truth pattern you'd recommend, and is there a report that breaks fixed cost down per facility/WC?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QUESTIONS FOR OPTILOGIC — COST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What we've set up · what we need confirmed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429768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297680" cy="4572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35608"/>
            <a:ext cx="40233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OUR SET-UP / 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977639" cy="3840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Activity: variable $/EA (driver $0.50 = $40/h ÷ 80/hr; bag unload $0.03).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Transport cost: treat-as-full = per-trip fixedcost × ceil(flow / avg shipment size); prorate = linear.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Linehaul modes: Rigid / 12-Tonner / B-Double set per lane; last mile White Van 160/trip.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Transport time/distance: haversine (not road km).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371600"/>
            <a:ext cx="67208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83480" y="1371600"/>
            <a:ext cx="6720840" cy="4572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6360" y="1435608"/>
            <a:ext cx="6400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QUESTIONS TO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965960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E4E"/>
                </a:solidFill>
                <a:latin typeface="Segoe UI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965960"/>
            <a:ext cx="5943600" cy="11887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We model linehaul as treat-as-full: per-trip fixedcost × ceil(flow / averageshipmentsize). How does NEO handle that integer ceil inside a cost-min LP — a true step function or a linear relaxation — and does that let the solver under-load trucks? On which lanes does treat-as-full vs prorate flip the network decision, so we know which to apply where?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914650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E4E"/>
                </a:solidFill>
                <a:latin typeface="Segoe U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914650"/>
            <a:ext cx="5943600" cy="11887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The objective mixes variable $/EA, per-day fixed, and per-trip transport. How do we read a run's cost composition to confirm each component enters once and at the right weight — and what's the classic double-count trap when facility StepCosts and WC fixed costs coexist? Is there a cost-bridge output that decomposes total by these buckets?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863339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E4E"/>
                </a:solidFill>
                <a:latin typeface="Segoe UI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863339"/>
            <a:ext cx="5943600" cy="11887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Each lane offers Rigid/12T/B-Double and the solver picks per lane; averageshipmentsize is our only fill lever. When does per-lane mode choice misrepresent a shared, finite fleet — and what's the right construct for fleet/rounds vs our per-lane menu? Are we using averageshipmentsize as intended for effective truck fill?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812029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2E4E"/>
                </a:solidFill>
                <a:latin typeface="Segoe UI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812029"/>
            <a:ext cx="5943600" cy="11887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Haversine understates distance and therefore transport cost. Rather than just 'use road km' — how sensitive are the decisions (mode, consolidation, keep-vs-linehaul) to a distance multiplier, and is there an internal distance/route engine we should wire in before Week-6 costing so absolute numbers become defensible?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FC5C6"/>
                </a:solidFill>
                <a:latin typeface="Segoe UI"/>
              </a:rPr>
              <a:t>QUESTIONS FOR OPTILOGIC — BUSINESS RULES &amp; INFEASIBILITY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What we've set up · what we need confirmed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429768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297680" cy="4572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35608"/>
            <a:ext cx="40233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OUR SET-UP / 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977639" cy="3840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80/20 keep is emergent (pinned sink demand + scarcity), not a declared ratio constraint.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Artificial pickup caps needed a 2× buffer to avoid false 'Site Production Capacity' violations.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Consolidation via hard Min 500/lane floors (bind at exactly 500.0).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1F8A8C"/>
                </a:solidFill>
                <a:latin typeface="Segoe UI"/>
              </a:rPr>
              <a:t>•  </a:t>
            </a:r>
            <a:r>
              <a:rPr sz="1100" b="0">
                <a:solidFill>
                  <a:srgbClr val="3A4A5A"/>
                </a:solidFill>
                <a:latin typeface="Segoe UI"/>
              </a:rPr>
              <a:t>We use both Groups + Aggregate and per-row flow constraints (86 constraints).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371600"/>
            <a:ext cx="67208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83480" y="1371600"/>
            <a:ext cx="6720840" cy="45720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6360" y="1435608"/>
            <a:ext cx="6400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QUESTIONS TO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965960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965960"/>
            <a:ext cx="5943600" cy="11887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Our 80/20 keep is emergent — it falls out of pinned demand plus scarcity, not a declared rule; changing it to 70/30 means re-pinning volumes by hand. Can Cosmic Frog express a ratio constraint directly ('≥80% of a sorting PUD's pickup must linehaul'), and what pattern stays robust when we sweep that ratio in Week-8 scenarios?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914650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914650"/>
            <a:ext cx="5943600" cy="11887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We needed a 2× pickup buffer to stop false 'Site Production Capacity' violations — an artificial fudge. What's the idiomatic soft-constraint / penalty approach so real limits bind but numerical slack doesn't trigger phantom infeasibility, and how do we set penalty magnitudes that don't quietly distort the optimum?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863339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863339"/>
            <a:ext cx="5943600" cy="11887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When NEO returns infeasible we currently guess. Walk us through your triage: which output/log opens first, how do you localise the binding row, and can we get shadow prices or an IIS-style 'irreducible infeasible set' so we go straight to the offending constraint instead of bisecting inputs?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812029"/>
            <a:ext cx="4114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87A1E"/>
                </a:solidFill>
                <a:latin typeface="Segoe UI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812029"/>
            <a:ext cx="5943600" cy="11887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A5A"/>
                </a:solidFill>
                <a:latin typeface="Segoe UI"/>
              </a:rPr>
              <a:t>We mix Group + Aggregate behaviour and per-row flow constraints (86 total). Where does each break down — an aggregate hiding which member binds, or per-row constraints exploding at national scale — what's your rule of thumb for choosing, and how do we audit that a Group actually constrains the members we think?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91695" cy="508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Exit criteria for 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76272"/>
            <a:ext cx="164592" cy="4572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103120"/>
            <a:ext cx="10058400" cy="7772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A written yes / no per pattern   —   </a:t>
            </a:r>
            <a:r>
              <a:rPr sz="1300" b="0">
                <a:solidFill>
                  <a:srgbClr val="B6C4D1"/>
                </a:solidFill>
                <a:latin typeface="Segoe UI"/>
              </a:rPr>
              <a:t>single-stream closure · stage-as-product chain · boundary sinks-sources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80944"/>
            <a:ext cx="164592" cy="4572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907791"/>
            <a:ext cx="10058400" cy="7772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A restructure list   —   </a:t>
            </a:r>
            <a:r>
              <a:rPr sz="1300" b="0">
                <a:solidFill>
                  <a:srgbClr val="B6C4D1"/>
                </a:solidFill>
                <a:latin typeface="Segoe UI"/>
              </a:rPr>
              <a:t>anything to fix before Week 4 (business rules &amp; infeasibility)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785615"/>
            <a:ext cx="164592" cy="4572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3"/>
            <a:ext cx="10058400" cy="7772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Schema semantics documented   —   </a:t>
            </a:r>
            <a:r>
              <a:rPr sz="1300" b="0">
                <a:solidFill>
                  <a:srgbClr val="B6C4D1"/>
                </a:solidFill>
                <a:latin typeface="Segoe UI"/>
              </a:rPr>
              <a:t>capacity basis, shared-WC summing, fixed-cost double-count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590288"/>
            <a:ext cx="164592" cy="4572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4517136"/>
            <a:ext cx="10058400" cy="7772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Cost-math confirmation   —   </a:t>
            </a:r>
            <a:r>
              <a:rPr sz="1300" b="0">
                <a:solidFill>
                  <a:srgbClr val="B6C4D1"/>
                </a:solidFill>
                <a:latin typeface="Segoe UI"/>
              </a:rPr>
              <a:t>treat-as-full formula, objective composition, distance basis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394959"/>
            <a:ext cx="164592" cy="45720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321807"/>
            <a:ext cx="10058400" cy="7772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Infeasibility playbook (started)   —   </a:t>
            </a:r>
            <a:r>
              <a:rPr sz="1300" b="0">
                <a:solidFill>
                  <a:srgbClr val="B6C4D1"/>
                </a:solidFill>
                <a:latin typeface="Segoe UI"/>
              </a:rPr>
              <a:t>triage sequence + whether we can get binding-constraint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Optilogic cadence · Week 1 — Architecture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2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1310</TotalTime>
  <Words>3494</Words>
  <Application>Microsoft Macintosh PowerPoint</Application>
  <PresentationFormat>Widescreen</PresentationFormat>
  <Paragraphs>225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Ky Tri Nguyen</cp:lastModifiedBy>
  <cp:revision>31</cp:revision>
  <dcterms:created xsi:type="dcterms:W3CDTF">2013-01-27T09:14:16Z</dcterms:created>
  <dcterms:modified xsi:type="dcterms:W3CDTF">2026-07-20T22:33:04Z</dcterms:modified>
  <cp:category/>
</cp:coreProperties>
</file>