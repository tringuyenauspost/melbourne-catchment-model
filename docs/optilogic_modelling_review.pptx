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7A42C"/>
                </a:solidFill>
                <a:latin typeface="Aptos"/>
              </a:rPr>
              <a:t>MELBOURNE CATCHMENT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9848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Optilogic Modelling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FF3F7"/>
                </a:solidFill>
                <a:latin typeface="Aptos"/>
              </a:rPr>
              <a:t>Baseline v2 staged-SKU model — inputs prepared, business logic encoded, baseline outputs &amp;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FF3F7"/>
                </a:solidFill>
                <a:latin typeface="Aptos"/>
              </a:rPr>
              <a:t>First / Middle / Last mile  ·  Cosmic Frog NEO  ·  single-day basis (all fixed costs per day)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6F7A"/>
                </a:solidFill>
                <a:latin typeface="Aptos"/>
              </a:rPr>
              <a:t>Classification: UNOFFICIAL  ·  draft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OBJECTIVE &amp;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Everything in the kick-off structure is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309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Kick-off stage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Implemented in Optilogic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First mile — Route Collection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411 postcode catchment suppliers originate Pickup; Red Vans to van-op PUDs, Trucks to transport facilities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First mile — Collection Facilities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5 van-op PUDs + 2 new Transport Facilities receive Pickup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Middle mile — Line-haul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PUD-HUB lanes with Rigid / 12-Tonner / B-Double choice (volume-driven, Treat-As-Full)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Middle mile — Originating processing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Full unload-sort-load recipes at machine-level work centres; per-hub sorter capability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Middle mile — Terminating processing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Last-mile enters as prev-day supply at HUB and is re-handled (unload-sort-load)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 (HUB-HUB leg abstracted)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Last mile — Delivery facilities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Driver sort (3rd/final) + load-to-vehicle at each PUD; real ops caps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Last mile — Route delivery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Contract White Vans, PUD to 1,046 clusters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Volume conservation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All BOMs 1:1; supply capacities sized to demand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VERIFIED in run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6F7A"/>
                </a:solidFill>
                <a:latin typeface="Aptos"/>
              </a:rPr>
              <a:t>Weekly-plan position: Week 6–7 milestone — baseline solved, one infeasibility diagnosed &amp; fixed, output review notebooks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KICK-OFF CROSS-CHECK — OPTILOGIC_KICK_OFF.PPTX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Cross-checked against the full kick-off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Activity taxonomy (kick-off slides 13-14) maps 1:1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91056"/>
          <a:ext cx="585216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Kick-off activity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Ours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Match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[A2.1] Forklift in/outbound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ULD unload &amp;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[A2.2] Loose Hand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Loose unload &amp; load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[A2.3] Loose Longreach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Longreach unload &amp;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[A3.1/2] SPS Manual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Manual sort + 10% floor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[A3.3] SPS Automated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Small auto sort (90k/day)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[A3.4] LPS Automated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Large auto sort (250k/day)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Vehicle: cap + fixed + $/hr + $/km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cap + $/km (hr, fixed pending)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Time windows (pickup/sort/despatch)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not yet — cut-off gap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20840" y="1280160"/>
            <a:ext cx="4937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Demand calibration — kick-off 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91056"/>
            <a:ext cx="4956048" cy="1920240"/>
          </a:xfrm>
          <a:prstGeom prst="roundRect">
            <a:avLst/>
          </a:prstGeom>
          <a:solidFill>
            <a:srgbClr val="FBE8F0"/>
          </a:solidFill>
          <a:ln w="1524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719072"/>
            <a:ext cx="4572000" cy="1737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D37"/>
                </a:solidFill>
                <a:latin typeface="Aptos"/>
              </a:rPr>
              <a:t>AP terminating volumes across our 11 sites: 271,949/day vs our modelled 167,431 (~62%). On AP volumes 5 sites BREACH capacity (Sunshine W -4,434 · Mt Waverley -2,187 · Abbotsford -2,078 · Bayswater -894 · Pakenham -500); on our lighter baseline none do. Calibrate demand before quoting capacity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749039"/>
            <a:ext cx="4956048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69"/>
              </a:spcAft>
            </a:pPr>
            <a:r>
              <a:rPr sz="950" b="0">
                <a:solidFill>
                  <a:srgbClr val="232D37"/>
                </a:solidFill>
                <a:latin typeface="Aptos"/>
              </a:rPr>
              <a:t>•  Capacities match exactly — same source as our Facilities inputs.</a:t>
            </a:r>
          </a:p>
          <a:p>
            <a:pPr>
              <a:spcAft>
                <a:spcPts val="569"/>
              </a:spcAft>
            </a:pPr>
            <a:r>
              <a:rPr sz="950" b="0">
                <a:solidFill>
                  <a:srgbClr val="232D37"/>
                </a:solidFill>
                <a:latin typeface="Aptos"/>
              </a:rPr>
              <a:t>•  Scope: kick-off covers 17 sites (adds Mornington Peninsula + Geelong); we model the 11 metro PDCs.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111556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Engine enablers the kick-off names for our open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232D37"/>
                </a:solidFill>
                <a:latin typeface="Aptos"/>
              </a:rPr>
              <a:t>•  SLA (KPI 4): Customer Transit Constraints (Transit Band, Band %) + TransportationPolicies.TransportTime.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32D37"/>
                </a:solidFill>
                <a:latin typeface="Aptos"/>
              </a:rPr>
              <a:t>•  Facility footprint: InitialState=Potential / FacilityStatus=Consider + FacilityCountConstraints (future scenarios).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32D37"/>
                </a:solidFill>
                <a:latin typeface="Aptos"/>
              </a:rPr>
              <a:t>•  Automation strategy: sortation variants + FacilityCountConstraints — our work-centre variant design already follows this pattern.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32D37"/>
                </a:solidFill>
                <a:latin typeface="Aptos"/>
              </a:rPr>
              <a:t>•  Intra-day peaks (AM last-mile vs PM first-mile sharing capacity): flagged NEO limitation in the kick-off — THROG for time-sequenced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NETWORK &amp;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17 facilities — 4 HUBs, 11 PUDs (ops caps), 2 transport facilities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3657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HUB sortation capability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4206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HUB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Auto sorter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Manual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Melbourne Gateway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Small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Dandenong Letter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Small only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Tullamarine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Large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Melbourne Parcel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Large + Small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First-mile-only Transport Facilities (new)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822191"/>
          <a:ext cx="512064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Facility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Catchment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Coordinates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Dandenong Transport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49 postcodes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= Dandenong Letter Ctr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Melbourne Transport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40 postcodes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= Melbourne Parcel Fac.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983480"/>
            <a:ext cx="512064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32D37"/>
                </a:solidFill>
                <a:latin typeface="Aptos"/>
              </a:rPr>
              <a:t>Collect &amp; line-haul only — deliberately excluded from every last-mile table (no CZ node, no HUB→PUD lanes, no load processes). Verified in the generated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98448"/>
            <a:ext cx="5486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PUD daily capacities — operations team input (EA/day)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1600200"/>
          <a:ext cx="55321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73736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PUD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Cap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PUD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Cap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Sunshine West 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55,767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Dandenong South 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29,754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Darebin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38,018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Tullamarine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29,160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Bayswater 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35,520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Pakenham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18,444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Oakleigh South *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32,375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Mulgrave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11,100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Melbourne North 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30,770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Abbotsford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5,828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Mount Waverley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32D37"/>
                          </a:solidFill>
                          <a:latin typeface="Aptos"/>
                        </a:rPr>
                        <a:t>3,885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26480" y="3977639"/>
            <a:ext cx="54864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46F7A"/>
                </a:solidFill>
                <a:latin typeface="Aptos"/>
              </a:rPr>
              <a:t>* = the 5 van-operation first-mile collection depots.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434840"/>
            <a:ext cx="5532120" cy="868680"/>
          </a:xfrm>
          <a:prstGeom prst="roundRect">
            <a:avLst/>
          </a:prstGeom>
          <a:solidFill>
            <a:srgbClr val="FBE8F0"/>
          </a:solidFill>
          <a:ln w="1524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572000"/>
            <a:ext cx="52120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32D37"/>
                </a:solidFill>
                <a:latin typeface="Aptos"/>
              </a:rPr>
              <a:t>Watch-out: Mount Waverley is at 99.7% of capacity on last-mile demand alone (3,874 / 3,885).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6F7A"/>
                </a:solidFill>
                <a:latin typeface="Aptos"/>
              </a:rPr>
              <a:t>Demand nodes: 1,046 last-mile clusters (pinned to their PUD) + 15 first-mile CZ nodes. Suppliers: 411 pickup + 4 SUP_HUB + 11 SUP_PUD.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End-to-end flow — activities, vehicles &amp; rules per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44805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72436"/>
                </a:solidFill>
                <a:latin typeface="Aptos"/>
              </a:rPr>
              <a:t>FIRST MILE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1170432"/>
            <a:ext cx="283464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72436"/>
                </a:solidFill>
                <a:latin typeface="Aptos"/>
              </a:rPr>
              <a:t>MIDDLE MILE —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70432"/>
            <a:ext cx="329184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D72436"/>
                </a:solidFill>
                <a:latin typeface="Aptos"/>
              </a:rPr>
              <a:t>LAST MILE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81328"/>
            <a:ext cx="11384280" cy="2084831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E5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731520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1D69A0"/>
                </a:solidFill>
                <a:latin typeface="Aptos"/>
              </a:rPr>
              <a:t>FIRST-MILE STREAM   Pickup → Sorted_Pickup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03120"/>
            <a:ext cx="1691640" cy="960120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E7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411 pickup catchments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Pickup_EP / PP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supply cap 2× 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810512"/>
            <a:ext cx="178308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6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5 van-op PUDs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collection depots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724912"/>
            <a:ext cx="178308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6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2 transport facilities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first-mile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029968"/>
            <a:ext cx="2240280" cy="1115568"/>
          </a:xfrm>
          <a:prstGeom prst="roundRect">
            <a:avLst/>
          </a:prstGeom>
          <a:solidFill>
            <a:srgbClr val="E4F4EC"/>
          </a:solidFill>
          <a:ln w="17780">
            <a:solidFill>
              <a:srgbClr val="00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HUB — first-mile handling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UNLOAD → SORT → LOAD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(BOM_SORT)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Pickup → Sorted_Pickup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94560"/>
            <a:ext cx="1965960" cy="822960"/>
          </a:xfrm>
          <a:prstGeom prst="roundRect">
            <a:avLst/>
          </a:prstGeom>
          <a:solidFill>
            <a:srgbClr val="FBE8F0"/>
          </a:solidFill>
          <a:ln w="1778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15 first-mile CZ nodes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83,699 parcels / day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286000" y="2148840"/>
            <a:ext cx="777240" cy="246888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2761488"/>
            <a:ext cx="777240" cy="256032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93392" y="1773936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Red Van · cap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182112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Truck · cap 1,500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2148840"/>
            <a:ext cx="685800" cy="246888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46320" y="2788920"/>
            <a:ext cx="685800" cy="228600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24528" y="331012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line-haul: Rigid / 12-T / B-Double · Treat-As-Full · ≥500 EA per lane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596896"/>
            <a:ext cx="1874520" cy="0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5552" y="228600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Truck / Rigid / B-Dbl · TAF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11384280" cy="2395728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758184"/>
            <a:ext cx="868680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D72436"/>
                </a:solidFill>
                <a:latin typeface="Aptos"/>
              </a:rPr>
              <a:t>LAST-MILE STREAM   Sorted_Lastmile → Prestage → Final → 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60520"/>
            <a:ext cx="1691640" cy="868680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E7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SUP_HUB ×4  ·  80%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prev-day arrivals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Sorted_Lastmile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303520"/>
            <a:ext cx="1691640" cy="731520"/>
          </a:xfrm>
          <a:prstGeom prst="roundRect">
            <a:avLst/>
          </a:prstGeom>
          <a:solidFill>
            <a:srgbClr val="FFF6E0"/>
          </a:solidFill>
          <a:ln w="17780">
            <a:solidFill>
              <a:srgbClr val="E7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SUP_PUD ×11  ·  20%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staged locally · Prestage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133087"/>
            <a:ext cx="2148840" cy="1005840"/>
          </a:xfrm>
          <a:prstGeom prst="roundRect">
            <a:avLst/>
          </a:prstGeom>
          <a:solidFill>
            <a:srgbClr val="E4F4EC"/>
          </a:solidFill>
          <a:ln w="17780">
            <a:solidFill>
              <a:srgbClr val="00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HUB — last-mile re-handle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separate WC_LM_* machines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UNLOAD → SORT → LOAD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(BOM_LMSORT) → Prestage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279392"/>
            <a:ext cx="2331720" cy="1207008"/>
          </a:xfrm>
          <a:prstGeom prst="roundRect">
            <a:avLst/>
          </a:prstGeom>
          <a:solidFill>
            <a:srgbClr val="E4F4EC"/>
          </a:solidFill>
          <a:ln w="17780">
            <a:solidFill>
              <a:srgbClr val="00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PUD — 11 sites (ops caps)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DRIVER SORT — 3rd / final sort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(BOM_RESORT) → Final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LOAD (BOM_LOAD) → Delivered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4526280"/>
            <a:ext cx="1965960" cy="822960"/>
          </a:xfrm>
          <a:prstGeom prst="roundRect">
            <a:avLst/>
          </a:prstGeom>
          <a:solidFill>
            <a:srgbClr val="FBE8F0"/>
          </a:solidFill>
          <a:ln w="1778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2642"/>
                </a:solidFill>
                <a:latin typeface="Aptos"/>
              </a:rPr>
              <a:t>1,046 clusters</a:t>
            </a:r>
          </a:p>
          <a:p>
            <a:pPr algn="ctr"/>
            <a:r>
              <a:rPr sz="800">
                <a:solidFill>
                  <a:srgbClr val="232D37"/>
                </a:solidFill>
                <a:latin typeface="Aptos"/>
              </a:rPr>
              <a:t>167,431 parcels / day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4599432"/>
            <a:ext cx="777240" cy="18288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12848" y="4297680"/>
            <a:ext cx="1005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co-located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0" y="4636008"/>
            <a:ext cx="822960" cy="118872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56048" y="5193792"/>
            <a:ext cx="1463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line-haul · Treat-As-Full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286000" y="5349240"/>
            <a:ext cx="3749040" cy="320040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63240" y="5742432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skips line-haul &amp; HUB re-handle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6760" y="4919472"/>
            <a:ext cx="1280160" cy="0"/>
          </a:xfrm>
          <a:prstGeom prst="line">
            <a:avLst/>
          </a:prstGeom>
          <a:ln w="24130">
            <a:solidFill>
              <a:srgbClr val="646F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66760" y="4590288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646F7A"/>
                </a:solidFill>
                <a:latin typeface="Aptos"/>
              </a:rPr>
              <a:t>Contract White Van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6236208"/>
            <a:ext cx="113842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291072"/>
            <a:ext cx="11109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232D37"/>
                </a:solidFill>
                <a:latin typeface="Aptos"/>
              </a:rPr>
              <a:t>Rules:  10% manual-sort floor per hub (2,092 FM + 3,349 LM/day)  ·  sorter capability by hub  ·  line-haul Treat-As-Full = volume-driven truck  ·  pickup ≥ min(40% of PUD demand, supply)  ·  ≥500 EA/lane  ·  PUD ops caps  ·  all fixed costs charged PER DAY (annual ÷ 252)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PRODUCT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12 staged SKUs · 4 BOM transforms — streams can never pool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  <a:gridCol w="914400"/>
                <a:gridCol w="47548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BOM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Consumes → Produces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Where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Physical activity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BOM_SORT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Pickup → Sorted_Pickup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HUB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first-mile unload-sort-load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BOM_LMSORT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Sorted_Lastmile → Prestage_Lastmile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HUB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last-mile unload-sort-load on separate WC_LM_* machines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BOM_RESORT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Prestage_Lastmile → Final_Lastmile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PUD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driver sort — the 3rd and final sort, done by drivers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BOM_LOAD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Final_Lastmile → Delivered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PUD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load-to-vehicle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20440"/>
            <a:ext cx="11064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90"/>
              </a:spcAft>
            </a:pPr>
            <a:r>
              <a:rPr sz="1150" b="1">
                <a:solidFill>
                  <a:srgbClr val="142642"/>
                </a:solidFill>
                <a:latin typeface="Aptos"/>
              </a:rPr>
              <a:t>Why it is built this way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Sequencing is enforced by product state — Delivered can only come from Final_Lastmile, which only comes from Prestage; no stage can be skipped.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Sort count is explicit: HUB-fed last-mile parcels are sorted 3 times (pre-sorted arrival → HUB re-sort → PUD driver sort); locally-staged parcels once.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First- vs last-mile HUB handling runs on separate machine sets (WC_* vs WC_LM_*) so per-stream throughput and cost are visible in the outputs.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All transforms are 1:1 — the kick-off volume-conservation rule, confirmed in the baseline run.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Each SKU exists as EP (eParcel) and PP (Parcel Post): 6 stages × 2 = 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ACTIVITIES &amp; METHOD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Every step carries a rate, a unit cost and a per-day fixed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Activity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Rate (EA/day)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Unit cost ($/EA)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WC fixed ($/day)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(annual quote)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Unload /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Loose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15,000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198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Unload / Load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Longreach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35,000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0.020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595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150,000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Unload /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ULD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55,000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992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250,000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Sort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Manual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25,000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0.060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397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100,000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Small auto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90,000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3,175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800,000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Sort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Large auto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250,000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0.010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9,921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2,500,000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PUD driver sort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single method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40,000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0.050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198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064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HUB handling is enumerated as UNLOAD × SORT × LOAD recipes; the optimiser picks the cheapest feasible combination per hub — Melbourne Parcel 27 recipes/stream, the other hubs 18 (sorter capability).</a:t>
            </a:r>
          </a:p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Fixed costs are charged per day (annual ÷ 252 working days) because the model optimises one representative day — total work-centre fixed cost is $112,283/day.</a:t>
            </a:r>
          </a:p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Cheapest handling stacks: first-mile HUB $0.040/parcel (large-auto hubs); HUB-fed last mile ~$0.105–0.115 incl. driver sort + load; locally-staged last mile ~$0.065.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SORTATION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Sorter capability by hub + a forced 10% manual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HUB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Large auto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Small auto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Manual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Melbourne Gateway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Dandenong Letter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Tullamarine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Melbourne Parcel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371600"/>
          <a:ext cx="5120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Stream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Manual floor / hub / day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First mile (WC_MANUAL_SORT_*)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2,092 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Last mile (WC_LM_MANUAL_SORT_*)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2D37"/>
                          </a:solidFill>
                          <a:latin typeface="Aptos"/>
                        </a:rPr>
                        <a:t>3,349 EA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66160"/>
            <a:ext cx="11064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90"/>
              </a:spcAft>
            </a:pPr>
            <a:r>
              <a:rPr sz="1150" b="1">
                <a:solidFill>
                  <a:srgbClr val="142642"/>
                </a:solidFill>
                <a:latin typeface="Aptos"/>
              </a:rPr>
              <a:t>How the 10% is enforced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Real operations always hand-sort ~10% (non-conveyable / exceptions). Anura has no native percentage constraint, so it is encoded as a MinimumThroughput floor on each hub's manual-sort work centres.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Floors = 10% of each hub's expected sort volume (first-mile: total ÷ 4 hubs; last-mile: 80% × total ÷ 4). Auto sort is cheaper, so the solver fills exactly the floor with manual and the rest with auto.</a:t>
            </a:r>
          </a:p>
          <a:p>
            <a:pPr>
              <a:spcAft>
                <a:spcPts val="690"/>
              </a:spcAft>
            </a:pPr>
            <a:r>
              <a:rPr sz="1150" b="0">
                <a:solidFill>
                  <a:srgbClr val="232D37"/>
                </a:solidFill>
                <a:latin typeface="Aptos"/>
              </a:rPr>
              <a:t>•  Caveat: it is an absolute floor, not a live ratio — if actual hub volumes shift materially, the realised percentage drifts. The exact alternative is a non-machinable product split (10% of parcels as a manual-only SKU).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TRANSPORT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Six vehicles, consolidation economics, volume-driven line-haul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371600"/>
                <a:gridCol w="1554480"/>
                <a:gridCol w="5669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Vehicle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Capacity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$/km per trip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Cost rule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Used on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Red Van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Prorate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first-mile pickup → van-op PUD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Truck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1,500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Prorate / TAF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FM pickup → transport facility · FM delivery HUB→CZ (choice)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Rigid Truck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0.70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Treat As Full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line-haul + FM delivery HUB→CZ (choice)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12-Tonner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2,500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Treat As Full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line-haul (choice)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B-Double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4,000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Treat As Full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line-haul + FM delivery HUB→CZ (choice)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White Van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180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1.10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Prorate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last-mile delivery to REAL customers only (contract)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60350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30"/>
              </a:spcAft>
            </a:pPr>
            <a:r>
              <a:rPr sz="1050" b="1">
                <a:solidFill>
                  <a:srgbClr val="142642"/>
                </a:solidFill>
                <a:latin typeface="Aptos"/>
              </a:rPr>
              <a:t>How the cost works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Per-trip cost = $/km × distance; Prorate spreads it over vehicle capacity → per-parcel = rate × km ÷ capacity.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Treat-As-Full makes a partial load pay a whole trip, so the line-haul truck choice becomes volume-driven.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All rates/capacities are placeholders pending the kick-off cost build-ups (fixed $/day + fuel $/km + driver $/hr).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77639"/>
            <a:ext cx="4754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42642"/>
                </a:solidFill>
                <a:latin typeface="Aptos"/>
              </a:rPr>
              <a:t>Verified crossover on a 31 km lane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4297680"/>
          <a:ext cx="47548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Lane volume (EA)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Cheapest vehicle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≤ ~1,500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Rigid Truck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~2,500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12-Tonner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≥ 4,000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B-Double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SUPPLY &amp;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Three supply origins and the 80/20 last-mile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2011680"/>
                <a:gridCol w="557784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Supply stream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SKU supplied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Capacity logic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SUP_Pickup_* (catchments)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411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Pickup_EP /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EP 41 / PP 367 per postcode = 2× demand buffer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SUP_HUB_* (at hubs)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Sorted_Lastmile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80% of last-mile ÷ 4 hubs (EP 5,037 / PP 28,450 each)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SUP_PUD_* (at PUDs)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Prestage_Lastmile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20% of each PUD's own last-mile demand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29184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371600"/>
                <a:gridCol w="146304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Demand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EP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PP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Total / day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Last mile (Delivered, 1,046 clusters)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25,182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142,249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167,431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First mile (Sorted_Pickup, 15 CZ nodes)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8,364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75,335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83,699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1064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The 80/20 split is enforced by supplier capacities plus cost — local staging skips the HUB→PUD line-haul and the HUB re-handle, so it is naturally preferred up to its cap.</a:t>
            </a:r>
          </a:p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First-mile volume assumed at 50% of last-mile (no first-mile demand data yet); distributed 40% to HUB zones / 60% to PUD zones, 90% PP.</a:t>
            </a:r>
          </a:p>
          <a:p>
            <a:pPr>
              <a:spcAft>
                <a:spcPts val="660"/>
              </a:spcAft>
            </a:pPr>
            <a:r>
              <a:rPr sz="1100" b="0">
                <a:solidFill>
                  <a:srgbClr val="232D37"/>
                </a:solidFill>
                <a:latin typeface="Aptos"/>
              </a:rPr>
              <a:t>•  Local staging represents previous-day first-mile volume that terminates in the PUD's own catchment.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BUSINESS-LOGIC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13 rules, each traceable to an exact Anura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155679" cy="4928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3749039"/>
                <a:gridCol w="3017520"/>
              </a:tblGrid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Business rule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Anura encoding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Transport facilities do first-mile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Facilities + exclusion from last-mile tables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 facilities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Prev-day terminating volume staged at PUD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SUP_PUD suppliers + capacity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20% of PUD demand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Last-mile sorted at HUB and again at PUD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BOM_LMSORT + BOM_RESORT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3rd sort by drivers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~10% of sortation is always manual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WorkCenters.MinimumThroughput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2,092 + 3,349 EA/hub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Sorter capability differs by hub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per-hub recipe enumeration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small / large / both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PUD daily capacity from operations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Facilities.throughputcapacity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3,885 – 55,767 EA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Red vans to PUDs; trucks to transport fac.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modename per pickup lane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Red_Van / Truck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Line-haul right-sized to volume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 modes per lane, Treat As Full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Rigid / 12T / B-Dbl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White vans serve real last-mile customers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modename per delivery lane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White_Van (LM) / trucks (FM)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Consolidation: fuller vehicle = cheaper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fixedcost ÷ averageshipmentsize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6-vehicle fleet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First-mile pickup floor per depot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FlowConstraints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min(40% demand, supply)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Minimum line-haul service per lane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FlowConstraints Min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500 EA / lane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Fixed costs on single-day basis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all fixedoperatingcost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annual ÷ 252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INPUTS PREPARED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16 Anura tables generated from one reproducible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Encodes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Facilities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HUBs + PUD ops caps + transport facilities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Products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staged-SKU chain (6 stages × EP/PP)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BillOfMaterials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4 transforms × 2 products, all 1:1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WorkCenters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machine capacity, per-day fixed, manual floors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Processes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530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every activity step: rate + unit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ProductionPolicies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412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recipe alternatives bound to BOMs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Suppliers / Capabilities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426 / 852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 streams; 80/20 + 2× buffer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325880"/>
          <a:ext cx="54406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9144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Encodes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ProcurementPolicies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852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supplier → facility sourcing edges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TransportationPolicies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3,496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all lanes: mode, distance, trip cost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TransportationModes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vehicle fleet (capacity + cost rule)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ReplenishmentPolicies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144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HUB ↔ PUD middle-mile edges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CustomerFulfillment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2,208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who serves which demand node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CustomerDemand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2,118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167,431 LM + 83,699 FM parcels/day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FlowConstraints / Groups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86 / 1,504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D37"/>
                          </a:solidFill>
                          <a:latin typeface="Aptos"/>
                        </a:rPr>
                        <a:t>floors + stream groups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6F7A"/>
                </a:solidFill>
                <a:latin typeface="Aptos"/>
              </a:rPr>
              <a:t>Everything regenerates from create_input_melbourne_catchment_baseline_v2_model.ipynb — no hand-edited CSVs; every change is parameterised at the top of the notebook.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ASSUMPTIONS &amp; SIMPLIFICATIONS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Eight explicit assumptions, all parameterised for revision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064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1.  First-mile volume = 50% of last-mile (no first-mile demand data yet); split 40/60 HUB/PUD zones, 90/10 PP/EP.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2.  Local staging fraction = 20% (PUD_LOCAL_STAGE_FRAC) — flat, not yet derived from catchment terminating data.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3.  Vehicle rates &amp; capacities are placeholders pending the kick-off cost build-ups (fixed $/day + fuel $/km + driver $/hr).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4.  Handling unit costs and machine fixed costs are realistic-order placeholders, not finance-validated.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5.  ALL costs are per-day: machine fixed = annual ÷ 252 working days ($112,283/day total). The Facilities Fixed_Cost_HUB/PUD StepCosts curves must be set to the same per-day basis.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6.  Single representative day — no periods/seasonality, no induction/dispatch cut-offs yet (kick-off Week-5 item).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7.  Parcel-count (EA) only — no weight/cube; motorbike posties not modelled.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32D37"/>
                </a:solidFill>
                <a:latin typeface="Aptos"/>
              </a:rPr>
              <a:t>•  8.  Fixed network — all facilities and machines Open/Existing; no siting or investment decisions in the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BASELINE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One violated constraint — diagnosed, root-caused,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600200" cy="1078992"/>
          </a:xfrm>
          <a:prstGeom prst="round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600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SYMPTOM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371600"/>
            <a:ext cx="9418320" cy="1078992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481328"/>
            <a:ext cx="90982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D37"/>
                </a:solidFill>
                <a:latin typeface="Aptos"/>
              </a:rPr>
              <a:t>NEO reported a 'Site Production Capacity' violation at SUP_Pickup_Melbourne_North_3062 (Pickup_PP): capacity 184 vs required 2,113.8 (~11× over).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15184"/>
            <a:ext cx="1600200" cy="1078992"/>
          </a:xfrm>
          <a:prstGeom prst="roundRect">
            <a:avLst/>
          </a:prstGeom>
          <a:solidFill>
            <a:srgbClr val="E7A42C"/>
          </a:solidFill>
          <a:ln w="12700">
            <a:solidFill>
              <a:srgbClr val="E7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80944"/>
            <a:ext cx="1600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DIAGNOSIS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615184"/>
            <a:ext cx="9418320" cy="1078992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724912"/>
            <a:ext cx="90982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D37"/>
                </a:solidFill>
                <a:latin typeface="Aptos"/>
              </a:rPr>
              <a:t>Pickup capacity had been sized to exactly equal demand — only 0.4% slack network-wide; 5 of 7 first-mile depots pinned at 100%. Adding the PUD ops caps and manual floors reshuffled hub allocation and consumed the last slack, so NEO relaxed the cheapest catchment (1.15 km from its PUD).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58768"/>
            <a:ext cx="1600200" cy="1078992"/>
          </a:xfrm>
          <a:prstGeom prst="roundRect">
            <a:avLst/>
          </a:prstGeom>
          <a:solidFill>
            <a:srgbClr val="1D69A0"/>
          </a:solidFill>
          <a:ln w="12700">
            <a:solidFill>
              <a:srgbClr val="1D6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24528"/>
            <a:ext cx="1600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JUDGEMENT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858768"/>
            <a:ext cx="9418320" cy="1078992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968496"/>
            <a:ext cx="90982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D37"/>
                </a:solidFill>
                <a:latin typeface="Aptos"/>
              </a:rPr>
              <a:t>The per-postcode pickup cap is a modelling construct, not a real limit — the true constraints are demand and PUD capacity. The artificial cap should never bind.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02352"/>
            <a:ext cx="1600200" cy="1078992"/>
          </a:xfrm>
          <a:prstGeom prst="roundRect">
            <a:avLst/>
          </a:prstGeom>
          <a:solidFill>
            <a:srgbClr val="40916C"/>
          </a:solidFill>
          <a:ln w="127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68112"/>
            <a:ext cx="1600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FIX &amp; 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5102352"/>
            <a:ext cx="9418320" cy="1078992"/>
          </a:xfrm>
          <a:prstGeom prst="round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5212080"/>
            <a:ext cx="90982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232D37"/>
                </a:solidFill>
                <a:latin typeface="Aptos"/>
              </a:rPr>
              <a:t>PICKUP_CAP_BUFFER = 2.0 → per-postcode caps EP 41 / PP 367 (~100% headroom). CONFIRMED CLEARED: 12-Jul ConstraintSummary reports 0 violations across all 86 constraints.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OUTPUTS — KPI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Four of six kick-off KPIs measurable today; two need new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194560"/>
                <a:gridCol w="5760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Kick-off objective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Baseline status</a:t>
                      </a:r>
                    </a:p>
                  </a:txBody>
                  <a:tcPr marL="54864" marR="54864" marT="18288" marB="18288" anchor="ctr">
                    <a:solidFill>
                      <a:srgbClr val="1426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Minimise total network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Total daily OPEX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All per-day and booking (12-Jul run): transport $14,853 + WC fixed $112,283 + handling $21,537 = ~$148,673/day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Minimise contractor fleet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Peak vehicles required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Measured as trips/day by mode (single-period proxy)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Minimise travel time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Average route duration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27,298 lane-km and 496 lane-hours available per lane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Maximise catchment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% volume within SLA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GAP — needs induction/dispatch cut-offs + service-time targets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Balance facility utilisation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Work-centre &amp; facility utilisation reported (next slide)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Minimise empty kilometres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D37"/>
                          </a:solidFill>
                          <a:latin typeface="Aptos"/>
                        </a:rPr>
                        <a:t>GAP — needs backhaul / return-leg modelling</a:t>
                      </a:r>
                    </a:p>
                  </a:txBody>
                  <a:tcPr marL="54864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6F7A"/>
                </a:solidFill>
                <a:latin typeface="Aptos"/>
              </a:rPr>
              <a:t>Analysis notebooks: notebooks/output_analysis/ — 00 KPI dashboard + one notebook per Optimization*Summary CSV (executed, 22 charts).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OUTPUTS — FLEET &amp; UTILISATION (12-JUL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White vans serve customers only; fleet inside contract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3057993"/>
          </a:xfrm>
          <a:prstGeom prst="rect">
            <a:avLst/>
          </a:prstGeom>
        </p:spPr>
      </p:pic>
      <p:pic>
        <p:nvPicPr>
          <p:cNvPr id="6" name="Picture 5" descr="u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486400" cy="3057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White vans 930 trips/day, origins PUD-only — they now serve real last-mile customers exclusively (was 1,209 incl. FM delivery). Total transport fell $19,529 → $14,853/day (−24%). Red vans 249 (of 500).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FM HUB→CZ correction verified: that leg runs on Rigid (22 trips) + B-Double (13) — no white vans.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B-Double 51 trips/day vs the kick-off fleet of 50 — borderline (was 92): monitor, or cap the fleet as a scenario. Line-haul mix Rigid 69 / B-Dbl 51 / 12T 7 shows Treat-As-Full right-sizing.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Cost booking verified: WC fixed $112,283/day, handling $21,537/day; manual sort = 10.0% exactly; driver sort covers all 167,431. FLAG: unload/load runs 100% ULD — add method-compatibility floors if a loose/longreach share is realistic.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2436"/>
                </a:solidFill>
                <a:latin typeface="Aptos"/>
              </a:rPr>
              <a:t>GAPS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471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642"/>
                </a:solidFill>
                <a:latin typeface="Aptos"/>
              </a:rPr>
              <a:t>Close the data gaps, then run the Week 8–9 scenario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D72436"/>
          </a:solidFill>
          <a:ln w="12700">
            <a:solidFill>
              <a:srgbClr val="D7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42642"/>
                </a:solidFill>
                <a:latin typeface="Aptos"/>
              </a:rPr>
              <a:t>Kick-off parameters not yet encoded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4864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Driver costs &amp; shifts (van $34.06, HR/semi $35.89, B-double $40.50/hr; 10-hr days).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Vehicle fixed + fuel build-ups per the kick-off tables.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Loading/unloading times (25–75 min) as process fixed times.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Induction &amp; dispatch cut-offs; service levels (KPI 4).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Motorbike posties; backhaul / empty km (KPI 6).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Mandatory trunk routes, minimum frequencies, curfews (TBD in kick-off too).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98448"/>
            <a:ext cx="5303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42642"/>
                </a:solidFill>
                <a:latin typeface="Aptos"/>
              </a:rPr>
              <a:t>Recommended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5303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1. Calibrate demand to kick-off slide-12 volumes (ours 167k vs AP 272k across the same 11 sites — 5 sites breach on AP volumes).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2. Replace placeholder vehicle economics with kick-off cost build-ups ($/trip = fixed/day + fuel×km + driver×hrs).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3. Purge legacy v1 rows in the Cosmic Frog model (old work centres, 12-month Periods, flow-count keys — all the moderate validation findings).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4. Add cut-offs via Customer Transit Constraints (the mechanism named in the kick-off) to unlock KPI 4 (SLA); backhaul for KPI 6.</a:t>
            </a:r>
          </a:p>
          <a:p>
            <a:pPr>
              <a:spcAft>
                <a:spcPts val="630"/>
              </a:spcAft>
            </a:pPr>
            <a:r>
              <a:rPr sz="1050" b="0">
                <a:solidFill>
                  <a:srgbClr val="232D37"/>
                </a:solidFill>
                <a:latin typeface="Aptos"/>
              </a:rPr>
              <a:t>•  5. Scenario set: B-Double fleet cap (50) · capacity stress on calibrated volumes · staging 20%→30% · automation investment.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06440"/>
            <a:ext cx="11155680" cy="713232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1D6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642"/>
                </a:solidFill>
                <a:latin typeface="Aptos"/>
              </a:rPr>
              <a:t>Bottom line: the full kick-off operating structure is encoded and solving; costs are now on a consistent single-day basis; remaining gaps are data (real rates, cut-offs), not model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